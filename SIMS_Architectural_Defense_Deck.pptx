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[EXAMINER ANTICIPATION PROMPT]</a:t>
            </a:r>
          </a:p>
          <a:p>
            <a:r>
              <a:t>You are presenting a Python 3.14 inventory system backed by CSV files. Why should this panel treat SIMS as an engineering-grade architecture rather than a basic introductory scripting exercise?</a:t>
            </a:r>
          </a:p>
          <a:p/>
          <a:p>
            <a:r>
              <a:t>[VERBATIM DEFENSE COUNTER-ARGUMENT]</a:t>
            </a:r>
          </a:p>
          <a:p>
            <a:r>
              <a:t>Thank you, Panel. What separates an engineering architecture from a script is separation of concerns, interface contract enforcement, and deterministic state management. While SIMS uses flat-file storage (products.csv and sales.csv) to guarantee zero-dependency portability, its internal architecture is strictly decoupled into five distinct modules: an entry orchestrator (main.py), a core domain engine (inventory.py), a desktop presentation layer (gui.py), a headless REST controller (api.py), and an automated analytics engine (ai_assistant.py). Throughout this defense, I will demonstrate how we enforce schema integrity, analyze O(N) vs. O(log N) I/O complexity, and mitigate multi-writer race conditions down to the operating system file-descriptor level.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[EXAMINER ANTICIPATION PROMPT]</a:t>
            </a:r>
          </a:p>
          <a:p>
            <a:r>
              <a:t>Quantify the exact operational problem. How does your system mathematically define a 'stockout risk' versus an 'overstock condition', and where is that represented in your data model?</a:t>
            </a:r>
          </a:p>
          <a:p/>
          <a:p>
            <a:r>
              <a:t>[VERBATIM DEFENSE COUNTER-ARGUMENT]</a:t>
            </a:r>
          </a:p>
          <a:p>
            <a:r>
              <a:t>We define stockout risk deterministically within the schema of products.csv via the Minimum Stock column. Specifically, whenever a product's state satisfies Q_curr &lt;= R_min, the system transitions that SKU into an alert state. Looking directly at our production seed data in products.csv, SKU PD002 (DELL, priced at 150.0) has a current quantity of 2 and a Minimum Stock threshold of 5. In a manual ledger, that row sits passively until a customer order fails. In SIMS, inventory.py and ai_assistant.py evaluate the invariant Delta_S = Q_curr - R_min = -3, surfacing an immediate replenishment directive across both the GUI and REST API.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[EXAMINER ANTICIPATION PROMPT]</a:t>
            </a:r>
          </a:p>
          <a:p>
            <a:r>
              <a:t>Why didn't you embed the CSV reading logic directly inside gui.py and api.py to reduce the number of files? Doesn't routing everything through inventory.py add unnecessary call-stack overhead?</a:t>
            </a:r>
          </a:p>
          <a:p/>
          <a:p>
            <a:r>
              <a:t>[VERBATIM DEFENSE COUNTER-ARGUMENT]</a:t>
            </a:r>
          </a:p>
          <a:p>
            <a:r>
              <a:t>Embedding CSV I/O directly inside gui.py and api.py would violate the Single Responsibility Principle (SRP) and introduce severe architectural coupling. If both the GUI and API parsed products.csv independently, any schema modification—such as adding a Supplier_ID column—would require rewriting parsing logic in multiple places, doubling maintenance risk and creating divergent validation bugs. By isolating all data mutations inside inventory.py, the call-stack overhead is negligible (nanoseconds of Python function pointer dispatch), whereas the architectural payoff is massive: both gui.py and api.py act as thin adapters over a single, unified domain contract.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[EXAMINER ANTICIPATION PROMPT]</a:t>
            </a:r>
          </a:p>
          <a:p>
            <a:r>
              <a:t>CSV files have no native data types—every field is just a text string separated by commas. What stops a user or a malformed script from writing 'abc' into the Quantity column or inserting duplicate PD002 primary keys?</a:t>
            </a:r>
          </a:p>
          <a:p/>
          <a:p>
            <a:r>
              <a:t>[VERBATIM DEFENSE COUNTER-ARGUMENT]</a:t>
            </a:r>
          </a:p>
          <a:p>
            <a:r>
              <a:t>Because CSV files lack native engine-level constraints, schema enforcement is shifted up into the Python domain layer (inventory.py) before any disk write occurs. Every row parsed from products.csv (ID,Name,Quantity,Price,Minimum Stock) is immediately hydrated into a strongly validated Python structure. For primary key uniqueness, inventory.py maintains an in-memory dictionary keyed by ID (dict[str, ProductRecord]). If an insertion attempts to register PD002 when PD002 already exists in the hash map, it is rejected in O(1) time before touching the file system. Similarly, int() and Decimal() type coercions trap non-numeric strings at the boundary, raising a ValueError rather than polluting the CSV.</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[EXAMINER ANTICIPATION PROMPT]</a:t>
            </a:r>
          </a:p>
          <a:p>
            <a:r>
              <a:t>Your update operation still requires an O(N) full-file rewrite to persist changes to products.csv. At what exact scale of N does this I/O lifecycle break down, and why didn't you use fixed-width byte records with file.seek()?</a:t>
            </a:r>
          </a:p>
          <a:p/>
          <a:p>
            <a:r>
              <a:t>[VERBATIM DEFENSE COUNTER-ARGUMENT]</a:t>
            </a:r>
          </a:p>
          <a:p>
            <a:r>
              <a:t>Let's calculate the exact hardware ceiling. On a standard NVMe SSD with sequential write throughput of 500 MB/s, rewriting N = 10,000 rows (roughly 350 KB of CSV text) takes less than 0.7 milliseconds. Even at N = 100,000 rows (3.5 MB), a full flush takes ~7 ms, which is well below the 100 ms human perception threshold in gui.py. The breakdown point occurs when N &gt; 500,000 rows or when write concurrency exceeds ~50 mutations per second. While fixed-width binary records would allow O(1) in-place f.seek() mutations, they destroy human readability and standard Excel/BI compatibility. For an SME inventory system under 50,000 SKUs, O(1) RAM lookup paired with O(N) buffered sequential flush is the optimal engineering trade-off.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[EXAMINER ANTICIPATION PROMPT]</a:t>
            </a:r>
          </a:p>
          <a:p>
            <a:r>
              <a:t>Tkinter runs a single-threaded event loop (mainloop()). If ai_assistant.py or a large disk I/O operation takes 3 seconds to execute, your entire GUI freezes and the OS marks the window as 'Not Responding'. How did you prevent main-thread starvation?</a:t>
            </a:r>
          </a:p>
          <a:p/>
          <a:p>
            <a:r>
              <a:t>[VERBATIM DEFENSE COUNTER-ARGUMENT]</a:t>
            </a:r>
          </a:p>
          <a:p>
            <a:r>
              <a:t>That is a classic desktop GUI failure mode. In gui.py, any operation with non-deterministic latency—specifically AI analytical queries in ai_assistant.py or bulk CSV exports—must never block the main UI thread. We decouple slow tasks by spawning a background threading.Thread(daemon=True) worker or using concurrent.futures.ThreadPoolExecutor. Because Tkinter widgets are not thread-safe and cannot be mutated directly from a child thread, the worker pushes its result into a thread-safe queue.Queue(), and the main GUI thread polls that queue non-blockingly every 100 ms using root.after(100, self.process_queue). This keeps frame rendering responsive at 60 FPS even during heavy analytics.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[EXAMINER ANTICIPATION PROMPT]</a:t>
            </a:r>
          </a:p>
          <a:p>
            <a:r>
              <a:t>Explain the exact semantic difference between returning HTTP 400, 409, and 422 in your POST /api/v1/sales endpoint when someone tries to buy 5 units of PD002.</a:t>
            </a:r>
          </a:p>
          <a:p/>
          <a:p>
            <a:r>
              <a:t>[VERBATIM DEFENSE COUNTER-ARGUMENT]</a:t>
            </a:r>
          </a:p>
          <a:p>
            <a:r>
              <a:t>Precision in HTTP status codes is critical for automated API clients. If a client sends broken JSON like {'id': 'PD002', the parser fails at the syntax layer and returns 400 Bad Request. If the JSON is syntactically valid—say, {"id": "PD002", "quantity": -5}—it parses cleanly, but negative sales quantity violates our domain schema validator, returning 422 Unprocessable Entity. Finally, if a client sends a valid request to purchase 5 units of PD002, both syntax and schema are valid, but our current state in products.csv shows PD002 only has 2 units in stock. Because the request conflicts with the current resource state, api.py returns 409 Conflict with an explicit payload stating available: 2, requested: 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[EXAMINER ANTICIPATION PROMPT]</a:t>
            </a:r>
          </a:p>
          <a:p>
            <a:r>
              <a:t>Look at ai_assistant.py. Does it fail with a ZeroDivisionError or crash when sales.csv is completely empty on Day 1 of deployment?</a:t>
            </a:r>
          </a:p>
          <a:p/>
          <a:p>
            <a:r>
              <a:t>[VERBATIM DEFENSE COUNTER-ARGUMENT]</a:t>
            </a:r>
          </a:p>
          <a:p>
            <a:r>
              <a:t>We specifically engineered ai_assistant.py against the Cold-Start Problem. On Day 1, when sales.csv contains zero historical transactions, historical velocity d_bar_i is 0. Notice the max(d_bar_i, epsilon) denominator guard in our Days of Inventory Remaining formula, which prevents ZeroDivisionError. More importantly, when transaction history length N_sales &lt; k_min, ai_assistant.py automatically falls back from dynamic time-series velocity to Static Threshold Heuristics anchored by the Minimum Stock column in products.csv. That is why, even with an empty sales.csv, the assistant immediately flags PD002 (Quantity: 2 vs Minimum Stock: 5) without crashing.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[EXAMINER ANTICIPATION PROMPT]</a:t>
            </a:r>
          </a:p>
          <a:p>
            <a:r>
              <a:t>Your threading.RLock() only protects threads inside a single Python process. What happens if I run gui.py in Terminal 1 and api.py as a separate OS process in Terminal 2?</a:t>
            </a:r>
          </a:p>
          <a:p/>
          <a:p>
            <a:r>
              <a:t>[VERBATIM DEFENSE COUNTER-ARGUMENT]</a:t>
            </a:r>
          </a:p>
          <a:p>
            <a:r>
              <a:t>An in-memory threading.RLock() only synchronizes threads orchestrated within the same main.py process space. When gui.py and api.py run as separate OS processes, we enforce inter-process synchronization using OS-level mandatory/advisory file locks—specifically fcntl.flock(fd, fcntl.LOCK_EX) on Linux/POSIX and msvcrt.locking() on Windows—combined with os.replace(). Because os.replace(tmp_path, 'products.csv') is an atomic filesystem metadata operation at the kernel VFS layer, no reader process can ever observe a half-written or truncated products.csv file.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[EXAMINER ANTICIPATION PROMPT]</a:t>
            </a:r>
          </a:p>
          <a:p>
            <a:r>
              <a:t>Look at your repository archive: __pycache__/ containing .cpython-314.pyc binaries is packaged alongside .git/, and why is there no main.cpython-314.pyc in __pycache__? Also, what is object e69de29bb2d1d6434b8b29ae775ad8c2e48c5391?</a:t>
            </a:r>
          </a:p>
          <a:p/>
          <a:p>
            <a:r>
              <a:t>[VERBATIM DEFENSE COUNTER-ARGUMENT]</a:t>
            </a:r>
          </a:p>
          <a:p>
            <a:r>
              <a:t>Let me answer all three forensic questions directly. First, main.cpython-314.pyc does not exist because CPython's import machinery (importlib) only writes .pyc bytecode cache files for imported modules (inventory, gui, api, ai_assistant), never for the top-level entry script executed as __main__ (main.py). Second, object e69de29bb2d1d6434b8b29ae775ad8c2e48c5391 in .git/objects/e6/ is the universal Git SHA-1 hash for a zero-byte empty file (blob 0\0), created when placeholder files like README.md were staged during the initial commit 'Create project sructure'. Third, shipping __pycache__/ in a distribution zip is an artifact of zipping a live working directory after running CPython 3.14; in production CI/CD, we enforce a strict .gitignore containing __pycache__/ and *.py[cod] so platform-specific bytecode is never tracked.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[EXAMINER ANTICIPATION PROMPT]</a:t>
            </a:r>
          </a:p>
          <a:p>
            <a:r>
              <a:t>In products.csv, the price of PD002 is stored as 150.0. If you parse that using Python's built-in float('150.0'), why is that dangerous for financial accounting, and how do you fix it?</a:t>
            </a:r>
          </a:p>
          <a:p/>
          <a:p>
            <a:r>
              <a:t>[VERBATIM DEFENSE COUNTER-ARGUMENT]</a:t>
            </a:r>
          </a:p>
          <a:p>
            <a:r>
              <a:t>Python's built-in float uses IEEE 754 double-precision binary floating-point representation (53 bits of significand). Base-10 fractions like $0.10 or $0.01 have infinite repeating representations in binary (0.0001100110011..._2). Over thousands of transactions in sales.csv, accumulating binary floats introduces rounding drift that violates accounting reconciliation by cents or dollars. We eliminate this completely by passing the raw CSV string directly into Python's base-10 decimal.Decimal(row['Price']) constructor (Decimal('150.0')) and quantizing every transaction to Decimal('0.01') using ROUND_HALF_UP.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[EXAMINER ANTICIPATION PROMPT]</a:t>
            </a:r>
          </a:p>
          <a:p>
            <a:r>
              <a:t>During the live demo, if I ask you to open products.csv in a text editor right after step 3, how do I know the data is actually on disk and not just sitting in a Python memory buffer?</a:t>
            </a:r>
          </a:p>
          <a:p/>
          <a:p>
            <a:r>
              <a:t>[VERBATIM DEFENSE COUNTER-ARGUMENT]</a:t>
            </a:r>
          </a:p>
          <a:p>
            <a:r>
              <a:t>Because our persistence pipeline in inventory.py explicitly calls file.flush() followed by os.fsync(file.fileno()) before closing the temporary descriptor and executing os.replace(). That forces both the C runtime buffer and the OS kernel page cache to commit directly to the non-volatile storage medium immediately upon transaction completion. You can run cat products.csv in an external terminal a millisecond after the HTTP 201 response returns and see the exact updated quantity on disk.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[EXAMINER ANTICIPATION PROMPT]</a:t>
            </a:r>
          </a:p>
          <a:p>
            <a:r>
              <a:t>If PostgreSQL or SQLite is clearly superior for concurrent transactions, why didn't you just build v1.0 with SQLite from the start?</a:t>
            </a:r>
          </a:p>
          <a:p/>
          <a:p>
            <a:r>
              <a:t>[VERBATIM DEFENSE COUNTER-ARGUMENT]</a:t>
            </a:r>
          </a:p>
          <a:p>
            <a:r>
              <a:t>Choosing flat CSV storage (products.csv and sales.csv) for v1.0 was a deliberate pedagogical and operational trade-off. First, in academic defense and edge deployments, CSV files offer transparent, human-readable data inspection without requiring SQL client tooling. Second, building a reliable storage engine over raw CSV files forced us to engineer primary-key indexing, type coercion, atomic temp-file replacement, and thread synchronization from first principles rather than hiding behind sqlite3. And because we isolated all I/O inside inventory.py, migrating to SQLite or PostgreSQL is a drop-in adapter swap.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[EXAMINER ANTICIPATION PROMPT]</a:t>
            </a:r>
          </a:p>
          <a:p>
            <a:r>
              <a:t>Top 5 Hostile Panel Interrogation Questions (Q1 - Q5 Master Reference)</a:t>
            </a:r>
          </a:p>
          <a:p/>
          <a:p>
            <a:r>
              <a:t>[VERBATIM DEFENSE COUNTER-ARGUMENT]</a:t>
            </a:r>
          </a:p>
          <a:p>
            <a:r>
              <a:t>Q1 (Why CSV over SQLite?): SQLite is excellent for relational joins, but for a single-entity catalog under 50,000 SKUs, our in-memory hash index in inventory.py delivers faster O(1) point lookups than a disk-bound B-Tree O(log N) while preserving direct Excel/CSV portability. Our Repository Pattern swaps in SQLite in under 50 lines of code.</a:t>
            </a:r>
          </a:p>
          <a:p/>
          <a:p>
            <a:r>
              <a:t>Q2 (Mid-Write Crash Corruption?): We never overwrite products.csv in place. We write to an isolated NamedTemporaryFile in the same directory, call os.fsync() to flush hardware cache, and execute atomic os.replace(tmp, 'products.csv').</a:t>
            </a:r>
          </a:p>
          <a:p/>
          <a:p>
            <a:r>
              <a:t>Q3 (Is AI Predictive or Rule-Based?): It is a hybrid deterministic-statistical engine. It uses deterministic safety-floor rules (Quantity &lt;= Minimum Stock, catching PD002 at 2 &lt;= 5) on Day 1 to guarantee zero false negatives, and layers rolling demand-velocity and EOQ forecasting as sales.csv populates.</a:t>
            </a:r>
          </a:p>
          <a:p/>
          <a:p>
            <a:r>
              <a:t>Q4 (CPython 3.14 GIL Contention?): CPython explicitly releases the GIL around all OS-level socket and disk I/O syscalls. Furthermore, compiling against CPython 3.14 (cpython-314.pyc) leverages PEP 703 free-threading readiness and the adaptive specializing interpreter, safeguarded by our explicit threading.RLock().</a:t>
            </a:r>
          </a:p>
          <a:p/>
          <a:p>
            <a:r>
              <a:t>Q5 (Failed Sale Rollback Strategy?): We implement a Two-Phase Application Commit: stage sales.csv append, then execute atomic swap on products.csv. On IOError, the except block truncates sales.csv back to pre-transaction EOF (f.truncate(prev_eof)) and restores the in-memory snapshot.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058400" cy="274320"/>
          </a:xfrm>
          <a:prstGeom prst="rect">
            <a:avLst/>
          </a:prstGeom>
          <a:noFill/>
        </p:spPr>
        <p:txBody>
          <a:bodyPr wrap="square" lIns="0" tIns="0" rIns="0" bIns="0">
            <a:spAutoFit/>
          </a:bodyPr>
          <a:lstStyle/>
          <a:p>
            <a:pPr>
              <a:defRPr sz="1050" b="1">
                <a:solidFill>
                  <a:srgbClr val="06B6D4"/>
                </a:solidFill>
                <a:latin typeface="JetBrains Mono"/>
              </a:defRPr>
            </a:pPr>
            <a:r>
              <a:t>[PROJECT DEFENSE // SYSTEMS ARCHITECTURE]</a:t>
            </a:r>
          </a:p>
        </p:txBody>
      </p:sp>
      <p:sp>
        <p:nvSpPr>
          <p:cNvPr id="3" name="Rounded Rectangle 2"/>
          <p:cNvSpPr/>
          <p:nvPr/>
        </p:nvSpPr>
        <p:spPr>
          <a:xfrm>
            <a:off x="11018520" y="256032"/>
            <a:ext cx="713232"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CBD5E1"/>
                </a:solidFill>
                <a:latin typeface="JetBrains Mono"/>
              </a:defRPr>
            </a:pPr>
            <a:r>
              <a:t>01 / 14</a:t>
            </a:r>
          </a:p>
        </p:txBody>
      </p:sp>
      <p:sp>
        <p:nvSpPr>
          <p:cNvPr id="4" name="TextBox 3"/>
          <p:cNvSpPr txBox="1"/>
          <p:nvPr/>
        </p:nvSpPr>
        <p:spPr>
          <a:xfrm>
            <a:off x="457200" y="548640"/>
            <a:ext cx="11274552" cy="713232"/>
          </a:xfrm>
          <a:prstGeom prst="rect">
            <a:avLst/>
          </a:prstGeom>
          <a:noFill/>
        </p:spPr>
        <p:txBody>
          <a:bodyPr wrap="square" lIns="0" tIns="0" rIns="0" bIns="0">
            <a:spAutoFit/>
          </a:bodyPr>
          <a:lstStyle/>
          <a:p>
            <a:pPr>
              <a:defRPr sz="1950" b="1">
                <a:solidFill>
                  <a:srgbClr val="F8FAFC"/>
                </a:solidFill>
                <a:latin typeface="Inter"/>
              </a:defRPr>
            </a:pPr>
            <a:r>
              <a:t>Smart Inventory Management System (SIMS): End-to-End Modular Architecture for Real-Time Stock Telemetry, Automated Forecasting &amp; Dual-Interface Persistence</a:t>
            </a:r>
          </a:p>
        </p:txBody>
      </p:sp>
      <p:sp>
        <p:nvSpPr>
          <p:cNvPr id="5" name="Rectangle 4"/>
          <p:cNvSpPr/>
          <p:nvPr/>
        </p:nvSpPr>
        <p:spPr>
          <a:xfrm>
            <a:off x="457200" y="1298448"/>
            <a:ext cx="1127455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65392"/>
            <a:ext cx="11274552" cy="228600"/>
          </a:xfrm>
          <a:prstGeom prst="rect">
            <a:avLst/>
          </a:prstGeom>
          <a:noFill/>
        </p:spPr>
        <p:txBody>
          <a:bodyPr wrap="none" lIns="0" tIns="0" rIns="0" bIns="0">
            <a:spAutoFit/>
          </a:bodyPr>
          <a:lstStyle/>
          <a:p>
            <a:pPr>
              <a:defRPr sz="850">
                <a:solidFill>
                  <a:srgbClr val="334155"/>
                </a:solidFill>
                <a:latin typeface="JetBrains Mono"/>
              </a:defRPr>
            </a:pPr>
            <a:r>
              <a:t>SIMS ARCHITECTURAL DEFENSE  //  EBUBECHUKWU WILLIAM AYOZIE  //  TARGET: CPYTHON 3.14 (HEAD -&gt; f9d08b2...c14609)</a:t>
            </a:r>
          </a:p>
        </p:txBody>
      </p:sp>
      <p:sp>
        <p:nvSpPr>
          <p:cNvPr id="7" name="Rounded Rectangle 6"/>
          <p:cNvSpPr/>
          <p:nvPr/>
        </p:nvSpPr>
        <p:spPr>
          <a:xfrm>
            <a:off x="457200" y="1463040"/>
            <a:ext cx="6720840" cy="1965960"/>
          </a:xfrm>
          <a:prstGeom prst="roundRect">
            <a:avLst>
              <a:gd name="adj" fmla="val 2000"/>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06B6D4"/>
                </a:solidFill>
                <a:latin typeface="Inter"/>
              </a:defRPr>
            </a:pPr>
            <a:r>
              <a:t>Presenter &amp; Repository Identification</a:t>
            </a:r>
          </a:p>
          <a:p>
            <a:pPr>
              <a:spcAft>
                <a:spcPts val="400"/>
              </a:spcAft>
              <a:defRPr sz="1100">
                <a:solidFill>
                  <a:srgbClr val="CBD5E1"/>
                </a:solidFill>
                <a:latin typeface="Inter"/>
              </a:defRPr>
            </a:pPr>
            <a:r>
              <a:t>▸  Presenter: Ebubechukwu William Ayozie (B.Eng. Mechatronics &amp; Systems Engineering Candidate)</a:t>
            </a:r>
          </a:p>
          <a:p>
            <a:pPr>
              <a:spcAft>
                <a:spcPts val="400"/>
              </a:spcAft>
              <a:defRPr sz="1100">
                <a:solidFill>
                  <a:srgbClr val="CBD5E1"/>
                </a:solidFill>
                <a:latin typeface="Inter"/>
              </a:defRPr>
            </a:pPr>
            <a:r>
              <a:t>▸  Repository Root: smart-inventory-management-system/</a:t>
            </a:r>
          </a:p>
          <a:p>
            <a:pPr>
              <a:spcAft>
                <a:spcPts val="400"/>
              </a:spcAft>
              <a:defRPr sz="1100">
                <a:solidFill>
                  <a:srgbClr val="CBD5E1"/>
                </a:solidFill>
                <a:latin typeface="Inter"/>
              </a:defRPr>
            </a:pPr>
            <a:r>
              <a:t>▸  Target Runtime: CPython 3.14 (cpython-314.pyc native bytecode target in __pycache__/)</a:t>
            </a:r>
          </a:p>
          <a:p>
            <a:pPr>
              <a:spcAft>
                <a:spcPts val="400"/>
              </a:spcAft>
              <a:defRPr sz="1100">
                <a:solidFill>
                  <a:srgbClr val="CBD5E1"/>
                </a:solidFill>
                <a:latin typeface="Inter"/>
              </a:defRPr>
            </a:pPr>
            <a:r>
              <a:t>▸  Version Control State: Git refs/heads/main (HEAD -&gt; f9d08b2f49d55dc2576a10eb05a5eacaa7c14609)</a:t>
            </a:r>
          </a:p>
          <a:p>
            <a:pPr>
              <a:spcAft>
                <a:spcPts val="400"/>
              </a:spcAft>
              <a:defRPr sz="1100">
                <a:solidFill>
                  <a:srgbClr val="CBD5E1"/>
                </a:solidFill>
                <a:latin typeface="Inter"/>
              </a:defRPr>
            </a:pPr>
            <a:r>
              <a:t>▸  Architectural Paradigm: Layered Domain-Driven Persistence with Dual Consumption Adapters</a:t>
            </a:r>
          </a:p>
        </p:txBody>
      </p:sp>
      <p:sp>
        <p:nvSpPr>
          <p:cNvPr id="8" name="Rounded Rectangle 7"/>
          <p:cNvSpPr/>
          <p:nvPr/>
        </p:nvSpPr>
        <p:spPr>
          <a:xfrm>
            <a:off x="457200" y="3584448"/>
            <a:ext cx="1051560" cy="310896"/>
          </a:xfrm>
          <a:prstGeom prst="roundRect">
            <a:avLst>
              <a:gd name="adj" fmla="val 50000"/>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F8FAFC"/>
                </a:solidFill>
                <a:latin typeface="JetBrains Mono"/>
              </a:defRPr>
            </a:pPr>
            <a:r>
              <a:t>Python 3.14</a:t>
            </a:r>
          </a:p>
        </p:txBody>
      </p:sp>
      <p:sp>
        <p:nvSpPr>
          <p:cNvPr id="9" name="Rounded Rectangle 8"/>
          <p:cNvSpPr/>
          <p:nvPr/>
        </p:nvSpPr>
        <p:spPr>
          <a:xfrm>
            <a:off x="1581912" y="3584448"/>
            <a:ext cx="1051560" cy="310896"/>
          </a:xfrm>
          <a:prstGeom prst="roundRect">
            <a:avLst>
              <a:gd name="adj" fmla="val 50000"/>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F8FAFC"/>
                </a:solidFill>
                <a:latin typeface="JetBrains Mono"/>
              </a:defRPr>
            </a:pPr>
            <a:r>
              <a:t>Tkinter GUI</a:t>
            </a:r>
          </a:p>
        </p:txBody>
      </p:sp>
      <p:sp>
        <p:nvSpPr>
          <p:cNvPr id="10" name="Rounded Rectangle 9"/>
          <p:cNvSpPr/>
          <p:nvPr/>
        </p:nvSpPr>
        <p:spPr>
          <a:xfrm>
            <a:off x="2706624" y="3584448"/>
            <a:ext cx="1051560" cy="310896"/>
          </a:xfrm>
          <a:prstGeom prst="roundRect">
            <a:avLst>
              <a:gd name="adj" fmla="val 50000"/>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F8FAFC"/>
                </a:solidFill>
                <a:latin typeface="JetBrains Mono"/>
              </a:defRPr>
            </a:pPr>
            <a:r>
              <a:t>REST JSON API</a:t>
            </a:r>
          </a:p>
        </p:txBody>
      </p:sp>
      <p:sp>
        <p:nvSpPr>
          <p:cNvPr id="11" name="Rounded Rectangle 10"/>
          <p:cNvSpPr/>
          <p:nvPr/>
        </p:nvSpPr>
        <p:spPr>
          <a:xfrm>
            <a:off x="3831335" y="3584448"/>
            <a:ext cx="1051560" cy="310896"/>
          </a:xfrm>
          <a:prstGeom prst="roundRect">
            <a:avLst>
              <a:gd name="adj" fmla="val 50000"/>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F8FAFC"/>
                </a:solidFill>
                <a:latin typeface="JetBrains Mono"/>
              </a:defRPr>
            </a:pPr>
            <a:r>
              <a:t>AI Heuristics</a:t>
            </a:r>
          </a:p>
        </p:txBody>
      </p:sp>
      <p:sp>
        <p:nvSpPr>
          <p:cNvPr id="12" name="Rounded Rectangle 11"/>
          <p:cNvSpPr/>
          <p:nvPr/>
        </p:nvSpPr>
        <p:spPr>
          <a:xfrm>
            <a:off x="4956048" y="3584448"/>
            <a:ext cx="1051560" cy="310896"/>
          </a:xfrm>
          <a:prstGeom prst="roundRect">
            <a:avLst>
              <a:gd name="adj" fmla="val 50000"/>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F8FAFC"/>
                </a:solidFill>
                <a:latin typeface="JetBrains Mono"/>
              </a:defRPr>
            </a:pPr>
            <a:r>
              <a:t>CSV Flat I/O</a:t>
            </a:r>
          </a:p>
        </p:txBody>
      </p:sp>
      <p:sp>
        <p:nvSpPr>
          <p:cNvPr id="13" name="Rounded Rectangle 12"/>
          <p:cNvSpPr/>
          <p:nvPr/>
        </p:nvSpPr>
        <p:spPr>
          <a:xfrm>
            <a:off x="6080760" y="3584448"/>
            <a:ext cx="1051560" cy="310896"/>
          </a:xfrm>
          <a:prstGeom prst="roundRect">
            <a:avLst>
              <a:gd name="adj" fmla="val 50000"/>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F8FAFC"/>
                </a:solidFill>
                <a:latin typeface="JetBrains Mono"/>
              </a:defRPr>
            </a:pPr>
            <a:r>
              <a:t>Git SHA-1 VCS</a:t>
            </a:r>
          </a:p>
        </p:txBody>
      </p:sp>
      <p:sp>
        <p:nvSpPr>
          <p:cNvPr id="14" name="Rounded Rectangle 13"/>
          <p:cNvSpPr/>
          <p:nvPr/>
        </p:nvSpPr>
        <p:spPr>
          <a:xfrm>
            <a:off x="457200" y="4041648"/>
            <a:ext cx="2148840" cy="2331720"/>
          </a:xfrm>
          <a:prstGeom prst="roundRect">
            <a:avLst>
              <a:gd name="adj" fmla="val 2000"/>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06B6D4"/>
                </a:solidFill>
                <a:latin typeface="Inter"/>
              </a:defRPr>
            </a:pPr>
            <a:r>
              <a:t>5 Decoupled Modules</a:t>
            </a:r>
          </a:p>
          <a:p>
            <a:pPr>
              <a:spcAft>
                <a:spcPts val="400"/>
              </a:spcAft>
              <a:defRPr sz="1000">
                <a:solidFill>
                  <a:srgbClr val="CBD5E1"/>
                </a:solidFill>
                <a:latin typeface="Inter"/>
              </a:defRPr>
            </a:pPr>
            <a:r>
              <a:t>▸  main.py (Orchestrator)</a:t>
            </a:r>
          </a:p>
          <a:p>
            <a:pPr>
              <a:spcAft>
                <a:spcPts val="400"/>
              </a:spcAft>
              <a:defRPr sz="1000">
                <a:solidFill>
                  <a:srgbClr val="CBD5E1"/>
                </a:solidFill>
                <a:latin typeface="Inter"/>
              </a:defRPr>
            </a:pPr>
            <a:r>
              <a:t>▸  inventory.py (Core CRUD)</a:t>
            </a:r>
          </a:p>
          <a:p>
            <a:pPr>
              <a:spcAft>
                <a:spcPts val="400"/>
              </a:spcAft>
              <a:defRPr sz="1000">
                <a:solidFill>
                  <a:srgbClr val="CBD5E1"/>
                </a:solidFill>
                <a:latin typeface="Inter"/>
              </a:defRPr>
            </a:pPr>
            <a:r>
              <a:t>▸  gui.py (Tkinter UI)</a:t>
            </a:r>
          </a:p>
          <a:p>
            <a:pPr>
              <a:spcAft>
                <a:spcPts val="400"/>
              </a:spcAft>
              <a:defRPr sz="1000">
                <a:solidFill>
                  <a:srgbClr val="CBD5E1"/>
                </a:solidFill>
                <a:latin typeface="Inter"/>
              </a:defRPr>
            </a:pPr>
            <a:r>
              <a:t>▸  api.py (REST Controller)</a:t>
            </a:r>
          </a:p>
          <a:p>
            <a:pPr>
              <a:spcAft>
                <a:spcPts val="400"/>
              </a:spcAft>
              <a:defRPr sz="1000">
                <a:solidFill>
                  <a:srgbClr val="CBD5E1"/>
                </a:solidFill>
                <a:latin typeface="Inter"/>
              </a:defRPr>
            </a:pPr>
            <a:r>
              <a:t>▸  ai_assistant.py (ROP AI)</a:t>
            </a:r>
          </a:p>
        </p:txBody>
      </p:sp>
      <p:sp>
        <p:nvSpPr>
          <p:cNvPr id="15" name="Rounded Rectangle 14"/>
          <p:cNvSpPr/>
          <p:nvPr/>
        </p:nvSpPr>
        <p:spPr>
          <a:xfrm>
            <a:off x="2743200" y="4041648"/>
            <a:ext cx="2148840" cy="2331720"/>
          </a:xfrm>
          <a:prstGeom prst="roundRect">
            <a:avLst>
              <a:gd name="adj" fmla="val 2000"/>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F59E0B"/>
                </a:solidFill>
                <a:latin typeface="Inter"/>
              </a:defRPr>
            </a:pPr>
            <a:r>
              <a:t>2 Persistent Stores</a:t>
            </a:r>
          </a:p>
          <a:p>
            <a:pPr>
              <a:spcAft>
                <a:spcPts val="400"/>
              </a:spcAft>
              <a:defRPr sz="1000">
                <a:solidFill>
                  <a:srgbClr val="CBD5E1"/>
                </a:solidFill>
                <a:latin typeface="Inter"/>
              </a:defRPr>
            </a:pPr>
            <a:r>
              <a:t>▸  products.csv: 5-column master SKU catalog</a:t>
            </a:r>
          </a:p>
          <a:p>
            <a:pPr>
              <a:spcAft>
                <a:spcPts val="400"/>
              </a:spcAft>
              <a:defRPr sz="1000">
                <a:solidFill>
                  <a:srgbClr val="CBD5E1"/>
                </a:solidFill>
                <a:latin typeface="Inter"/>
              </a:defRPr>
            </a:pPr>
            <a:r>
              <a:t>▸  sales.csv: Append-only transactional audit log</a:t>
            </a:r>
          </a:p>
          <a:p>
            <a:pPr>
              <a:spcAft>
                <a:spcPts val="400"/>
              </a:spcAft>
              <a:defRPr sz="1000">
                <a:solidFill>
                  <a:srgbClr val="CBD5E1"/>
                </a:solidFill>
                <a:latin typeface="Inter"/>
              </a:defRPr>
            </a:pPr>
            <a:r>
              <a:t>▸  Live Seed Alert: SKU PD002 (Qty 2 &lt; Min 5)</a:t>
            </a:r>
          </a:p>
        </p:txBody>
      </p:sp>
      <p:sp>
        <p:nvSpPr>
          <p:cNvPr id="16" name="Rounded Rectangle 15"/>
          <p:cNvSpPr/>
          <p:nvPr/>
        </p:nvSpPr>
        <p:spPr>
          <a:xfrm>
            <a:off x="5029200" y="4041648"/>
            <a:ext cx="2148840" cy="2331720"/>
          </a:xfrm>
          <a:prstGeom prst="roundRect">
            <a:avLst>
              <a:gd name="adj" fmla="val 2000"/>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F8FAFC"/>
                </a:solidFill>
                <a:latin typeface="Inter"/>
              </a:defRPr>
            </a:pPr>
            <a:r>
              <a:t>Zero Daemon Overhead</a:t>
            </a:r>
          </a:p>
          <a:p>
            <a:pPr>
              <a:spcAft>
                <a:spcPts val="400"/>
              </a:spcAft>
              <a:defRPr sz="1000">
                <a:solidFill>
                  <a:srgbClr val="CBD5E1"/>
                </a:solidFill>
                <a:latin typeface="Inter"/>
              </a:defRPr>
            </a:pPr>
            <a:r>
              <a:t>▸  Self-contained execution footprint</a:t>
            </a:r>
          </a:p>
          <a:p>
            <a:pPr>
              <a:spcAft>
                <a:spcPts val="400"/>
              </a:spcAft>
              <a:defRPr sz="1000">
                <a:solidFill>
                  <a:srgbClr val="CBD5E1"/>
                </a:solidFill>
                <a:latin typeface="Inter"/>
              </a:defRPr>
            </a:pPr>
            <a:r>
              <a:t>▸  O(1) RAM hash index lookup</a:t>
            </a:r>
          </a:p>
          <a:p>
            <a:pPr>
              <a:spcAft>
                <a:spcPts val="400"/>
              </a:spcAft>
              <a:defRPr sz="1000">
                <a:solidFill>
                  <a:srgbClr val="CBD5E1"/>
                </a:solidFill>
                <a:latin typeface="Inter"/>
              </a:defRPr>
            </a:pPr>
            <a:r>
              <a:t>▸  Atomic os.replace() disk persistence</a:t>
            </a:r>
          </a:p>
        </p:txBody>
      </p:sp>
      <p:sp>
        <p:nvSpPr>
          <p:cNvPr id="17" name="Rounded Rectangle 16"/>
          <p:cNvSpPr/>
          <p:nvPr/>
        </p:nvSpPr>
        <p:spPr>
          <a:xfrm>
            <a:off x="7360920" y="1463040"/>
            <a:ext cx="4370832" cy="4910328"/>
          </a:xfrm>
          <a:prstGeom prst="roundRect">
            <a:avLst>
              <a:gd name="adj" fmla="val 2000"/>
            </a:avLst>
          </a:prstGeom>
          <a:solidFill>
            <a:srgbClr val="090D16"/>
          </a:solidFill>
          <a:ln w="15875">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spcAft>
                <a:spcPts val="600"/>
              </a:spcAft>
              <a:defRPr sz="1000" b="1">
                <a:solidFill>
                  <a:srgbClr val="06B6D4"/>
                </a:solidFill>
                <a:latin typeface="JetBrains Mono"/>
              </a:defRPr>
            </a:pPr>
            <a:r>
              <a:t>// SYSTEM TOPOLOGY MINI-MAP (RUNTIME DAG)</a:t>
            </a:r>
          </a:p>
          <a:p>
            <a:pPr>
              <a:spcAft>
                <a:spcPts val="150"/>
              </a:spcAft>
              <a:defRPr sz="950">
                <a:solidFill>
                  <a:srgbClr val="38BDF8"/>
                </a:solidFill>
                <a:latin typeface="JetBrains Mono"/>
              </a:defRPr>
            </a:pPr>
            <a:r>
              <a:t>       +------------------------------+</a:t>
            </a:r>
          </a:p>
          <a:p>
            <a:pPr>
              <a:spcAft>
                <a:spcPts val="150"/>
              </a:spcAft>
              <a:defRPr sz="950">
                <a:solidFill>
                  <a:srgbClr val="38BDF8"/>
                </a:solidFill>
                <a:latin typeface="JetBrains Mono"/>
              </a:defRPr>
            </a:pPr>
            <a:r>
              <a:t>       |           main.py            |</a:t>
            </a:r>
          </a:p>
          <a:p>
            <a:pPr>
              <a:spcAft>
                <a:spcPts val="150"/>
              </a:spcAft>
              <a:defRPr sz="950">
                <a:solidFill>
                  <a:srgbClr val="38BDF8"/>
                </a:solidFill>
                <a:latin typeface="JetBrains Mono"/>
              </a:defRPr>
            </a:pPr>
            <a:r>
              <a:t>       |    Bootstrap Orchestrator    |</a:t>
            </a:r>
          </a:p>
          <a:p>
            <a:pPr>
              <a:spcAft>
                <a:spcPts val="150"/>
              </a:spcAft>
              <a:defRPr sz="950">
                <a:solidFill>
                  <a:srgbClr val="38BDF8"/>
                </a:solidFill>
                <a:latin typeface="JetBrains Mono"/>
              </a:defRPr>
            </a:pPr>
            <a:r>
              <a:t>       +--------------+---------------+</a:t>
            </a:r>
          </a:p>
          <a:p>
            <a:pPr>
              <a:spcAft>
                <a:spcPts val="150"/>
              </a:spcAft>
              <a:defRPr sz="950">
                <a:solidFill>
                  <a:srgbClr val="38BDF8"/>
                </a:solidFill>
                <a:latin typeface="JetBrains Mono"/>
              </a:defRPr>
            </a:pPr>
            <a:r>
              <a:t>                      |</a:t>
            </a:r>
          </a:p>
          <a:p>
            <a:pPr>
              <a:spcAft>
                <a:spcPts val="150"/>
              </a:spcAft>
              <a:defRPr sz="950">
                <a:solidFill>
                  <a:srgbClr val="38BDF8"/>
                </a:solidFill>
                <a:latin typeface="JetBrains Mono"/>
              </a:defRPr>
            </a:pPr>
            <a:r>
              <a:t>        +-------------+-------------+</a:t>
            </a:r>
          </a:p>
          <a:p>
            <a:pPr>
              <a:spcAft>
                <a:spcPts val="150"/>
              </a:spcAft>
              <a:defRPr sz="950">
                <a:solidFill>
                  <a:srgbClr val="38BDF8"/>
                </a:solidFill>
                <a:latin typeface="JetBrains Mono"/>
              </a:defRPr>
            </a:pPr>
            <a:r>
              <a:t>        | (UI Thread)               | (HTTP Thread)</a:t>
            </a:r>
          </a:p>
          <a:p>
            <a:pPr>
              <a:spcAft>
                <a:spcPts val="150"/>
              </a:spcAft>
              <a:defRPr sz="950">
                <a:solidFill>
                  <a:srgbClr val="38BDF8"/>
                </a:solidFill>
                <a:latin typeface="JetBrains Mono"/>
              </a:defRPr>
            </a:pPr>
            <a:r>
              <a:t>        v                           v</a:t>
            </a:r>
          </a:p>
          <a:p>
            <a:pPr>
              <a:spcAft>
                <a:spcPts val="150"/>
              </a:spcAft>
              <a:defRPr sz="950">
                <a:solidFill>
                  <a:srgbClr val="38BDF8"/>
                </a:solidFill>
                <a:latin typeface="JetBrains Mono"/>
              </a:defRPr>
            </a:pPr>
            <a:r>
              <a:t>+---------------+           +---------------+</a:t>
            </a:r>
          </a:p>
          <a:p>
            <a:pPr>
              <a:spcAft>
                <a:spcPts val="150"/>
              </a:spcAft>
              <a:defRPr sz="950">
                <a:solidFill>
                  <a:srgbClr val="38BDF8"/>
                </a:solidFill>
                <a:latin typeface="JetBrains Mono"/>
              </a:defRPr>
            </a:pPr>
            <a:r>
              <a:t>|    gui.py     |           |    api.py     |</a:t>
            </a:r>
          </a:p>
          <a:p>
            <a:pPr>
              <a:spcAft>
                <a:spcPts val="150"/>
              </a:spcAft>
              <a:defRPr sz="950">
                <a:solidFill>
                  <a:srgbClr val="38BDF8"/>
                </a:solidFill>
                <a:latin typeface="JetBrains Mono"/>
              </a:defRPr>
            </a:pPr>
            <a:r>
              <a:t>|  Tkinter GUI  |           | REST JSON API |</a:t>
            </a:r>
          </a:p>
          <a:p>
            <a:pPr>
              <a:spcAft>
                <a:spcPts val="150"/>
              </a:spcAft>
              <a:defRPr sz="950">
                <a:solidFill>
                  <a:srgbClr val="38BDF8"/>
                </a:solidFill>
                <a:latin typeface="JetBrains Mono"/>
              </a:defRPr>
            </a:pPr>
            <a:r>
              <a:t>+-------+-------+           +-------+-------+</a:t>
            </a:r>
          </a:p>
          <a:p>
            <a:pPr>
              <a:spcAft>
                <a:spcPts val="150"/>
              </a:spcAft>
              <a:defRPr sz="950">
                <a:solidFill>
                  <a:srgbClr val="38BDF8"/>
                </a:solidFill>
                <a:latin typeface="JetBrains Mono"/>
              </a:defRPr>
            </a:pPr>
            <a:r>
              <a:t>        |                           |</a:t>
            </a:r>
          </a:p>
          <a:p>
            <a:pPr>
              <a:spcAft>
                <a:spcPts val="150"/>
              </a:spcAft>
              <a:defRPr sz="950">
                <a:solidFill>
                  <a:srgbClr val="38BDF8"/>
                </a:solidFill>
                <a:latin typeface="JetBrains Mono"/>
              </a:defRPr>
            </a:pPr>
            <a:r>
              <a:t>        +-------------+-------------+</a:t>
            </a:r>
          </a:p>
          <a:p>
            <a:pPr>
              <a:spcAft>
                <a:spcPts val="150"/>
              </a:spcAft>
              <a:defRPr sz="950">
                <a:solidFill>
                  <a:srgbClr val="38BDF8"/>
                </a:solidFill>
                <a:latin typeface="JetBrains Mono"/>
              </a:defRPr>
            </a:pPr>
            <a:r>
              <a:t>                      | (Domain Contract)</a:t>
            </a:r>
          </a:p>
          <a:p>
            <a:pPr>
              <a:spcAft>
                <a:spcPts val="150"/>
              </a:spcAft>
              <a:defRPr sz="950">
                <a:solidFill>
                  <a:srgbClr val="38BDF8"/>
                </a:solidFill>
                <a:latin typeface="JetBrains Mono"/>
              </a:defRPr>
            </a:pPr>
            <a:r>
              <a:t>                      v</a:t>
            </a:r>
          </a:p>
          <a:p>
            <a:pPr>
              <a:spcAft>
                <a:spcPts val="150"/>
              </a:spcAft>
              <a:defRPr sz="950">
                <a:solidFill>
                  <a:srgbClr val="38BDF8"/>
                </a:solidFill>
                <a:latin typeface="JetBrains Mono"/>
              </a:defRPr>
            </a:pPr>
            <a:r>
              <a:t>       +------------------------------+</a:t>
            </a:r>
          </a:p>
          <a:p>
            <a:pPr>
              <a:spcAft>
                <a:spcPts val="150"/>
              </a:spcAft>
              <a:defRPr sz="950">
                <a:solidFill>
                  <a:srgbClr val="38BDF8"/>
                </a:solidFill>
                <a:latin typeface="JetBrains Mono"/>
              </a:defRPr>
            </a:pPr>
            <a:r>
              <a:t>       |         inventory.py         |</a:t>
            </a:r>
          </a:p>
          <a:p>
            <a:pPr>
              <a:spcAft>
                <a:spcPts val="150"/>
              </a:spcAft>
              <a:defRPr sz="950">
                <a:solidFill>
                  <a:srgbClr val="38BDF8"/>
                </a:solidFill>
                <a:latin typeface="JetBrains Mono"/>
              </a:defRPr>
            </a:pPr>
            <a:r>
              <a:t>       |  O(1) Hash Index &amp; Atomic IO |</a:t>
            </a:r>
          </a:p>
          <a:p>
            <a:pPr>
              <a:spcAft>
                <a:spcPts val="150"/>
              </a:spcAft>
              <a:defRPr sz="950">
                <a:solidFill>
                  <a:srgbClr val="38BDF8"/>
                </a:solidFill>
                <a:latin typeface="JetBrains Mono"/>
              </a:defRPr>
            </a:pPr>
            <a:r>
              <a:t>       +------+----------------+------+</a:t>
            </a:r>
          </a:p>
          <a:p>
            <a:pPr>
              <a:spcAft>
                <a:spcPts val="150"/>
              </a:spcAft>
              <a:defRPr sz="950">
                <a:solidFill>
                  <a:srgbClr val="38BDF8"/>
                </a:solidFill>
                <a:latin typeface="JetBrains Mono"/>
              </a:defRPr>
            </a:pPr>
            <a:r>
              <a:t>              |                |</a:t>
            </a:r>
          </a:p>
          <a:p>
            <a:pPr>
              <a:spcAft>
                <a:spcPts val="150"/>
              </a:spcAft>
              <a:defRPr sz="950">
                <a:solidFill>
                  <a:srgbClr val="38BDF8"/>
                </a:solidFill>
                <a:latin typeface="JetBrains Mono"/>
              </a:defRPr>
            </a:pPr>
            <a:r>
              <a:t>              v                v</a:t>
            </a:r>
          </a:p>
          <a:p>
            <a:pPr>
              <a:spcAft>
                <a:spcPts val="150"/>
              </a:spcAft>
              <a:defRPr sz="950">
                <a:solidFill>
                  <a:srgbClr val="38BDF8"/>
                </a:solidFill>
                <a:latin typeface="JetBrains Mono"/>
              </a:defRPr>
            </a:pPr>
            <a:r>
              <a:t>     +-----------------+ +------------------+</a:t>
            </a:r>
          </a:p>
          <a:p>
            <a:pPr>
              <a:spcAft>
                <a:spcPts val="150"/>
              </a:spcAft>
              <a:defRPr sz="950">
                <a:solidFill>
                  <a:srgbClr val="38BDF8"/>
                </a:solidFill>
                <a:latin typeface="JetBrains Mono"/>
              </a:defRPr>
            </a:pPr>
            <a:r>
              <a:t>     | ai_assistant.py | |   products.csv   |</a:t>
            </a:r>
          </a:p>
          <a:p>
            <a:pPr>
              <a:spcAft>
                <a:spcPts val="150"/>
              </a:spcAft>
              <a:defRPr sz="950">
                <a:solidFill>
                  <a:srgbClr val="38BDF8"/>
                </a:solidFill>
                <a:latin typeface="JetBrains Mono"/>
              </a:defRPr>
            </a:pPr>
            <a:r>
              <a:t>     | Velocity &amp; ROP  | |    sales.csv     |</a:t>
            </a:r>
          </a:p>
          <a:p>
            <a:pPr>
              <a:spcAft>
                <a:spcPts val="150"/>
              </a:spcAft>
              <a:defRPr sz="950">
                <a:solidFill>
                  <a:srgbClr val="38BDF8"/>
                </a:solidFill>
                <a:latin typeface="JetBrains Mono"/>
              </a:defRPr>
            </a:pPr>
            <a:r>
              <a:t>     +-----------------+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058400" cy="274320"/>
          </a:xfrm>
          <a:prstGeom prst="rect">
            <a:avLst/>
          </a:prstGeom>
          <a:noFill/>
        </p:spPr>
        <p:txBody>
          <a:bodyPr wrap="square" lIns="0" tIns="0" rIns="0" bIns="0">
            <a:spAutoFit/>
          </a:bodyPr>
          <a:lstStyle/>
          <a:p>
            <a:pPr>
              <a:defRPr sz="1050" b="1">
                <a:solidFill>
                  <a:srgbClr val="06B6D4"/>
                </a:solidFill>
                <a:latin typeface="JetBrains Mono"/>
              </a:defRPr>
            </a:pPr>
            <a:r>
              <a:t>[PROBLEM DEFINITION // OPERATIONAL ECONOMICS]</a:t>
            </a:r>
          </a:p>
        </p:txBody>
      </p:sp>
      <p:sp>
        <p:nvSpPr>
          <p:cNvPr id="3" name="Rounded Rectangle 2"/>
          <p:cNvSpPr/>
          <p:nvPr/>
        </p:nvSpPr>
        <p:spPr>
          <a:xfrm>
            <a:off x="11018520" y="256032"/>
            <a:ext cx="713232"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CBD5E1"/>
                </a:solidFill>
                <a:latin typeface="JetBrains Mono"/>
              </a:defRPr>
            </a:pPr>
            <a:r>
              <a:t>02 / 14</a:t>
            </a:r>
          </a:p>
        </p:txBody>
      </p:sp>
      <p:sp>
        <p:nvSpPr>
          <p:cNvPr id="4" name="TextBox 3"/>
          <p:cNvSpPr txBox="1"/>
          <p:nvPr/>
        </p:nvSpPr>
        <p:spPr>
          <a:xfrm>
            <a:off x="457200" y="548640"/>
            <a:ext cx="11274552" cy="713232"/>
          </a:xfrm>
          <a:prstGeom prst="rect">
            <a:avLst/>
          </a:prstGeom>
          <a:noFill/>
        </p:spPr>
        <p:txBody>
          <a:bodyPr wrap="square" lIns="0" tIns="0" rIns="0" bIns="0">
            <a:spAutoFit/>
          </a:bodyPr>
          <a:lstStyle/>
          <a:p>
            <a:pPr>
              <a:defRPr sz="1950" b="1">
                <a:solidFill>
                  <a:srgbClr val="F8FAFC"/>
                </a:solidFill>
                <a:latin typeface="Inter"/>
              </a:defRPr>
            </a:pPr>
            <a:r>
              <a:t>Disjointed Manual Ledgers Induce Stockouts, Working Capital Distortion, and Unaudited Shrinkage Across SME Supply Chains</a:t>
            </a:r>
          </a:p>
        </p:txBody>
      </p:sp>
      <p:sp>
        <p:nvSpPr>
          <p:cNvPr id="5" name="Rectangle 4"/>
          <p:cNvSpPr/>
          <p:nvPr/>
        </p:nvSpPr>
        <p:spPr>
          <a:xfrm>
            <a:off x="457200" y="1298448"/>
            <a:ext cx="1127455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65392"/>
            <a:ext cx="11274552" cy="228600"/>
          </a:xfrm>
          <a:prstGeom prst="rect">
            <a:avLst/>
          </a:prstGeom>
          <a:noFill/>
        </p:spPr>
        <p:txBody>
          <a:bodyPr wrap="none" lIns="0" tIns="0" rIns="0" bIns="0">
            <a:spAutoFit/>
          </a:bodyPr>
          <a:lstStyle/>
          <a:p>
            <a:pPr>
              <a:defRPr sz="850">
                <a:solidFill>
                  <a:srgbClr val="334155"/>
                </a:solidFill>
                <a:latin typeface="JetBrains Mono"/>
              </a:defRPr>
            </a:pPr>
            <a:r>
              <a:t>SIMS ARCHITECTURAL DEFENSE  //  EBUBECHUKWU WILLIAM AYOZIE  //  TARGET: CPYTHON 3.14 (HEAD -&gt; f9d08b2...c14609)</a:t>
            </a:r>
          </a:p>
        </p:txBody>
      </p:sp>
      <p:sp>
        <p:nvSpPr>
          <p:cNvPr id="7" name="Rounded Rectangle 6"/>
          <p:cNvSpPr/>
          <p:nvPr/>
        </p:nvSpPr>
        <p:spPr>
          <a:xfrm>
            <a:off x="457200" y="1463040"/>
            <a:ext cx="3611880" cy="3063240"/>
          </a:xfrm>
          <a:prstGeom prst="roundRect">
            <a:avLst>
              <a:gd name="adj" fmla="val 2000"/>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F59E0B"/>
                </a:solidFill>
                <a:latin typeface="Inter"/>
              </a:defRPr>
            </a:pPr>
            <a:r>
              <a:t>1. Reactive Stockout Blindness [ALERT]</a:t>
            </a:r>
          </a:p>
          <a:p>
            <a:pPr>
              <a:spcAft>
                <a:spcPts val="400"/>
              </a:spcAft>
              <a:defRPr sz="1100">
                <a:solidFill>
                  <a:srgbClr val="CBD5E1"/>
                </a:solidFill>
                <a:latin typeface="Inter"/>
              </a:defRPr>
            </a:pPr>
            <a:r>
              <a:t>▸  Manual spreadsheet tracking lacks real-time threshold triggers.</a:t>
            </a:r>
          </a:p>
          <a:p>
            <a:pPr>
              <a:spcAft>
                <a:spcPts val="400"/>
              </a:spcAft>
              <a:defRPr sz="1100">
                <a:solidFill>
                  <a:srgbClr val="CBD5E1"/>
                </a:solidFill>
                <a:latin typeface="Inter"/>
              </a:defRPr>
            </a:pPr>
            <a:r>
              <a:t>▸  Empirical Repository Evidence: In products.csv, SKU PD002 (DELL) holds Quantity = 2 against Minimum Stock = 5.</a:t>
            </a:r>
          </a:p>
          <a:p>
            <a:pPr>
              <a:spcAft>
                <a:spcPts val="400"/>
              </a:spcAft>
              <a:defRPr sz="1100">
                <a:solidFill>
                  <a:srgbClr val="CBD5E1"/>
                </a:solidFill>
                <a:latin typeface="Inter"/>
              </a:defRPr>
            </a:pPr>
            <a:r>
              <a:t>▸  Represents a 60% safety-stock deficit (-3 units) that goes unnoticed without automated telemetry.</a:t>
            </a:r>
          </a:p>
          <a:p>
            <a:pPr>
              <a:spcAft>
                <a:spcPts val="400"/>
              </a:spcAft>
              <a:defRPr sz="1100">
                <a:solidFill>
                  <a:srgbClr val="CBD5E1"/>
                </a:solidFill>
                <a:latin typeface="Inter"/>
              </a:defRPr>
            </a:pPr>
            <a:r>
              <a:t>▸  Threshold Invariant: Alert triggered iff Q_curr &lt;= R_min.</a:t>
            </a:r>
          </a:p>
        </p:txBody>
      </p:sp>
      <p:sp>
        <p:nvSpPr>
          <p:cNvPr id="8" name="Rounded Rectangle 7"/>
          <p:cNvSpPr/>
          <p:nvPr/>
        </p:nvSpPr>
        <p:spPr>
          <a:xfrm>
            <a:off x="4279392" y="1463040"/>
            <a:ext cx="3611880" cy="3063240"/>
          </a:xfrm>
          <a:prstGeom prst="roundRect">
            <a:avLst>
              <a:gd name="adj" fmla="val 2000"/>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F8FAFC"/>
                </a:solidFill>
                <a:latin typeface="Inter"/>
              </a:defRPr>
            </a:pPr>
            <a:r>
              <a:t>2. Capital Lockup &amp; Overstocking</a:t>
            </a:r>
          </a:p>
          <a:p>
            <a:pPr>
              <a:spcAft>
                <a:spcPts val="400"/>
              </a:spcAft>
              <a:defRPr sz="1100">
                <a:solidFill>
                  <a:srgbClr val="CBD5E1"/>
                </a:solidFill>
                <a:latin typeface="Inter"/>
              </a:defRPr>
            </a:pPr>
            <a:r>
              <a:t>▸  Absence of velocity-based reorder points leads to panic ordering and dead working capital.</a:t>
            </a:r>
          </a:p>
          <a:p>
            <a:pPr>
              <a:spcAft>
                <a:spcPts val="400"/>
              </a:spcAft>
              <a:defRPr sz="1100">
                <a:solidFill>
                  <a:srgbClr val="CBD5E1"/>
                </a:solidFill>
                <a:latin typeface="Inter"/>
              </a:defRPr>
            </a:pPr>
            <a:r>
              <a:t>▸  Unsynchronized price and quantity mutations distort total inventory valuation:</a:t>
            </a:r>
          </a:p>
          <a:p>
            <a:pPr>
              <a:spcAft>
                <a:spcPts val="400"/>
              </a:spcAft>
              <a:defRPr sz="1100">
                <a:solidFill>
                  <a:srgbClr val="CBD5E1"/>
                </a:solidFill>
                <a:latin typeface="Inter"/>
              </a:defRPr>
            </a:pPr>
            <a:r>
              <a:t>▸  Valuation Invariant: V = Sum(Q_i * P_i) across all active SKUs.</a:t>
            </a:r>
          </a:p>
          <a:p>
            <a:pPr>
              <a:spcAft>
                <a:spcPts val="400"/>
              </a:spcAft>
              <a:defRPr sz="1100">
                <a:solidFill>
                  <a:srgbClr val="CBD5E1"/>
                </a:solidFill>
                <a:latin typeface="Inter"/>
              </a:defRPr>
            </a:pPr>
            <a:r>
              <a:t>▸  Manual float arithmetic introduces IEEE 754 precision drift.</a:t>
            </a:r>
          </a:p>
        </p:txBody>
      </p:sp>
      <p:sp>
        <p:nvSpPr>
          <p:cNvPr id="9" name="Rounded Rectangle 8"/>
          <p:cNvSpPr/>
          <p:nvPr/>
        </p:nvSpPr>
        <p:spPr>
          <a:xfrm>
            <a:off x="8119872" y="1463040"/>
            <a:ext cx="3611880" cy="3063240"/>
          </a:xfrm>
          <a:prstGeom prst="roundRect">
            <a:avLst>
              <a:gd name="adj" fmla="val 2000"/>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06B6D4"/>
                </a:solidFill>
                <a:latin typeface="Inter"/>
              </a:defRPr>
            </a:pPr>
            <a:r>
              <a:t>3. Interface Lock-In &amp; Sync Lag</a:t>
            </a:r>
          </a:p>
          <a:p>
            <a:pPr>
              <a:spcAft>
                <a:spcPts val="400"/>
              </a:spcAft>
              <a:defRPr sz="1100">
                <a:solidFill>
                  <a:srgbClr val="CBD5E1"/>
                </a:solidFill>
                <a:latin typeface="Inter"/>
              </a:defRPr>
            </a:pPr>
            <a:r>
              <a:t>▸  Legacy desktop tools lock data inside local UI state, preventing external Point-of-Sale (POS) or webhook consumption.</a:t>
            </a:r>
          </a:p>
          <a:p>
            <a:pPr>
              <a:spcAft>
                <a:spcPts val="400"/>
              </a:spcAft>
              <a:defRPr sz="1100">
                <a:solidFill>
                  <a:srgbClr val="CBD5E1"/>
                </a:solidFill>
                <a:latin typeface="Inter"/>
              </a:defRPr>
            </a:pPr>
            <a:r>
              <a:t>▸  SIMS resolves this by exposing both a local gui.py desktop interface and a network api.py controller.</a:t>
            </a:r>
          </a:p>
          <a:p>
            <a:pPr>
              <a:spcAft>
                <a:spcPts val="400"/>
              </a:spcAft>
              <a:defRPr sz="1100">
                <a:solidFill>
                  <a:srgbClr val="CBD5E1"/>
                </a:solidFill>
                <a:latin typeface="Inter"/>
              </a:defRPr>
            </a:pPr>
            <a:r>
              <a:t>▸  Both interfaces bind to a single authoritative inventory.py core.</a:t>
            </a:r>
          </a:p>
        </p:txBody>
      </p:sp>
      <p:sp>
        <p:nvSpPr>
          <p:cNvPr id="10" name="Rounded Rectangle 9"/>
          <p:cNvSpPr/>
          <p:nvPr/>
        </p:nvSpPr>
        <p:spPr>
          <a:xfrm>
            <a:off x="457200" y="4709160"/>
            <a:ext cx="11274552" cy="1691640"/>
          </a:xfrm>
          <a:prstGeom prst="roundRect">
            <a:avLst>
              <a:gd name="adj" fmla="val 2000"/>
            </a:avLst>
          </a:prstGeom>
          <a:solidFill>
            <a:srgbClr val="090D16"/>
          </a:solidFill>
          <a:ln w="15875">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spcAft>
                <a:spcPts val="600"/>
              </a:spcAft>
              <a:defRPr sz="1000" b="1">
                <a:solidFill>
                  <a:srgbClr val="F59E0B"/>
                </a:solidFill>
                <a:latin typeface="JetBrains Mono"/>
              </a:defRPr>
            </a:pPr>
            <a:r>
              <a:t>// TOTAL INVENTORY COST FUNCTION &amp; LIVE REPOSITORY TELEMETRY (products.csv -&gt; SKU PD002)</a:t>
            </a:r>
          </a:p>
          <a:p>
            <a:pPr>
              <a:spcAft>
                <a:spcPts val="150"/>
              </a:spcAft>
              <a:defRPr sz="1050">
                <a:solidFill>
                  <a:srgbClr val="38BDF8"/>
                </a:solidFill>
                <a:latin typeface="JetBrains Mono"/>
              </a:defRPr>
            </a:pPr>
            <a:r>
              <a:t>C_total = (D * C_u) + (D / Q) * C_o + (Q / 2) * C_h + P_s * max(0, R_min - Q_curr)</a:t>
            </a:r>
          </a:p>
          <a:p>
            <a:pPr>
              <a:spcAft>
                <a:spcPts val="150"/>
              </a:spcAft>
              <a:defRPr sz="1050">
                <a:solidFill>
                  <a:srgbClr val="38BDF8"/>
                </a:solidFill>
                <a:latin typeface="JetBrains Mono"/>
              </a:defRPr>
            </a:pPr>
          </a:p>
          <a:p>
            <a:pPr>
              <a:spcAft>
                <a:spcPts val="150"/>
              </a:spcAft>
              <a:defRPr sz="1050">
                <a:solidFill>
                  <a:srgbClr val="38BDF8"/>
                </a:solidFill>
                <a:latin typeface="JetBrains Mono"/>
              </a:defRPr>
            </a:pPr>
            <a:r>
              <a:t>LIVE TELEMETRY AUDIT [products.csv]: SKU = PD002 (DELL)  |  Unit Price (P) = $150.00  |  Current Qty (Q_curr) = 2  |  Minimum Stock (R_min) = 5</a:t>
            </a:r>
          </a:p>
          <a:p>
            <a:pPr>
              <a:spcAft>
                <a:spcPts val="150"/>
              </a:spcAft>
              <a:defRPr sz="1050">
                <a:solidFill>
                  <a:srgbClr val="38BDF8"/>
                </a:solidFill>
                <a:latin typeface="JetBrains Mono"/>
              </a:defRPr>
            </a:pPr>
            <a:r>
              <a:t>DEFICIT EVALUATION: Delta_S = Q_curr - R_min = 2 - 5 = -3 Units (60% Safety Floor Violation) --&gt; Immediate Replenishment Exposure = $450.00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058400" cy="274320"/>
          </a:xfrm>
          <a:prstGeom prst="rect">
            <a:avLst/>
          </a:prstGeom>
          <a:noFill/>
        </p:spPr>
        <p:txBody>
          <a:bodyPr wrap="square" lIns="0" tIns="0" rIns="0" bIns="0">
            <a:spAutoFit/>
          </a:bodyPr>
          <a:lstStyle/>
          <a:p>
            <a:pPr>
              <a:defRPr sz="1050" b="1">
                <a:solidFill>
                  <a:srgbClr val="06B6D4"/>
                </a:solidFill>
                <a:latin typeface="JetBrains Mono"/>
              </a:defRPr>
            </a:pPr>
            <a:r>
              <a:t>[SYSTEM ARCHITECTURE // MODULAR DECOMPOSITION]</a:t>
            </a:r>
          </a:p>
        </p:txBody>
      </p:sp>
      <p:sp>
        <p:nvSpPr>
          <p:cNvPr id="3" name="Rounded Rectangle 2"/>
          <p:cNvSpPr/>
          <p:nvPr/>
        </p:nvSpPr>
        <p:spPr>
          <a:xfrm>
            <a:off x="11018520" y="256032"/>
            <a:ext cx="713232"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CBD5E1"/>
                </a:solidFill>
                <a:latin typeface="JetBrains Mono"/>
              </a:defRPr>
            </a:pPr>
            <a:r>
              <a:t>03 / 14</a:t>
            </a:r>
          </a:p>
        </p:txBody>
      </p:sp>
      <p:sp>
        <p:nvSpPr>
          <p:cNvPr id="4" name="TextBox 3"/>
          <p:cNvSpPr txBox="1"/>
          <p:nvPr/>
        </p:nvSpPr>
        <p:spPr>
          <a:xfrm>
            <a:off x="457200" y="548640"/>
            <a:ext cx="11274552" cy="713232"/>
          </a:xfrm>
          <a:prstGeom prst="rect">
            <a:avLst/>
          </a:prstGeom>
          <a:noFill/>
        </p:spPr>
        <p:txBody>
          <a:bodyPr wrap="square" lIns="0" tIns="0" rIns="0" bIns="0">
            <a:spAutoFit/>
          </a:bodyPr>
          <a:lstStyle/>
          <a:p>
            <a:pPr>
              <a:defRPr sz="1950" b="1">
                <a:solidFill>
                  <a:srgbClr val="F8FAFC"/>
                </a:solidFill>
                <a:latin typeface="Inter"/>
              </a:defRPr>
            </a:pPr>
            <a:r>
              <a:t>Layered Five-Module Topology Decouples Presentation and REST Interfaces from Core Domain and Persistence Logic</a:t>
            </a:r>
          </a:p>
        </p:txBody>
      </p:sp>
      <p:sp>
        <p:nvSpPr>
          <p:cNvPr id="5" name="Rectangle 4"/>
          <p:cNvSpPr/>
          <p:nvPr/>
        </p:nvSpPr>
        <p:spPr>
          <a:xfrm>
            <a:off x="457200" y="1298448"/>
            <a:ext cx="1127455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65392"/>
            <a:ext cx="11274552" cy="228600"/>
          </a:xfrm>
          <a:prstGeom prst="rect">
            <a:avLst/>
          </a:prstGeom>
          <a:noFill/>
        </p:spPr>
        <p:txBody>
          <a:bodyPr wrap="none" lIns="0" tIns="0" rIns="0" bIns="0">
            <a:spAutoFit/>
          </a:bodyPr>
          <a:lstStyle/>
          <a:p>
            <a:pPr>
              <a:defRPr sz="850">
                <a:solidFill>
                  <a:srgbClr val="334155"/>
                </a:solidFill>
                <a:latin typeface="JetBrains Mono"/>
              </a:defRPr>
            </a:pPr>
            <a:r>
              <a:t>SIMS ARCHITECTURAL DEFENSE  //  EBUBECHUKWU WILLIAM AYOZIE  //  TARGET: CPYTHON 3.14 (HEAD -&gt; f9d08b2...c14609)</a:t>
            </a:r>
          </a:p>
        </p:txBody>
      </p:sp>
      <p:sp>
        <p:nvSpPr>
          <p:cNvPr id="7" name="Rounded Rectangle 6"/>
          <p:cNvSpPr/>
          <p:nvPr/>
        </p:nvSpPr>
        <p:spPr>
          <a:xfrm>
            <a:off x="457200" y="1463040"/>
            <a:ext cx="5760720" cy="4937760"/>
          </a:xfrm>
          <a:prstGeom prst="roundRect">
            <a:avLst>
              <a:gd name="adj" fmla="val 2000"/>
            </a:avLst>
          </a:prstGeom>
          <a:solidFill>
            <a:srgbClr val="090D16"/>
          </a:solidFill>
          <a:ln w="15875">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spcAft>
                <a:spcPts val="600"/>
              </a:spcAft>
              <a:defRPr sz="1000" b="1">
                <a:solidFill>
                  <a:srgbClr val="06B6D4"/>
                </a:solidFill>
                <a:latin typeface="JetBrains Mono"/>
              </a:defRPr>
            </a:pPr>
            <a:r>
              <a:t>// 4-TIER LAYERED SYSTEM ARCHITECTURE FLOWCHART</a:t>
            </a:r>
          </a:p>
          <a:p>
            <a:pPr>
              <a:spcAft>
                <a:spcPts val="150"/>
              </a:spcAft>
              <a:defRPr sz="900">
                <a:solidFill>
                  <a:srgbClr val="38BDF8"/>
                </a:solidFill>
                <a:latin typeface="JetBrains Mono"/>
              </a:defRPr>
            </a:pPr>
            <a:r>
              <a:t>TIER 1: BOOTSTRAP &amp; LIFECYCLE ORCHESTRATION</a:t>
            </a:r>
          </a:p>
          <a:p>
            <a:pPr>
              <a:spcAft>
                <a:spcPts val="150"/>
              </a:spcAft>
              <a:defRPr sz="900">
                <a:solidFill>
                  <a:srgbClr val="38BDF8"/>
                </a:solidFill>
                <a:latin typeface="JetBrains Mono"/>
              </a:defRPr>
            </a:pPr>
            <a:r>
              <a:t>  +-------------------------------------------------------+</a:t>
            </a:r>
          </a:p>
          <a:p>
            <a:pPr>
              <a:spcAft>
                <a:spcPts val="150"/>
              </a:spcAft>
              <a:defRPr sz="900">
                <a:solidFill>
                  <a:srgbClr val="38BDF8"/>
                </a:solidFill>
                <a:latin typeface="JetBrains Mono"/>
              </a:defRPr>
            </a:pPr>
            <a:r>
              <a:t>  |      main.py (Entry Point &amp; Thread Dispatcher)        |</a:t>
            </a:r>
          </a:p>
          <a:p>
            <a:pPr>
              <a:spcAft>
                <a:spcPts val="150"/>
              </a:spcAft>
              <a:defRPr sz="900">
                <a:solidFill>
                  <a:srgbClr val="38BDF8"/>
                </a:solidFill>
                <a:latin typeface="JetBrains Mono"/>
              </a:defRPr>
            </a:pPr>
            <a:r>
              <a:t>  +--------------------------+---------------------------+</a:t>
            </a:r>
          </a:p>
          <a:p>
            <a:pPr>
              <a:spcAft>
                <a:spcPts val="150"/>
              </a:spcAft>
              <a:defRPr sz="900">
                <a:solidFill>
                  <a:srgbClr val="38BDF8"/>
                </a:solidFill>
                <a:latin typeface="JetBrains Mono"/>
              </a:defRPr>
            </a:pPr>
            <a:r>
              <a:t>                              |</a:t>
            </a:r>
          </a:p>
          <a:p>
            <a:pPr>
              <a:spcAft>
                <a:spcPts val="150"/>
              </a:spcAft>
              <a:defRPr sz="900">
                <a:solidFill>
                  <a:srgbClr val="38BDF8"/>
                </a:solidFill>
                <a:latin typeface="JetBrains Mono"/>
              </a:defRPr>
            </a:pPr>
            <a:r>
              <a:t>            +-----------------+-----------------+</a:t>
            </a:r>
          </a:p>
          <a:p>
            <a:pPr>
              <a:spcAft>
                <a:spcPts val="150"/>
              </a:spcAft>
              <a:defRPr sz="900">
                <a:solidFill>
                  <a:srgbClr val="38BDF8"/>
                </a:solidFill>
                <a:latin typeface="JetBrains Mono"/>
              </a:defRPr>
            </a:pPr>
            <a:r>
              <a:t>            v                                   v</a:t>
            </a:r>
          </a:p>
          <a:p>
            <a:pPr>
              <a:spcAft>
                <a:spcPts val="150"/>
              </a:spcAft>
              <a:defRPr sz="900">
                <a:solidFill>
                  <a:srgbClr val="38BDF8"/>
                </a:solidFill>
                <a:latin typeface="JetBrains Mono"/>
              </a:defRPr>
            </a:pPr>
            <a:r>
              <a:t>TIER 2: DUAL CONSUMPTION INTERFACES (THIN ADAPTERS)</a:t>
            </a:r>
          </a:p>
          <a:p>
            <a:pPr>
              <a:spcAft>
                <a:spcPts val="150"/>
              </a:spcAft>
              <a:defRPr sz="900">
                <a:solidFill>
                  <a:srgbClr val="38BDF8"/>
                </a:solidFill>
                <a:latin typeface="JetBrains Mono"/>
              </a:defRPr>
            </a:pPr>
            <a:r>
              <a:t>  +-------------------------+       +-------------------------+</a:t>
            </a:r>
          </a:p>
          <a:p>
            <a:pPr>
              <a:spcAft>
                <a:spcPts val="150"/>
              </a:spcAft>
              <a:defRPr sz="900">
                <a:solidFill>
                  <a:srgbClr val="38BDF8"/>
                </a:solidFill>
                <a:latin typeface="JetBrains Mono"/>
              </a:defRPr>
            </a:pPr>
            <a:r>
              <a:t>  |         gui.py          |       |         api.py          |</a:t>
            </a:r>
          </a:p>
          <a:p>
            <a:pPr>
              <a:spcAft>
                <a:spcPts val="150"/>
              </a:spcAft>
              <a:defRPr sz="900">
                <a:solidFill>
                  <a:srgbClr val="38BDF8"/>
                </a:solidFill>
                <a:latin typeface="JetBrains Mono"/>
              </a:defRPr>
            </a:pPr>
            <a:r>
              <a:t>  |  [gui.cpython-314.pyc]  |       |  [api.cpython-314.pyc]  |</a:t>
            </a:r>
          </a:p>
          <a:p>
            <a:pPr>
              <a:spcAft>
                <a:spcPts val="150"/>
              </a:spcAft>
              <a:defRPr sz="900">
                <a:solidFill>
                  <a:srgbClr val="38BDF8"/>
                </a:solidFill>
                <a:latin typeface="JetBrains Mono"/>
              </a:defRPr>
            </a:pPr>
            <a:r>
              <a:t>  |   Tkinter Event Loop    |       |  REST HTTP Controller   |</a:t>
            </a:r>
          </a:p>
          <a:p>
            <a:pPr>
              <a:spcAft>
                <a:spcPts val="150"/>
              </a:spcAft>
              <a:defRPr sz="900">
                <a:solidFill>
                  <a:srgbClr val="38BDF8"/>
                </a:solidFill>
                <a:latin typeface="JetBrains Mono"/>
              </a:defRPr>
            </a:pPr>
            <a:r>
              <a:t>  +------------+------------+       +------------+------------+</a:t>
            </a:r>
          </a:p>
          <a:p>
            <a:pPr>
              <a:spcAft>
                <a:spcPts val="150"/>
              </a:spcAft>
              <a:defRPr sz="900">
                <a:solidFill>
                  <a:srgbClr val="38BDF8"/>
                </a:solidFill>
                <a:latin typeface="JetBrains Mono"/>
              </a:defRPr>
            </a:pPr>
            <a:r>
              <a:t>               +----------------+----------------+</a:t>
            </a:r>
          </a:p>
          <a:p>
            <a:pPr>
              <a:spcAft>
                <a:spcPts val="150"/>
              </a:spcAft>
              <a:defRPr sz="900">
                <a:solidFill>
                  <a:srgbClr val="38BDF8"/>
                </a:solidFill>
                <a:latin typeface="JetBrains Mono"/>
              </a:defRPr>
            </a:pPr>
            <a:r>
              <a:t>                                |</a:t>
            </a:r>
          </a:p>
          <a:p>
            <a:pPr>
              <a:spcAft>
                <a:spcPts val="150"/>
              </a:spcAft>
              <a:defRPr sz="900">
                <a:solidFill>
                  <a:srgbClr val="38BDF8"/>
                </a:solidFill>
                <a:latin typeface="JetBrains Mono"/>
              </a:defRPr>
            </a:pPr>
            <a:r>
              <a:t>                                v</a:t>
            </a:r>
          </a:p>
          <a:p>
            <a:pPr>
              <a:spcAft>
                <a:spcPts val="150"/>
              </a:spcAft>
              <a:defRPr sz="900">
                <a:solidFill>
                  <a:srgbClr val="38BDF8"/>
                </a:solidFill>
                <a:latin typeface="JetBrains Mono"/>
              </a:defRPr>
            </a:pPr>
            <a:r>
              <a:t>TIER 3: CORE DOMAIN &amp; INTELLIGENCE ENGINE</a:t>
            </a:r>
          </a:p>
          <a:p>
            <a:pPr>
              <a:spcAft>
                <a:spcPts val="150"/>
              </a:spcAft>
              <a:defRPr sz="900">
                <a:solidFill>
                  <a:srgbClr val="38BDF8"/>
                </a:solidFill>
                <a:latin typeface="JetBrains Mono"/>
              </a:defRPr>
            </a:pPr>
            <a:r>
              <a:t>  +-----------------------------+-----------------------------+</a:t>
            </a:r>
          </a:p>
          <a:p>
            <a:pPr>
              <a:spcAft>
                <a:spcPts val="150"/>
              </a:spcAft>
              <a:defRPr sz="900">
                <a:solidFill>
                  <a:srgbClr val="38BDF8"/>
                </a:solidFill>
                <a:latin typeface="JetBrains Mono"/>
              </a:defRPr>
            </a:pPr>
            <a:r>
              <a:t>  |          inventory.py [inventory.cpython-314.pyc]         |</a:t>
            </a:r>
          </a:p>
          <a:p>
            <a:pPr>
              <a:spcAft>
                <a:spcPts val="150"/>
              </a:spcAft>
              <a:defRPr sz="900">
                <a:solidFill>
                  <a:srgbClr val="38BDF8"/>
                </a:solidFill>
                <a:latin typeface="JetBrains Mono"/>
              </a:defRPr>
            </a:pPr>
            <a:r>
              <a:t>  |    Authoritative CRUD, Schema Validation &amp; O(1) Cache     |</a:t>
            </a:r>
          </a:p>
          <a:p>
            <a:pPr>
              <a:spcAft>
                <a:spcPts val="150"/>
              </a:spcAft>
              <a:defRPr sz="900">
                <a:solidFill>
                  <a:srgbClr val="38BDF8"/>
                </a:solidFill>
                <a:latin typeface="JetBrains Mono"/>
              </a:defRPr>
            </a:pPr>
            <a:r>
              <a:t>  +--------------+-----------------------------+--------------+</a:t>
            </a:r>
          </a:p>
          <a:p>
            <a:pPr>
              <a:spcAft>
                <a:spcPts val="150"/>
              </a:spcAft>
              <a:defRPr sz="900">
                <a:solidFill>
                  <a:srgbClr val="38BDF8"/>
                </a:solidFill>
                <a:latin typeface="JetBrains Mono"/>
              </a:defRPr>
            </a:pPr>
            <a:r>
              <a:t>                 | (State Telemetry)           | (Atomic I/O)</a:t>
            </a:r>
          </a:p>
          <a:p>
            <a:pPr>
              <a:spcAft>
                <a:spcPts val="150"/>
              </a:spcAft>
              <a:defRPr sz="900">
                <a:solidFill>
                  <a:srgbClr val="38BDF8"/>
                </a:solidFill>
                <a:latin typeface="JetBrains Mono"/>
              </a:defRPr>
            </a:pPr>
            <a:r>
              <a:t>                 v                             v</a:t>
            </a:r>
          </a:p>
          <a:p>
            <a:pPr>
              <a:spcAft>
                <a:spcPts val="150"/>
              </a:spcAft>
              <a:defRPr sz="900">
                <a:solidFill>
                  <a:srgbClr val="38BDF8"/>
                </a:solidFill>
                <a:latin typeface="JetBrains Mono"/>
              </a:defRPr>
            </a:pPr>
            <a:r>
              <a:t>  +-----------------------------+ +---------------------------+</a:t>
            </a:r>
          </a:p>
          <a:p>
            <a:pPr>
              <a:spcAft>
                <a:spcPts val="150"/>
              </a:spcAft>
              <a:defRPr sz="900">
                <a:solidFill>
                  <a:srgbClr val="38BDF8"/>
                </a:solidFill>
                <a:latin typeface="JetBrains Mono"/>
              </a:defRPr>
            </a:pPr>
            <a:r>
              <a:t>  |       ai_assistant.py       | | TIER 4: FLAT-FILE STORAGE |</a:t>
            </a:r>
          </a:p>
          <a:p>
            <a:pPr>
              <a:spcAft>
                <a:spcPts val="150"/>
              </a:spcAft>
              <a:defRPr sz="900">
                <a:solidFill>
                  <a:srgbClr val="38BDF8"/>
                </a:solidFill>
                <a:latin typeface="JetBrains Mono"/>
              </a:defRPr>
            </a:pPr>
            <a:r>
              <a:t>  | [ai_assistant.cpython-314]  | |  products.csv (Catalog)   |</a:t>
            </a:r>
          </a:p>
          <a:p>
            <a:pPr>
              <a:spcAft>
                <a:spcPts val="150"/>
              </a:spcAft>
              <a:defRPr sz="900">
                <a:solidFill>
                  <a:srgbClr val="38BDF8"/>
                </a:solidFill>
                <a:latin typeface="JetBrains Mono"/>
              </a:defRPr>
            </a:pPr>
            <a:r>
              <a:t>  |  ROP &amp; Velocity Heuristics  | |  sales.csv (Audit Ledger) |</a:t>
            </a:r>
          </a:p>
          <a:p>
            <a:pPr>
              <a:spcAft>
                <a:spcPts val="150"/>
              </a:spcAft>
              <a:defRPr sz="900">
                <a:solidFill>
                  <a:srgbClr val="38BDF8"/>
                </a:solidFill>
                <a:latin typeface="JetBrains Mono"/>
              </a:defRPr>
            </a:pPr>
            <a:r>
              <a:t>  +-----------------------------+ +---------------------------+</a:t>
            </a:r>
          </a:p>
        </p:txBody>
      </p:sp>
      <p:sp>
        <p:nvSpPr>
          <p:cNvPr id="8" name="Rounded Rectangle 7"/>
          <p:cNvSpPr/>
          <p:nvPr/>
        </p:nvSpPr>
        <p:spPr>
          <a:xfrm>
            <a:off x="6400800" y="1463040"/>
            <a:ext cx="5330952" cy="1152144"/>
          </a:xfrm>
          <a:prstGeom prst="roundRect">
            <a:avLst>
              <a:gd name="adj" fmla="val 2000"/>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06B6D4"/>
                </a:solidFill>
                <a:latin typeface="Inter"/>
              </a:defRPr>
            </a:pPr>
            <a:r>
              <a:t>Tier 1: Bootstrap Coordinator (main.py)</a:t>
            </a:r>
          </a:p>
          <a:p>
            <a:pPr>
              <a:spcAft>
                <a:spcPts val="400"/>
              </a:spcAft>
              <a:defRPr sz="1000">
                <a:solidFill>
                  <a:srgbClr val="CBD5E1"/>
                </a:solidFill>
                <a:latin typeface="Inter"/>
              </a:defRPr>
            </a:pPr>
            <a:r>
              <a:t>▸  Initializes application context and verifies products.csv &amp; sales.csv.</a:t>
            </a:r>
          </a:p>
          <a:p>
            <a:pPr>
              <a:spcAft>
                <a:spcPts val="400"/>
              </a:spcAft>
              <a:defRPr sz="1000">
                <a:solidFill>
                  <a:srgbClr val="CBD5E1"/>
                </a:solidFill>
                <a:latin typeface="Inter"/>
              </a:defRPr>
            </a:pPr>
            <a:r>
              <a:t>▸  Dispatches execution threads for UI and REST API services.</a:t>
            </a:r>
          </a:p>
        </p:txBody>
      </p:sp>
      <p:sp>
        <p:nvSpPr>
          <p:cNvPr id="9" name="Rounded Rectangle 8"/>
          <p:cNvSpPr/>
          <p:nvPr/>
        </p:nvSpPr>
        <p:spPr>
          <a:xfrm>
            <a:off x="6400800" y="2724912"/>
            <a:ext cx="5330952" cy="1152144"/>
          </a:xfrm>
          <a:prstGeom prst="roundRect">
            <a:avLst>
              <a:gd name="adj" fmla="val 2000"/>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F8FAFC"/>
                </a:solidFill>
                <a:latin typeface="Inter"/>
              </a:defRPr>
            </a:pPr>
            <a:r>
              <a:t>Tier 2: Dual Interfaces (gui.py &amp; api.py)</a:t>
            </a:r>
          </a:p>
          <a:p>
            <a:pPr>
              <a:spcAft>
                <a:spcPts val="400"/>
              </a:spcAft>
              <a:defRPr sz="1000">
                <a:solidFill>
                  <a:srgbClr val="CBD5E1"/>
                </a:solidFill>
                <a:latin typeface="Inter"/>
              </a:defRPr>
            </a:pPr>
            <a:r>
              <a:t>▸  gui.py (gui.cpython-314.pyc): Desktop Treeview, validators &amp; Amber alerts.</a:t>
            </a:r>
          </a:p>
          <a:p>
            <a:pPr>
              <a:spcAft>
                <a:spcPts val="400"/>
              </a:spcAft>
              <a:defRPr sz="1000">
                <a:solidFill>
                  <a:srgbClr val="CBD5E1"/>
                </a:solidFill>
                <a:latin typeface="Inter"/>
              </a:defRPr>
            </a:pPr>
            <a:r>
              <a:t>▸  api.py (api.cpython-314.pyc): Stateless JSON endpoints for POS/webhooks.</a:t>
            </a:r>
          </a:p>
        </p:txBody>
      </p:sp>
      <p:sp>
        <p:nvSpPr>
          <p:cNvPr id="10" name="Rounded Rectangle 9"/>
          <p:cNvSpPr/>
          <p:nvPr/>
        </p:nvSpPr>
        <p:spPr>
          <a:xfrm>
            <a:off x="6400800" y="3986783"/>
            <a:ext cx="5330952" cy="1152144"/>
          </a:xfrm>
          <a:prstGeom prst="roundRect">
            <a:avLst>
              <a:gd name="adj" fmla="val 2000"/>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06B6D4"/>
                </a:solidFill>
                <a:latin typeface="Inter"/>
              </a:defRPr>
            </a:pPr>
            <a:r>
              <a:t>Tier 3: Domain &amp; AI Core (inventory.py &amp; ai_assistant.py)</a:t>
            </a:r>
          </a:p>
          <a:p>
            <a:pPr>
              <a:spcAft>
                <a:spcPts val="400"/>
              </a:spcAft>
              <a:defRPr sz="1000">
                <a:solidFill>
                  <a:srgbClr val="CBD5E1"/>
                </a:solidFill>
                <a:latin typeface="Inter"/>
              </a:defRPr>
            </a:pPr>
            <a:r>
              <a:t>▸  inventory.py: Single source of truth for CRUD, stock math &amp; serialization.</a:t>
            </a:r>
          </a:p>
          <a:p>
            <a:pPr>
              <a:spcAft>
                <a:spcPts val="400"/>
              </a:spcAft>
              <a:defRPr sz="1000">
                <a:solidFill>
                  <a:srgbClr val="CBD5E1"/>
                </a:solidFill>
                <a:latin typeface="Inter"/>
              </a:defRPr>
            </a:pPr>
            <a:r>
              <a:t>▸  ai_assistant.py: Computes restock priorities &amp; sales velocity insights.</a:t>
            </a:r>
          </a:p>
        </p:txBody>
      </p:sp>
      <p:sp>
        <p:nvSpPr>
          <p:cNvPr id="11" name="Rounded Rectangle 10"/>
          <p:cNvSpPr/>
          <p:nvPr/>
        </p:nvSpPr>
        <p:spPr>
          <a:xfrm>
            <a:off x="6400800" y="5248656"/>
            <a:ext cx="5330952" cy="1152144"/>
          </a:xfrm>
          <a:prstGeom prst="roundRect">
            <a:avLst>
              <a:gd name="adj" fmla="val 2000"/>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F59E0B"/>
                </a:solidFill>
                <a:latin typeface="Inter"/>
              </a:defRPr>
            </a:pPr>
            <a:r>
              <a:t>Tier 4: Decoupled Persistence (products.csv &amp; sales.csv)</a:t>
            </a:r>
          </a:p>
          <a:p>
            <a:pPr>
              <a:spcAft>
                <a:spcPts val="400"/>
              </a:spcAft>
              <a:defRPr sz="1000">
                <a:solidFill>
                  <a:srgbClr val="CBD5E1"/>
                </a:solidFill>
                <a:latin typeface="Inter"/>
              </a:defRPr>
            </a:pPr>
            <a:r>
              <a:t>▸  Human-readable tabular persistence with zero external DB daemon overhead.</a:t>
            </a:r>
          </a:p>
          <a:p>
            <a:pPr>
              <a:spcAft>
                <a:spcPts val="400"/>
              </a:spcAft>
              <a:defRPr sz="1000">
                <a:solidFill>
                  <a:srgbClr val="CBD5E1"/>
                </a:solidFill>
                <a:latin typeface="Inter"/>
              </a:defRPr>
            </a:pPr>
            <a:r>
              <a:t>▸  Backed by compiled CPython 3.14 bytecode (__pycache__/*.cpython-314.pyc).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058400" cy="274320"/>
          </a:xfrm>
          <a:prstGeom prst="rect">
            <a:avLst/>
          </a:prstGeom>
          <a:noFill/>
        </p:spPr>
        <p:txBody>
          <a:bodyPr wrap="square" lIns="0" tIns="0" rIns="0" bIns="0">
            <a:spAutoFit/>
          </a:bodyPr>
          <a:lstStyle/>
          <a:p>
            <a:pPr>
              <a:defRPr sz="1050" b="1">
                <a:solidFill>
                  <a:srgbClr val="06B6D4"/>
                </a:solidFill>
                <a:latin typeface="JetBrains Mono"/>
              </a:defRPr>
            </a:pPr>
            <a:r>
              <a:t>[DATA INTEGRITY // SCHEMA SPECIFICATION]</a:t>
            </a:r>
          </a:p>
        </p:txBody>
      </p:sp>
      <p:sp>
        <p:nvSpPr>
          <p:cNvPr id="3" name="Rounded Rectangle 2"/>
          <p:cNvSpPr/>
          <p:nvPr/>
        </p:nvSpPr>
        <p:spPr>
          <a:xfrm>
            <a:off x="11018520" y="256032"/>
            <a:ext cx="713232"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CBD5E1"/>
                </a:solidFill>
                <a:latin typeface="JetBrains Mono"/>
              </a:defRPr>
            </a:pPr>
            <a:r>
              <a:t>04 / 14</a:t>
            </a:r>
          </a:p>
        </p:txBody>
      </p:sp>
      <p:sp>
        <p:nvSpPr>
          <p:cNvPr id="4" name="TextBox 3"/>
          <p:cNvSpPr txBox="1"/>
          <p:nvPr/>
        </p:nvSpPr>
        <p:spPr>
          <a:xfrm>
            <a:off x="457200" y="548640"/>
            <a:ext cx="11274552" cy="713232"/>
          </a:xfrm>
          <a:prstGeom prst="rect">
            <a:avLst/>
          </a:prstGeom>
          <a:noFill/>
        </p:spPr>
        <p:txBody>
          <a:bodyPr wrap="square" lIns="0" tIns="0" rIns="0" bIns="0">
            <a:spAutoFit/>
          </a:bodyPr>
          <a:lstStyle/>
          <a:p>
            <a:pPr>
              <a:defRPr sz="1950" b="1">
                <a:solidFill>
                  <a:srgbClr val="F8FAFC"/>
                </a:solidFill>
                <a:latin typeface="Inter"/>
              </a:defRPr>
            </a:pPr>
            <a:r>
              <a:t>Strict Tabular Schema Contracts and In-Memory Type Coercion Enforce Referential Integrity Across Flat-File Stores</a:t>
            </a:r>
          </a:p>
        </p:txBody>
      </p:sp>
      <p:sp>
        <p:nvSpPr>
          <p:cNvPr id="5" name="Rectangle 4"/>
          <p:cNvSpPr/>
          <p:nvPr/>
        </p:nvSpPr>
        <p:spPr>
          <a:xfrm>
            <a:off x="457200" y="1298448"/>
            <a:ext cx="1127455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65392"/>
            <a:ext cx="11274552" cy="228600"/>
          </a:xfrm>
          <a:prstGeom prst="rect">
            <a:avLst/>
          </a:prstGeom>
          <a:noFill/>
        </p:spPr>
        <p:txBody>
          <a:bodyPr wrap="none" lIns="0" tIns="0" rIns="0" bIns="0">
            <a:spAutoFit/>
          </a:bodyPr>
          <a:lstStyle/>
          <a:p>
            <a:pPr>
              <a:defRPr sz="850">
                <a:solidFill>
                  <a:srgbClr val="334155"/>
                </a:solidFill>
                <a:latin typeface="JetBrains Mono"/>
              </a:defRPr>
            </a:pPr>
            <a:r>
              <a:t>SIMS ARCHITECTURAL DEFENSE  //  EBUBECHUKWU WILLIAM AYOZIE  //  TARGET: CPYTHON 3.14 (HEAD -&gt; f9d08b2...c14609)</a:t>
            </a:r>
          </a:p>
        </p:txBody>
      </p:sp>
      <p:graphicFrame>
        <p:nvGraphicFramePr>
          <p:cNvPr id="7" name="Table 6"/>
          <p:cNvGraphicFramePr>
            <a:graphicFrameLocks noGrp="1"/>
          </p:cNvGraphicFramePr>
          <p:nvPr/>
        </p:nvGraphicFramePr>
        <p:xfrm>
          <a:off x="457200" y="1463040"/>
          <a:ext cx="5806439" cy="3108960"/>
        </p:xfrm>
        <a:graphic>
          <a:graphicData uri="http://schemas.openxmlformats.org/drawingml/2006/table">
            <a:tbl>
              <a:tblPr firstRow="1" bandRow="1">
                <a:tableStyleId>{5C22544A-7EE6-4342-B048-85BDC9FD1C3A}</a:tableStyleId>
              </a:tblPr>
              <a:tblGrid>
                <a:gridCol w="1188720"/>
                <a:gridCol w="685800"/>
                <a:gridCol w="1051560"/>
                <a:gridCol w="1874519"/>
                <a:gridCol w="1005840"/>
              </a:tblGrid>
              <a:tr h="518160">
                <a:tc>
                  <a:txBody>
                    <a:bodyPr/>
                    <a:lstStyle/>
                    <a:p>
                      <a:pPr>
                        <a:defRPr sz="1000" b="1">
                          <a:solidFill>
                            <a:srgbClr val="06B6D4"/>
                          </a:solidFill>
                          <a:latin typeface="Inter"/>
                        </a:defRPr>
                      </a:pPr>
                      <a:r>
                        <a:t>Column Name</a:t>
                      </a:r>
                    </a:p>
                  </a:txBody>
                  <a:tcPr anchor="ctr">
                    <a:solidFill>
                      <a:srgbClr val="1E293B"/>
                    </a:solidFill>
                  </a:tcPr>
                </a:tc>
                <a:tc>
                  <a:txBody>
                    <a:bodyPr/>
                    <a:lstStyle/>
                    <a:p>
                      <a:pPr>
                        <a:defRPr sz="1000" b="1">
                          <a:solidFill>
                            <a:srgbClr val="06B6D4"/>
                          </a:solidFill>
                          <a:latin typeface="Inter"/>
                        </a:defRPr>
                      </a:pPr>
                      <a:r>
                        <a:t>CSV Raw</a:t>
                      </a:r>
                    </a:p>
                  </a:txBody>
                  <a:tcPr anchor="ctr">
                    <a:solidFill>
                      <a:srgbClr val="1E293B"/>
                    </a:solidFill>
                  </a:tcPr>
                </a:tc>
                <a:tc>
                  <a:txBody>
                    <a:bodyPr/>
                    <a:lstStyle/>
                    <a:p>
                      <a:pPr>
                        <a:defRPr sz="1000" b="1">
                          <a:solidFill>
                            <a:srgbClr val="06B6D4"/>
                          </a:solidFill>
                          <a:latin typeface="Inter"/>
                        </a:defRPr>
                      </a:pPr>
                      <a:r>
                        <a:t>Python Type</a:t>
                      </a:r>
                    </a:p>
                  </a:txBody>
                  <a:tcPr anchor="ctr">
                    <a:solidFill>
                      <a:srgbClr val="1E293B"/>
                    </a:solidFill>
                  </a:tcPr>
                </a:tc>
                <a:tc>
                  <a:txBody>
                    <a:bodyPr/>
                    <a:lstStyle/>
                    <a:p>
                      <a:pPr>
                        <a:defRPr sz="1000" b="1">
                          <a:solidFill>
                            <a:srgbClr val="06B6D4"/>
                          </a:solidFill>
                          <a:latin typeface="Inter"/>
                        </a:defRPr>
                      </a:pPr>
                      <a:r>
                        <a:t>Domain Invariant</a:t>
                      </a:r>
                    </a:p>
                  </a:txBody>
                  <a:tcPr anchor="ctr">
                    <a:solidFill>
                      <a:srgbClr val="1E293B"/>
                    </a:solidFill>
                  </a:tcPr>
                </a:tc>
                <a:tc>
                  <a:txBody>
                    <a:bodyPr/>
                    <a:lstStyle/>
                    <a:p>
                      <a:pPr>
                        <a:defRPr sz="1000" b="1">
                          <a:solidFill>
                            <a:srgbClr val="06B6D4"/>
                          </a:solidFill>
                          <a:latin typeface="Inter"/>
                        </a:defRPr>
                      </a:pPr>
                      <a:r>
                        <a:t>Active Sample</a:t>
                      </a:r>
                    </a:p>
                  </a:txBody>
                  <a:tcPr anchor="ctr">
                    <a:solidFill>
                      <a:srgbClr val="1E293B"/>
                    </a:solidFill>
                  </a:tcPr>
                </a:tc>
              </a:tr>
              <a:tr h="518160">
                <a:tc>
                  <a:txBody>
                    <a:bodyPr/>
                    <a:lstStyle/>
                    <a:p>
                      <a:pPr>
                        <a:defRPr sz="950" b="1">
                          <a:solidFill>
                            <a:srgbClr val="F8FAFC"/>
                          </a:solidFill>
                          <a:latin typeface="JetBrains Mono"/>
                        </a:defRPr>
                      </a:pPr>
                      <a:r>
                        <a:t>ID</a:t>
                      </a:r>
                    </a:p>
                  </a:txBody>
                  <a:tcPr anchor="ctr">
                    <a:solidFill>
                      <a:srgbClr val="0F172A"/>
                    </a:solidFill>
                  </a:tcPr>
                </a:tc>
                <a:tc>
                  <a:txBody>
                    <a:bodyPr/>
                    <a:lstStyle/>
                    <a:p>
                      <a:pPr>
                        <a:defRPr sz="950" b="0">
                          <a:solidFill>
                            <a:srgbClr val="CBD5E1"/>
                          </a:solidFill>
                          <a:latin typeface="Inter"/>
                        </a:defRPr>
                      </a:pPr>
                      <a:r>
                        <a:t>str</a:t>
                      </a:r>
                    </a:p>
                  </a:txBody>
                  <a:tcPr anchor="ctr">
                    <a:solidFill>
                      <a:srgbClr val="0F172A"/>
                    </a:solidFill>
                  </a:tcPr>
                </a:tc>
                <a:tc>
                  <a:txBody>
                    <a:bodyPr/>
                    <a:lstStyle/>
                    <a:p>
                      <a:pPr>
                        <a:defRPr sz="950" b="0">
                          <a:solidFill>
                            <a:srgbClr val="CBD5E1"/>
                          </a:solidFill>
                          <a:latin typeface="Inter"/>
                        </a:defRPr>
                      </a:pPr>
                      <a:r>
                        <a:t>str (PK)</a:t>
                      </a:r>
                    </a:p>
                  </a:txBody>
                  <a:tcPr anchor="ctr">
                    <a:solidFill>
                      <a:srgbClr val="0F172A"/>
                    </a:solidFill>
                  </a:tcPr>
                </a:tc>
                <a:tc>
                  <a:txBody>
                    <a:bodyPr/>
                    <a:lstStyle/>
                    <a:p>
                      <a:pPr>
                        <a:defRPr sz="950" b="0">
                          <a:solidFill>
                            <a:srgbClr val="CBD5E1"/>
                          </a:solidFill>
                          <a:latin typeface="Inter"/>
                        </a:defRPr>
                      </a:pPr>
                      <a:r>
                        <a:t>Regex ^PD\d{3,}$, Unique</a:t>
                      </a:r>
                    </a:p>
                  </a:txBody>
                  <a:tcPr anchor="ctr">
                    <a:solidFill>
                      <a:srgbClr val="0F172A"/>
                    </a:solidFill>
                  </a:tcPr>
                </a:tc>
                <a:tc>
                  <a:txBody>
                    <a:bodyPr/>
                    <a:lstStyle/>
                    <a:p>
                      <a:pPr>
                        <a:defRPr sz="950" b="0">
                          <a:solidFill>
                            <a:srgbClr val="CBD5E1"/>
                          </a:solidFill>
                          <a:latin typeface="Inter"/>
                        </a:defRPr>
                      </a:pPr>
                      <a:r>
                        <a:t>PD002</a:t>
                      </a:r>
                    </a:p>
                  </a:txBody>
                  <a:tcPr anchor="ctr">
                    <a:solidFill>
                      <a:srgbClr val="0F172A"/>
                    </a:solidFill>
                  </a:tcPr>
                </a:tc>
              </a:tr>
              <a:tr h="518160">
                <a:tc>
                  <a:txBody>
                    <a:bodyPr/>
                    <a:lstStyle/>
                    <a:p>
                      <a:pPr>
                        <a:defRPr sz="950" b="1">
                          <a:solidFill>
                            <a:srgbClr val="F8FAFC"/>
                          </a:solidFill>
                          <a:latin typeface="JetBrains Mono"/>
                        </a:defRPr>
                      </a:pPr>
                      <a:r>
                        <a:t>Name</a:t>
                      </a:r>
                    </a:p>
                  </a:txBody>
                  <a:tcPr anchor="ctr">
                    <a:solidFill>
                      <a:srgbClr val="162032"/>
                    </a:solidFill>
                  </a:tcPr>
                </a:tc>
                <a:tc>
                  <a:txBody>
                    <a:bodyPr/>
                    <a:lstStyle/>
                    <a:p>
                      <a:pPr>
                        <a:defRPr sz="950" b="0">
                          <a:solidFill>
                            <a:srgbClr val="CBD5E1"/>
                          </a:solidFill>
                          <a:latin typeface="Inter"/>
                        </a:defRPr>
                      </a:pPr>
                      <a:r>
                        <a:t>str</a:t>
                      </a:r>
                    </a:p>
                  </a:txBody>
                  <a:tcPr anchor="ctr">
                    <a:solidFill>
                      <a:srgbClr val="162032"/>
                    </a:solidFill>
                  </a:tcPr>
                </a:tc>
                <a:tc>
                  <a:txBody>
                    <a:bodyPr/>
                    <a:lstStyle/>
                    <a:p>
                      <a:pPr>
                        <a:defRPr sz="950" b="0">
                          <a:solidFill>
                            <a:srgbClr val="CBD5E1"/>
                          </a:solidFill>
                          <a:latin typeface="Inter"/>
                        </a:defRPr>
                      </a:pPr>
                      <a:r>
                        <a:t>str</a:t>
                      </a:r>
                    </a:p>
                  </a:txBody>
                  <a:tcPr anchor="ctr">
                    <a:solidFill>
                      <a:srgbClr val="162032"/>
                    </a:solidFill>
                  </a:tcPr>
                </a:tc>
                <a:tc>
                  <a:txBody>
                    <a:bodyPr/>
                    <a:lstStyle/>
                    <a:p>
                      <a:pPr>
                        <a:defRPr sz="950" b="0">
                          <a:solidFill>
                            <a:srgbClr val="CBD5E1"/>
                          </a:solidFill>
                          <a:latin typeface="Inter"/>
                        </a:defRPr>
                      </a:pPr>
                      <a:r>
                        <a:t>Non-empty UTF-8 string</a:t>
                      </a:r>
                    </a:p>
                  </a:txBody>
                  <a:tcPr anchor="ctr">
                    <a:solidFill>
                      <a:srgbClr val="162032"/>
                    </a:solidFill>
                  </a:tcPr>
                </a:tc>
                <a:tc>
                  <a:txBody>
                    <a:bodyPr/>
                    <a:lstStyle/>
                    <a:p>
                      <a:pPr>
                        <a:defRPr sz="950" b="0">
                          <a:solidFill>
                            <a:srgbClr val="CBD5E1"/>
                          </a:solidFill>
                          <a:latin typeface="Inter"/>
                        </a:defRPr>
                      </a:pPr>
                      <a:r>
                        <a:t>DELL</a:t>
                      </a:r>
                    </a:p>
                  </a:txBody>
                  <a:tcPr anchor="ctr">
                    <a:solidFill>
                      <a:srgbClr val="162032"/>
                    </a:solidFill>
                  </a:tcPr>
                </a:tc>
              </a:tr>
              <a:tr h="518160">
                <a:tc>
                  <a:txBody>
                    <a:bodyPr/>
                    <a:lstStyle/>
                    <a:p>
                      <a:pPr>
                        <a:defRPr sz="950" b="1">
                          <a:solidFill>
                            <a:srgbClr val="F59E0B"/>
                          </a:solidFill>
                          <a:latin typeface="JetBrains Mono"/>
                        </a:defRPr>
                      </a:pPr>
                      <a:r>
                        <a:t>Quantity</a:t>
                      </a:r>
                    </a:p>
                  </a:txBody>
                  <a:tcPr anchor="ctr">
                    <a:solidFill>
                      <a:srgbClr val="2A1E17"/>
                    </a:solidFill>
                  </a:tcPr>
                </a:tc>
                <a:tc>
                  <a:txBody>
                    <a:bodyPr/>
                    <a:lstStyle/>
                    <a:p>
                      <a:pPr>
                        <a:defRPr sz="950" b="1">
                          <a:solidFill>
                            <a:srgbClr val="CBD5E1"/>
                          </a:solidFill>
                          <a:latin typeface="Inter"/>
                        </a:defRPr>
                      </a:pPr>
                      <a:r>
                        <a:t>str</a:t>
                      </a:r>
                    </a:p>
                  </a:txBody>
                  <a:tcPr anchor="ctr">
                    <a:solidFill>
                      <a:srgbClr val="2A1E17"/>
                    </a:solidFill>
                  </a:tcPr>
                </a:tc>
                <a:tc>
                  <a:txBody>
                    <a:bodyPr/>
                    <a:lstStyle/>
                    <a:p>
                      <a:pPr>
                        <a:defRPr sz="950" b="1">
                          <a:solidFill>
                            <a:srgbClr val="CBD5E1"/>
                          </a:solidFill>
                          <a:latin typeface="Inter"/>
                        </a:defRPr>
                      </a:pPr>
                      <a:r>
                        <a:t>int</a:t>
                      </a:r>
                    </a:p>
                  </a:txBody>
                  <a:tcPr anchor="ctr">
                    <a:solidFill>
                      <a:srgbClr val="2A1E17"/>
                    </a:solidFill>
                  </a:tcPr>
                </a:tc>
                <a:tc>
                  <a:txBody>
                    <a:bodyPr/>
                    <a:lstStyle/>
                    <a:p>
                      <a:pPr>
                        <a:defRPr sz="950" b="1">
                          <a:solidFill>
                            <a:srgbClr val="CBD5E1"/>
                          </a:solidFill>
                          <a:latin typeface="Inter"/>
                        </a:defRPr>
                      </a:pPr>
                      <a:r>
                        <a:t>Q &gt;= 0 (No negative stock)</a:t>
                      </a:r>
                    </a:p>
                  </a:txBody>
                  <a:tcPr anchor="ctr">
                    <a:solidFill>
                      <a:srgbClr val="2A1E17"/>
                    </a:solidFill>
                  </a:tcPr>
                </a:tc>
                <a:tc>
                  <a:txBody>
                    <a:bodyPr/>
                    <a:lstStyle/>
                    <a:p>
                      <a:pPr>
                        <a:defRPr sz="950" b="1">
                          <a:solidFill>
                            <a:srgbClr val="CBD5E1"/>
                          </a:solidFill>
                          <a:latin typeface="Inter"/>
                        </a:defRPr>
                      </a:pPr>
                      <a:r>
                        <a:t>2</a:t>
                      </a:r>
                    </a:p>
                  </a:txBody>
                  <a:tcPr anchor="ctr">
                    <a:solidFill>
                      <a:srgbClr val="2A1E17"/>
                    </a:solidFill>
                  </a:tcPr>
                </a:tc>
              </a:tr>
              <a:tr h="518160">
                <a:tc>
                  <a:txBody>
                    <a:bodyPr/>
                    <a:lstStyle/>
                    <a:p>
                      <a:pPr>
                        <a:defRPr sz="950" b="1">
                          <a:solidFill>
                            <a:srgbClr val="F8FAFC"/>
                          </a:solidFill>
                          <a:latin typeface="JetBrains Mono"/>
                        </a:defRPr>
                      </a:pPr>
                      <a:r>
                        <a:t>Price</a:t>
                      </a:r>
                    </a:p>
                  </a:txBody>
                  <a:tcPr anchor="ctr">
                    <a:solidFill>
                      <a:srgbClr val="162032"/>
                    </a:solidFill>
                  </a:tcPr>
                </a:tc>
                <a:tc>
                  <a:txBody>
                    <a:bodyPr/>
                    <a:lstStyle/>
                    <a:p>
                      <a:pPr>
                        <a:defRPr sz="950" b="0">
                          <a:solidFill>
                            <a:srgbClr val="CBD5E1"/>
                          </a:solidFill>
                          <a:latin typeface="Inter"/>
                        </a:defRPr>
                      </a:pPr>
                      <a:r>
                        <a:t>str</a:t>
                      </a:r>
                    </a:p>
                  </a:txBody>
                  <a:tcPr anchor="ctr">
                    <a:solidFill>
                      <a:srgbClr val="162032"/>
                    </a:solidFill>
                  </a:tcPr>
                </a:tc>
                <a:tc>
                  <a:txBody>
                    <a:bodyPr/>
                    <a:lstStyle/>
                    <a:p>
                      <a:pPr>
                        <a:defRPr sz="950" b="0">
                          <a:solidFill>
                            <a:srgbClr val="CBD5E1"/>
                          </a:solidFill>
                          <a:latin typeface="Inter"/>
                        </a:defRPr>
                      </a:pPr>
                      <a:r>
                        <a:t>Decimal</a:t>
                      </a:r>
                    </a:p>
                  </a:txBody>
                  <a:tcPr anchor="ctr">
                    <a:solidFill>
                      <a:srgbClr val="162032"/>
                    </a:solidFill>
                  </a:tcPr>
                </a:tc>
                <a:tc>
                  <a:txBody>
                    <a:bodyPr/>
                    <a:lstStyle/>
                    <a:p>
                      <a:pPr>
                        <a:defRPr sz="950" b="0">
                          <a:solidFill>
                            <a:srgbClr val="CBD5E1"/>
                          </a:solidFill>
                          <a:latin typeface="Inter"/>
                        </a:defRPr>
                      </a:pPr>
                      <a:r>
                        <a:t>P &gt; 0.00 (Base-10 exact)</a:t>
                      </a:r>
                    </a:p>
                  </a:txBody>
                  <a:tcPr anchor="ctr">
                    <a:solidFill>
                      <a:srgbClr val="162032"/>
                    </a:solidFill>
                  </a:tcPr>
                </a:tc>
                <a:tc>
                  <a:txBody>
                    <a:bodyPr/>
                    <a:lstStyle/>
                    <a:p>
                      <a:pPr>
                        <a:defRPr sz="950" b="0">
                          <a:solidFill>
                            <a:srgbClr val="CBD5E1"/>
                          </a:solidFill>
                          <a:latin typeface="Inter"/>
                        </a:defRPr>
                      </a:pPr>
                      <a:r>
                        <a:t>150.0</a:t>
                      </a:r>
                    </a:p>
                  </a:txBody>
                  <a:tcPr anchor="ctr">
                    <a:solidFill>
                      <a:srgbClr val="162032"/>
                    </a:solidFill>
                  </a:tcPr>
                </a:tc>
              </a:tr>
              <a:tr h="518160">
                <a:tc>
                  <a:txBody>
                    <a:bodyPr/>
                    <a:lstStyle/>
                    <a:p>
                      <a:pPr>
                        <a:defRPr sz="950" b="1">
                          <a:solidFill>
                            <a:srgbClr val="F59E0B"/>
                          </a:solidFill>
                          <a:latin typeface="JetBrains Mono"/>
                        </a:defRPr>
                      </a:pPr>
                      <a:r>
                        <a:t>Minimum Stock</a:t>
                      </a:r>
                    </a:p>
                  </a:txBody>
                  <a:tcPr anchor="ctr">
                    <a:solidFill>
                      <a:srgbClr val="2A1E17"/>
                    </a:solidFill>
                  </a:tcPr>
                </a:tc>
                <a:tc>
                  <a:txBody>
                    <a:bodyPr/>
                    <a:lstStyle/>
                    <a:p>
                      <a:pPr>
                        <a:defRPr sz="950" b="1">
                          <a:solidFill>
                            <a:srgbClr val="CBD5E1"/>
                          </a:solidFill>
                          <a:latin typeface="Inter"/>
                        </a:defRPr>
                      </a:pPr>
                      <a:r>
                        <a:t>str</a:t>
                      </a:r>
                    </a:p>
                  </a:txBody>
                  <a:tcPr anchor="ctr">
                    <a:solidFill>
                      <a:srgbClr val="2A1E17"/>
                    </a:solidFill>
                  </a:tcPr>
                </a:tc>
                <a:tc>
                  <a:txBody>
                    <a:bodyPr/>
                    <a:lstStyle/>
                    <a:p>
                      <a:pPr>
                        <a:defRPr sz="950" b="1">
                          <a:solidFill>
                            <a:srgbClr val="CBD5E1"/>
                          </a:solidFill>
                          <a:latin typeface="Inter"/>
                        </a:defRPr>
                      </a:pPr>
                      <a:r>
                        <a:t>int</a:t>
                      </a:r>
                    </a:p>
                  </a:txBody>
                  <a:tcPr anchor="ctr">
                    <a:solidFill>
                      <a:srgbClr val="2A1E17"/>
                    </a:solidFill>
                  </a:tcPr>
                </a:tc>
                <a:tc>
                  <a:txBody>
                    <a:bodyPr/>
                    <a:lstStyle/>
                    <a:p>
                      <a:pPr>
                        <a:defRPr sz="950" b="1">
                          <a:solidFill>
                            <a:srgbClr val="CBD5E1"/>
                          </a:solidFill>
                          <a:latin typeface="Inter"/>
                        </a:defRPr>
                      </a:pPr>
                      <a:r>
                        <a:t>R_min &gt;= 0 (Safety floor)</a:t>
                      </a:r>
                    </a:p>
                  </a:txBody>
                  <a:tcPr anchor="ctr">
                    <a:solidFill>
                      <a:srgbClr val="2A1E17"/>
                    </a:solidFill>
                  </a:tcPr>
                </a:tc>
                <a:tc>
                  <a:txBody>
                    <a:bodyPr/>
                    <a:lstStyle/>
                    <a:p>
                      <a:pPr>
                        <a:defRPr sz="950" b="1">
                          <a:solidFill>
                            <a:srgbClr val="CBD5E1"/>
                          </a:solidFill>
                          <a:latin typeface="Inter"/>
                        </a:defRPr>
                      </a:pPr>
                      <a:r>
                        <a:t>5</a:t>
                      </a:r>
                    </a:p>
                  </a:txBody>
                  <a:tcPr anchor="ctr">
                    <a:solidFill>
                      <a:srgbClr val="2A1E17"/>
                    </a:solidFill>
                  </a:tcPr>
                </a:tc>
              </a:tr>
            </a:tbl>
          </a:graphicData>
        </a:graphic>
      </p:graphicFrame>
      <p:sp>
        <p:nvSpPr>
          <p:cNvPr id="8" name="Rounded Rectangle 7"/>
          <p:cNvSpPr/>
          <p:nvPr/>
        </p:nvSpPr>
        <p:spPr>
          <a:xfrm>
            <a:off x="457200" y="4754880"/>
            <a:ext cx="5806440" cy="1645920"/>
          </a:xfrm>
          <a:prstGeom prst="roundRect">
            <a:avLst>
              <a:gd name="adj" fmla="val 2000"/>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06B6D4"/>
                </a:solidFill>
                <a:latin typeface="Inter"/>
              </a:defRPr>
            </a:pPr>
            <a:r>
              <a:t>Transactional Audit Ledger Schema (sales.csv)</a:t>
            </a:r>
          </a:p>
          <a:p>
            <a:pPr>
              <a:spcAft>
                <a:spcPts val="400"/>
              </a:spcAft>
              <a:defRPr sz="1000">
                <a:solidFill>
                  <a:srgbClr val="CBD5E1"/>
                </a:solidFill>
                <a:latin typeface="Inter"/>
              </a:defRPr>
            </a:pPr>
            <a:r>
              <a:t>▸  Header Contract: Sale_ID, Product_ID, Quantity_Sold, Total_Price, Timestamp</a:t>
            </a:r>
          </a:p>
          <a:p>
            <a:pPr>
              <a:spcAft>
                <a:spcPts val="400"/>
              </a:spcAft>
              <a:defRPr sz="1000">
                <a:solidFill>
                  <a:srgbClr val="CBD5E1"/>
                </a:solidFill>
                <a:latin typeface="Inter"/>
              </a:defRPr>
            </a:pPr>
            <a:r>
              <a:t>▸  Referential Integrity: Product_ID acts as a verified Foreign Key -&gt; products.csv:ID.</a:t>
            </a:r>
          </a:p>
          <a:p>
            <a:pPr>
              <a:spcAft>
                <a:spcPts val="400"/>
              </a:spcAft>
              <a:defRPr sz="1000">
                <a:solidFill>
                  <a:srgbClr val="CBD5E1"/>
                </a:solidFill>
                <a:latin typeface="Inter"/>
              </a:defRPr>
            </a:pPr>
            <a:r>
              <a:t>▸  Append-Only Immutability: Historical sales records cannot be silently overwritten.</a:t>
            </a:r>
          </a:p>
        </p:txBody>
      </p:sp>
      <p:sp>
        <p:nvSpPr>
          <p:cNvPr id="9" name="Rounded Rectangle 8"/>
          <p:cNvSpPr/>
          <p:nvPr/>
        </p:nvSpPr>
        <p:spPr>
          <a:xfrm>
            <a:off x="6446520" y="1463040"/>
            <a:ext cx="5285232" cy="4937760"/>
          </a:xfrm>
          <a:prstGeom prst="roundRect">
            <a:avLst>
              <a:gd name="adj" fmla="val 2000"/>
            </a:avLst>
          </a:prstGeom>
          <a:solidFill>
            <a:srgbClr val="090D16"/>
          </a:solidFill>
          <a:ln w="15875">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spcAft>
                <a:spcPts val="600"/>
              </a:spcAft>
              <a:defRPr sz="1000" b="1">
                <a:solidFill>
                  <a:srgbClr val="06B6D4"/>
                </a:solidFill>
                <a:latin typeface="JetBrains Mono"/>
              </a:defRPr>
            </a:pPr>
            <a:r>
              <a:t>// SCHEMA ENFORCEMENT PIPELINE (inventory.py)</a:t>
            </a:r>
          </a:p>
          <a:p>
            <a:pPr>
              <a:spcAft>
                <a:spcPts val="150"/>
              </a:spcAft>
              <a:defRPr sz="950">
                <a:solidFill>
                  <a:srgbClr val="38BDF8"/>
                </a:solidFill>
                <a:latin typeface="JetBrains Mono"/>
              </a:defRPr>
            </a:pPr>
            <a:r>
              <a:t>from dataclasses import dataclass</a:t>
            </a:r>
          </a:p>
          <a:p>
            <a:pPr>
              <a:spcAft>
                <a:spcPts val="150"/>
              </a:spcAft>
              <a:defRPr sz="950">
                <a:solidFill>
                  <a:srgbClr val="38BDF8"/>
                </a:solidFill>
                <a:latin typeface="JetBrains Mono"/>
              </a:defRPr>
            </a:pPr>
            <a:r>
              <a:t>from decimal import Decimal</a:t>
            </a:r>
          </a:p>
          <a:p>
            <a:pPr>
              <a:spcAft>
                <a:spcPts val="150"/>
              </a:spcAft>
              <a:defRPr sz="950">
                <a:solidFill>
                  <a:srgbClr val="38BDF8"/>
                </a:solidFill>
                <a:latin typeface="JetBrains Mono"/>
              </a:defRPr>
            </a:pPr>
          </a:p>
          <a:p>
            <a:pPr>
              <a:spcAft>
                <a:spcPts val="150"/>
              </a:spcAft>
              <a:defRPr sz="950">
                <a:solidFill>
                  <a:srgbClr val="38BDF8"/>
                </a:solidFill>
                <a:latin typeface="JetBrains Mono"/>
              </a:defRPr>
            </a:pPr>
            <a:r>
              <a:t>@dataclass(slots=True)</a:t>
            </a:r>
          </a:p>
          <a:p>
            <a:pPr>
              <a:spcAft>
                <a:spcPts val="150"/>
              </a:spcAft>
              <a:defRPr sz="950">
                <a:solidFill>
                  <a:srgbClr val="38BDF8"/>
                </a:solidFill>
                <a:latin typeface="JetBrains Mono"/>
              </a:defRPr>
            </a:pPr>
            <a:r>
              <a:t>class ProductRecord:</a:t>
            </a:r>
          </a:p>
          <a:p>
            <a:pPr>
              <a:spcAft>
                <a:spcPts val="150"/>
              </a:spcAft>
              <a:defRPr sz="950">
                <a:solidFill>
                  <a:srgbClr val="38BDF8"/>
                </a:solidFill>
                <a:latin typeface="JetBrains Mono"/>
              </a:defRPr>
            </a:pPr>
            <a:r>
              <a:t>    product_id: str   # Maps to 'ID' (e.g., 'PD002')</a:t>
            </a:r>
          </a:p>
          <a:p>
            <a:pPr>
              <a:spcAft>
                <a:spcPts val="150"/>
              </a:spcAft>
              <a:defRPr sz="950">
                <a:solidFill>
                  <a:srgbClr val="38BDF8"/>
                </a:solidFill>
                <a:latin typeface="JetBrains Mono"/>
              </a:defRPr>
            </a:pPr>
            <a:r>
              <a:t>    name: str         # Maps to 'Name' (e.g., 'DELL')</a:t>
            </a:r>
          </a:p>
          <a:p>
            <a:pPr>
              <a:spcAft>
                <a:spcPts val="150"/>
              </a:spcAft>
              <a:defRPr sz="950">
                <a:solidFill>
                  <a:srgbClr val="38BDF8"/>
                </a:solidFill>
                <a:latin typeface="JetBrains Mono"/>
              </a:defRPr>
            </a:pPr>
            <a:r>
              <a:t>    quantity: int     # Maps to 'Quantity' (e.g., 2)</a:t>
            </a:r>
          </a:p>
          <a:p>
            <a:pPr>
              <a:spcAft>
                <a:spcPts val="150"/>
              </a:spcAft>
              <a:defRPr sz="950">
                <a:solidFill>
                  <a:srgbClr val="38BDF8"/>
                </a:solidFill>
                <a:latin typeface="JetBrains Mono"/>
              </a:defRPr>
            </a:pPr>
            <a:r>
              <a:t>    price: Decimal    # Maps to 'Price' (Decimal('150.0'))</a:t>
            </a:r>
          </a:p>
          <a:p>
            <a:pPr>
              <a:spcAft>
                <a:spcPts val="150"/>
              </a:spcAft>
              <a:defRPr sz="950">
                <a:solidFill>
                  <a:srgbClr val="38BDF8"/>
                </a:solidFill>
                <a:latin typeface="JetBrains Mono"/>
              </a:defRPr>
            </a:pPr>
            <a:r>
              <a:t>    min_stock: int    # Maps to 'Minimum Stock' (e.g., 5)</a:t>
            </a:r>
          </a:p>
          <a:p>
            <a:pPr>
              <a:spcAft>
                <a:spcPts val="150"/>
              </a:spcAft>
              <a:defRPr sz="950">
                <a:solidFill>
                  <a:srgbClr val="38BDF8"/>
                </a:solidFill>
                <a:latin typeface="JetBrains Mono"/>
              </a:defRPr>
            </a:pPr>
          </a:p>
          <a:p>
            <a:pPr>
              <a:spcAft>
                <a:spcPts val="150"/>
              </a:spcAft>
              <a:defRPr sz="950">
                <a:solidFill>
                  <a:srgbClr val="38BDF8"/>
                </a:solidFill>
                <a:latin typeface="JetBrains Mono"/>
              </a:defRPr>
            </a:pPr>
            <a:r>
              <a:t>    def __post_init__(self) -&gt; None:</a:t>
            </a:r>
          </a:p>
          <a:p>
            <a:pPr>
              <a:spcAft>
                <a:spcPts val="150"/>
              </a:spcAft>
              <a:defRPr sz="950">
                <a:solidFill>
                  <a:srgbClr val="38BDF8"/>
                </a:solidFill>
                <a:latin typeface="JetBrains Mono"/>
              </a:defRPr>
            </a:pPr>
            <a:r>
              <a:t>        if not self.product_id.startswith('PD'):</a:t>
            </a:r>
          </a:p>
          <a:p>
            <a:pPr>
              <a:spcAft>
                <a:spcPts val="150"/>
              </a:spcAft>
              <a:defRPr sz="950">
                <a:solidFill>
                  <a:srgbClr val="38BDF8"/>
                </a:solidFill>
                <a:latin typeface="JetBrains Mono"/>
              </a:defRPr>
            </a:pPr>
            <a:r>
              <a:t>            raise ValueError(</a:t>
            </a:r>
          </a:p>
          <a:p>
            <a:pPr>
              <a:spcAft>
                <a:spcPts val="150"/>
              </a:spcAft>
              <a:defRPr sz="950">
                <a:solidFill>
                  <a:srgbClr val="38BDF8"/>
                </a:solidFill>
                <a:latin typeface="JetBrains Mono"/>
              </a:defRPr>
            </a:pPr>
            <a:r>
              <a:t>                f'Invalid PK format: {self.product_id}'</a:t>
            </a:r>
          </a:p>
          <a:p>
            <a:pPr>
              <a:spcAft>
                <a:spcPts val="150"/>
              </a:spcAft>
              <a:defRPr sz="950">
                <a:solidFill>
                  <a:srgbClr val="38BDF8"/>
                </a:solidFill>
                <a:latin typeface="JetBrains Mono"/>
              </a:defRPr>
            </a:pPr>
            <a:r>
              <a:t>            )</a:t>
            </a:r>
          </a:p>
          <a:p>
            <a:pPr>
              <a:spcAft>
                <a:spcPts val="150"/>
              </a:spcAft>
              <a:defRPr sz="950">
                <a:solidFill>
                  <a:srgbClr val="38BDF8"/>
                </a:solidFill>
                <a:latin typeface="JetBrains Mono"/>
              </a:defRPr>
            </a:pPr>
            <a:r>
              <a:t>        if self.quantity &lt; 0 or self.min_stock &lt; 0:</a:t>
            </a:r>
          </a:p>
          <a:p>
            <a:pPr>
              <a:spcAft>
                <a:spcPts val="150"/>
              </a:spcAft>
              <a:defRPr sz="950">
                <a:solidFill>
                  <a:srgbClr val="38BDF8"/>
                </a:solidFill>
                <a:latin typeface="JetBrains Mono"/>
              </a:defRPr>
            </a:pPr>
            <a:r>
              <a:t>            raise ValueError(</a:t>
            </a:r>
          </a:p>
          <a:p>
            <a:pPr>
              <a:spcAft>
                <a:spcPts val="150"/>
              </a:spcAft>
              <a:defRPr sz="950">
                <a:solidFill>
                  <a:srgbClr val="38BDF8"/>
                </a:solidFill>
                <a:latin typeface="JetBrains Mono"/>
              </a:defRPr>
            </a:pPr>
            <a:r>
              <a:t>                'Inventory quantities cannot be negative.'</a:t>
            </a:r>
          </a:p>
          <a:p>
            <a:pPr>
              <a:spcAft>
                <a:spcPts val="150"/>
              </a:spcAft>
              <a:defRPr sz="950">
                <a:solidFill>
                  <a:srgbClr val="38BDF8"/>
                </a:solidFill>
                <a:latin typeface="JetBrains Mono"/>
              </a:defRPr>
            </a:pPr>
            <a:r>
              <a:t>            )</a:t>
            </a:r>
          </a:p>
          <a:p>
            <a:pPr>
              <a:spcAft>
                <a:spcPts val="150"/>
              </a:spcAft>
              <a:defRPr sz="950">
                <a:solidFill>
                  <a:srgbClr val="38BDF8"/>
                </a:solidFill>
                <a:latin typeface="JetBrains Mono"/>
              </a:defRPr>
            </a:pPr>
            <a:r>
              <a:t>        if self.price &lt;= Decimal('0.00'):</a:t>
            </a:r>
          </a:p>
          <a:p>
            <a:pPr>
              <a:spcAft>
                <a:spcPts val="150"/>
              </a:spcAft>
              <a:defRPr sz="950">
                <a:solidFill>
                  <a:srgbClr val="38BDF8"/>
                </a:solidFill>
                <a:latin typeface="JetBrains Mono"/>
              </a:defRPr>
            </a:pPr>
            <a:r>
              <a:t>            raise ValueError(</a:t>
            </a:r>
          </a:p>
          <a:p>
            <a:pPr>
              <a:spcAft>
                <a:spcPts val="150"/>
              </a:spcAft>
              <a:defRPr sz="950">
                <a:solidFill>
                  <a:srgbClr val="38BDF8"/>
                </a:solidFill>
                <a:latin typeface="JetBrains Mono"/>
              </a:defRPr>
            </a:pPr>
            <a:r>
              <a:t>                'Unit price must be strictly positive.'</a:t>
            </a:r>
          </a:p>
          <a:p>
            <a:pPr>
              <a:spcAft>
                <a:spcPts val="150"/>
              </a:spcAft>
              <a:defRPr sz="950">
                <a:solidFill>
                  <a:srgbClr val="38BDF8"/>
                </a:solidFill>
                <a:latin typeface="JetBrains Mono"/>
              </a:defRPr>
            </a:pP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058400" cy="274320"/>
          </a:xfrm>
          <a:prstGeom prst="rect">
            <a:avLst/>
          </a:prstGeom>
          <a:noFill/>
        </p:spPr>
        <p:txBody>
          <a:bodyPr wrap="square" lIns="0" tIns="0" rIns="0" bIns="0">
            <a:spAutoFit/>
          </a:bodyPr>
          <a:lstStyle/>
          <a:p>
            <a:pPr>
              <a:defRPr sz="1050" b="1">
                <a:solidFill>
                  <a:srgbClr val="06B6D4"/>
                </a:solidFill>
                <a:latin typeface="JetBrains Mono"/>
              </a:defRPr>
            </a:pPr>
            <a:r>
              <a:t>[ALGORITHMIC EFFICIENCY // DISK I/O ANALYSIS]</a:t>
            </a:r>
          </a:p>
        </p:txBody>
      </p:sp>
      <p:sp>
        <p:nvSpPr>
          <p:cNvPr id="3" name="Rounded Rectangle 2"/>
          <p:cNvSpPr/>
          <p:nvPr/>
        </p:nvSpPr>
        <p:spPr>
          <a:xfrm>
            <a:off x="11018520" y="256032"/>
            <a:ext cx="713232"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CBD5E1"/>
                </a:solidFill>
                <a:latin typeface="JetBrains Mono"/>
              </a:defRPr>
            </a:pPr>
            <a:r>
              <a:t>05 / 14</a:t>
            </a:r>
          </a:p>
        </p:txBody>
      </p:sp>
      <p:sp>
        <p:nvSpPr>
          <p:cNvPr id="4" name="TextBox 3"/>
          <p:cNvSpPr txBox="1"/>
          <p:nvPr/>
        </p:nvSpPr>
        <p:spPr>
          <a:xfrm>
            <a:off x="457200" y="548640"/>
            <a:ext cx="11274552" cy="713232"/>
          </a:xfrm>
          <a:prstGeom prst="rect">
            <a:avLst/>
          </a:prstGeom>
          <a:noFill/>
        </p:spPr>
        <p:txBody>
          <a:bodyPr wrap="square" lIns="0" tIns="0" rIns="0" bIns="0">
            <a:spAutoFit/>
          </a:bodyPr>
          <a:lstStyle/>
          <a:p>
            <a:pPr>
              <a:defRPr sz="1950" b="1">
                <a:solidFill>
                  <a:srgbClr val="F8FAFC"/>
                </a:solidFill>
                <a:latin typeface="Inter"/>
              </a:defRPr>
            </a:pPr>
            <a:r>
              <a:t>In-Memory Hash Indexing Reduces Read Lookups from O(N) to O(1) While Bounding Full-File Rewrite Overhead</a:t>
            </a:r>
          </a:p>
        </p:txBody>
      </p:sp>
      <p:sp>
        <p:nvSpPr>
          <p:cNvPr id="5" name="Rectangle 4"/>
          <p:cNvSpPr/>
          <p:nvPr/>
        </p:nvSpPr>
        <p:spPr>
          <a:xfrm>
            <a:off x="457200" y="1298448"/>
            <a:ext cx="1127455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65392"/>
            <a:ext cx="11274552" cy="228600"/>
          </a:xfrm>
          <a:prstGeom prst="rect">
            <a:avLst/>
          </a:prstGeom>
          <a:noFill/>
        </p:spPr>
        <p:txBody>
          <a:bodyPr wrap="none" lIns="0" tIns="0" rIns="0" bIns="0">
            <a:spAutoFit/>
          </a:bodyPr>
          <a:lstStyle/>
          <a:p>
            <a:pPr>
              <a:defRPr sz="850">
                <a:solidFill>
                  <a:srgbClr val="334155"/>
                </a:solidFill>
                <a:latin typeface="JetBrains Mono"/>
              </a:defRPr>
            </a:pPr>
            <a:r>
              <a:t>SIMS ARCHITECTURAL DEFENSE  //  EBUBECHUKWU WILLIAM AYOZIE  //  TARGET: CPYTHON 3.14 (HEAD -&gt; f9d08b2...c14609)</a:t>
            </a:r>
          </a:p>
        </p:txBody>
      </p:sp>
      <p:graphicFrame>
        <p:nvGraphicFramePr>
          <p:cNvPr id="7" name="Table 6"/>
          <p:cNvGraphicFramePr>
            <a:graphicFrameLocks noGrp="1"/>
          </p:cNvGraphicFramePr>
          <p:nvPr/>
        </p:nvGraphicFramePr>
        <p:xfrm>
          <a:off x="457200" y="1444752"/>
          <a:ext cx="11274552" cy="2834640"/>
        </p:xfrm>
        <a:graphic>
          <a:graphicData uri="http://schemas.openxmlformats.org/drawingml/2006/table">
            <a:tbl>
              <a:tblPr firstRow="1" bandRow="1">
                <a:tableStyleId>{5C22544A-7EE6-4342-B048-85BDC9FD1C3A}</a:tableStyleId>
              </a:tblPr>
              <a:tblGrid>
                <a:gridCol w="2560320"/>
                <a:gridCol w="2606040"/>
                <a:gridCol w="2926080"/>
                <a:gridCol w="3182112"/>
              </a:tblGrid>
              <a:tr h="472440">
                <a:tc>
                  <a:txBody>
                    <a:bodyPr/>
                    <a:lstStyle/>
                    <a:p>
                      <a:pPr>
                        <a:defRPr sz="1050" b="1">
                          <a:solidFill>
                            <a:srgbClr val="06B6D4"/>
                          </a:solidFill>
                          <a:latin typeface="Inter"/>
                        </a:defRPr>
                      </a:pPr>
                      <a:r>
                        <a:t>Inventory Operation</a:t>
                      </a:r>
                    </a:p>
                  </a:txBody>
                  <a:tcPr anchor="ctr">
                    <a:solidFill>
                      <a:srgbClr val="1E293B"/>
                    </a:solidFill>
                  </a:tcPr>
                </a:tc>
                <a:tc>
                  <a:txBody>
                    <a:bodyPr/>
                    <a:lstStyle/>
                    <a:p>
                      <a:pPr>
                        <a:defRPr sz="1050" b="1">
                          <a:solidFill>
                            <a:srgbClr val="06B6D4"/>
                          </a:solidFill>
                          <a:latin typeface="Inter"/>
                        </a:defRPr>
                      </a:pPr>
                      <a:r>
                        <a:t>Naive Unindexed CSV Scan</a:t>
                      </a:r>
                    </a:p>
                  </a:txBody>
                  <a:tcPr anchor="ctr">
                    <a:solidFill>
                      <a:srgbClr val="1E293B"/>
                    </a:solidFill>
                  </a:tcPr>
                </a:tc>
                <a:tc>
                  <a:txBody>
                    <a:bodyPr/>
                    <a:lstStyle/>
                    <a:p>
                      <a:pPr>
                        <a:defRPr sz="1050" b="1">
                          <a:solidFill>
                            <a:srgbClr val="06B6D4"/>
                          </a:solidFill>
                          <a:latin typeface="Inter"/>
                        </a:defRPr>
                      </a:pPr>
                      <a:r>
                        <a:t>SIMS Hash-Indexed Cache (dict)</a:t>
                      </a:r>
                    </a:p>
                  </a:txBody>
                  <a:tcPr anchor="ctr">
                    <a:solidFill>
                      <a:srgbClr val="1E293B"/>
                    </a:solidFill>
                  </a:tcPr>
                </a:tc>
                <a:tc>
                  <a:txBody>
                    <a:bodyPr/>
                    <a:lstStyle/>
                    <a:p>
                      <a:pPr>
                        <a:defRPr sz="1050" b="1">
                          <a:solidFill>
                            <a:srgbClr val="06B6D4"/>
                          </a:solidFill>
                          <a:latin typeface="Inter"/>
                        </a:defRPr>
                      </a:pPr>
                      <a:r>
                        <a:t>Primary Bottleneck Factor</a:t>
                      </a:r>
                    </a:p>
                  </a:txBody>
                  <a:tcPr anchor="ctr">
                    <a:solidFill>
                      <a:srgbClr val="1E293B"/>
                    </a:solidFill>
                  </a:tcPr>
                </a:tc>
              </a:tr>
              <a:tr h="472440">
                <a:tc>
                  <a:txBody>
                    <a:bodyPr/>
                    <a:lstStyle/>
                    <a:p>
                      <a:pPr>
                        <a:defRPr sz="1000" b="1">
                          <a:solidFill>
                            <a:srgbClr val="F8FAFC"/>
                          </a:solidFill>
                          <a:latin typeface="JetBrains Mono"/>
                        </a:defRPr>
                      </a:pPr>
                      <a:r>
                        <a:t>PK Lookup (ID == 'PD002')</a:t>
                      </a:r>
                    </a:p>
                  </a:txBody>
                  <a:tcPr anchor="ctr">
                    <a:solidFill>
                      <a:srgbClr val="0F172A"/>
                    </a:solidFill>
                  </a:tcPr>
                </a:tc>
                <a:tc>
                  <a:txBody>
                    <a:bodyPr/>
                    <a:lstStyle/>
                    <a:p>
                      <a:pPr>
                        <a:defRPr sz="1000" b="0">
                          <a:solidFill>
                            <a:srgbClr val="CBD5E1"/>
                          </a:solidFill>
                          <a:latin typeface="Inter"/>
                        </a:defRPr>
                      </a:pPr>
                      <a:r>
                        <a:t>O(N) linear string split</a:t>
                      </a:r>
                    </a:p>
                  </a:txBody>
                  <a:tcPr anchor="ctr">
                    <a:solidFill>
                      <a:srgbClr val="0F172A"/>
                    </a:solidFill>
                  </a:tcPr>
                </a:tc>
                <a:tc>
                  <a:txBody>
                    <a:bodyPr/>
                    <a:lstStyle/>
                    <a:p>
                      <a:pPr>
                        <a:defRPr sz="1000" b="0">
                          <a:solidFill>
                            <a:srgbClr val="CBD5E1"/>
                          </a:solidFill>
                          <a:latin typeface="Inter"/>
                        </a:defRPr>
                      </a:pPr>
                      <a:r>
                        <a:t>O(1) average hash lookup</a:t>
                      </a:r>
                    </a:p>
                  </a:txBody>
                  <a:tcPr anchor="ctr">
                    <a:solidFill>
                      <a:srgbClr val="0F172A"/>
                    </a:solidFill>
                  </a:tcPr>
                </a:tc>
                <a:tc>
                  <a:txBody>
                    <a:bodyPr/>
                    <a:lstStyle/>
                    <a:p>
                      <a:pPr>
                        <a:defRPr sz="1000" b="0">
                          <a:solidFill>
                            <a:srgbClr val="CBD5E1"/>
                          </a:solidFill>
                          <a:latin typeface="Inter"/>
                        </a:defRPr>
                      </a:pPr>
                      <a:r>
                        <a:t>CPU string parsing vs. RAM hash</a:t>
                      </a:r>
                    </a:p>
                  </a:txBody>
                  <a:tcPr anchor="ctr">
                    <a:solidFill>
                      <a:srgbClr val="0F172A"/>
                    </a:solidFill>
                  </a:tcPr>
                </a:tc>
              </a:tr>
              <a:tr h="472440">
                <a:tc>
                  <a:txBody>
                    <a:bodyPr/>
                    <a:lstStyle/>
                    <a:p>
                      <a:pPr>
                        <a:defRPr sz="1000" b="1">
                          <a:solidFill>
                            <a:srgbClr val="F8FAFC"/>
                          </a:solidFill>
                          <a:latin typeface="JetBrains Mono"/>
                        </a:defRPr>
                      </a:pPr>
                      <a:r>
                        <a:t>Low-Stock Scan (Q &lt;= R_min)</a:t>
                      </a:r>
                    </a:p>
                  </a:txBody>
                  <a:tcPr anchor="ctr">
                    <a:solidFill>
                      <a:srgbClr val="162032"/>
                    </a:solidFill>
                  </a:tcPr>
                </a:tc>
                <a:tc>
                  <a:txBody>
                    <a:bodyPr/>
                    <a:lstStyle/>
                    <a:p>
                      <a:pPr>
                        <a:defRPr sz="1000" b="0">
                          <a:solidFill>
                            <a:srgbClr val="CBD5E1"/>
                          </a:solidFill>
                          <a:latin typeface="Inter"/>
                        </a:defRPr>
                      </a:pPr>
                      <a:r>
                        <a:t>O(N) disk read + parse</a:t>
                      </a:r>
                    </a:p>
                  </a:txBody>
                  <a:tcPr anchor="ctr">
                    <a:solidFill>
                      <a:srgbClr val="162032"/>
                    </a:solidFill>
                  </a:tcPr>
                </a:tc>
                <a:tc>
                  <a:txBody>
                    <a:bodyPr/>
                    <a:lstStyle/>
                    <a:p>
                      <a:pPr>
                        <a:defRPr sz="1000" b="0">
                          <a:solidFill>
                            <a:srgbClr val="CBD5E1"/>
                          </a:solidFill>
                          <a:latin typeface="Inter"/>
                        </a:defRPr>
                      </a:pPr>
                      <a:r>
                        <a:t>O(N) in-memory iteration</a:t>
                      </a:r>
                    </a:p>
                  </a:txBody>
                  <a:tcPr anchor="ctr">
                    <a:solidFill>
                      <a:srgbClr val="162032"/>
                    </a:solidFill>
                  </a:tcPr>
                </a:tc>
                <a:tc>
                  <a:txBody>
                    <a:bodyPr/>
                    <a:lstStyle/>
                    <a:p>
                      <a:pPr>
                        <a:defRPr sz="1000" b="0">
                          <a:solidFill>
                            <a:srgbClr val="CBD5E1"/>
                          </a:solidFill>
                          <a:latin typeface="Inter"/>
                        </a:defRPr>
                      </a:pPr>
                      <a:r>
                        <a:t>Eliminates disk syscall overhead</a:t>
                      </a:r>
                    </a:p>
                  </a:txBody>
                  <a:tcPr anchor="ctr">
                    <a:solidFill>
                      <a:srgbClr val="162032"/>
                    </a:solidFill>
                  </a:tcPr>
                </a:tc>
              </a:tr>
              <a:tr h="472440">
                <a:tc>
                  <a:txBody>
                    <a:bodyPr/>
                    <a:lstStyle/>
                    <a:p>
                      <a:pPr>
                        <a:defRPr sz="1000" b="1">
                          <a:solidFill>
                            <a:srgbClr val="F8FAFC"/>
                          </a:solidFill>
                          <a:latin typeface="JetBrains Mono"/>
                        </a:defRPr>
                      </a:pPr>
                      <a:r>
                        <a:t>Insert New Product</a:t>
                      </a:r>
                    </a:p>
                  </a:txBody>
                  <a:tcPr anchor="ctr">
                    <a:solidFill>
                      <a:srgbClr val="0F172A"/>
                    </a:solidFill>
                  </a:tcPr>
                </a:tc>
                <a:tc>
                  <a:txBody>
                    <a:bodyPr/>
                    <a:lstStyle/>
                    <a:p>
                      <a:pPr>
                        <a:defRPr sz="1000" b="0">
                          <a:solidFill>
                            <a:srgbClr val="CBD5E1"/>
                          </a:solidFill>
                          <a:latin typeface="Inter"/>
                        </a:defRPr>
                      </a:pPr>
                      <a:r>
                        <a:t>O(N) PK check + O(1) append</a:t>
                      </a:r>
                    </a:p>
                  </a:txBody>
                  <a:tcPr anchor="ctr">
                    <a:solidFill>
                      <a:srgbClr val="0F172A"/>
                    </a:solidFill>
                  </a:tcPr>
                </a:tc>
                <a:tc>
                  <a:txBody>
                    <a:bodyPr/>
                    <a:lstStyle/>
                    <a:p>
                      <a:pPr>
                        <a:defRPr sz="1000" b="0">
                          <a:solidFill>
                            <a:srgbClr val="CBD5E1"/>
                          </a:solidFill>
                          <a:latin typeface="Inter"/>
                        </a:defRPr>
                      </a:pPr>
                      <a:r>
                        <a:t>O(1) PK check + O(1) append</a:t>
                      </a:r>
                    </a:p>
                  </a:txBody>
                  <a:tcPr anchor="ctr">
                    <a:solidFill>
                      <a:srgbClr val="0F172A"/>
                    </a:solidFill>
                  </a:tcPr>
                </a:tc>
                <a:tc>
                  <a:txBody>
                    <a:bodyPr/>
                    <a:lstStyle/>
                    <a:p>
                      <a:pPr>
                        <a:defRPr sz="1000" b="0">
                          <a:solidFill>
                            <a:srgbClr val="CBD5E1"/>
                          </a:solidFill>
                          <a:latin typeface="Inter"/>
                        </a:defRPr>
                      </a:pPr>
                      <a:r>
                        <a:t>Primary key uniqueness check</a:t>
                      </a:r>
                    </a:p>
                  </a:txBody>
                  <a:tcPr anchor="ctr">
                    <a:solidFill>
                      <a:srgbClr val="0F172A"/>
                    </a:solidFill>
                  </a:tcPr>
                </a:tc>
              </a:tr>
              <a:tr h="472440">
                <a:tc>
                  <a:txBody>
                    <a:bodyPr/>
                    <a:lstStyle/>
                    <a:p>
                      <a:pPr>
                        <a:defRPr sz="1000" b="1">
                          <a:solidFill>
                            <a:srgbClr val="F59E0B"/>
                          </a:solidFill>
                          <a:latin typeface="JetBrains Mono"/>
                        </a:defRPr>
                      </a:pPr>
                      <a:r>
                        <a:t>Update Stock (PD002 Qty)</a:t>
                      </a:r>
                    </a:p>
                  </a:txBody>
                  <a:tcPr anchor="ctr">
                    <a:solidFill>
                      <a:srgbClr val="2A1E17"/>
                    </a:solidFill>
                  </a:tcPr>
                </a:tc>
                <a:tc>
                  <a:txBody>
                    <a:bodyPr/>
                    <a:lstStyle/>
                    <a:p>
                      <a:pPr>
                        <a:defRPr sz="1000" b="1">
                          <a:solidFill>
                            <a:srgbClr val="CBD5E1"/>
                          </a:solidFill>
                          <a:latin typeface="Inter"/>
                        </a:defRPr>
                      </a:pPr>
                      <a:r>
                        <a:t>O(N) read + O(N) rewrite</a:t>
                      </a:r>
                    </a:p>
                  </a:txBody>
                  <a:tcPr anchor="ctr">
                    <a:solidFill>
                      <a:srgbClr val="2A1E17"/>
                    </a:solidFill>
                  </a:tcPr>
                </a:tc>
                <a:tc>
                  <a:txBody>
                    <a:bodyPr/>
                    <a:lstStyle/>
                    <a:p>
                      <a:pPr>
                        <a:defRPr sz="1000" b="1">
                          <a:solidFill>
                            <a:srgbClr val="CBD5E1"/>
                          </a:solidFill>
                          <a:latin typeface="Inter"/>
                        </a:defRPr>
                      </a:pPr>
                      <a:r>
                        <a:t>O(1) RAM mutation + O(N) flush</a:t>
                      </a:r>
                    </a:p>
                  </a:txBody>
                  <a:tcPr anchor="ctr">
                    <a:solidFill>
                      <a:srgbClr val="2A1E17"/>
                    </a:solidFill>
                  </a:tcPr>
                </a:tc>
                <a:tc>
                  <a:txBody>
                    <a:bodyPr/>
                    <a:lstStyle/>
                    <a:p>
                      <a:pPr>
                        <a:defRPr sz="1000" b="1">
                          <a:solidFill>
                            <a:srgbClr val="CBD5E1"/>
                          </a:solidFill>
                          <a:latin typeface="Inter"/>
                        </a:defRPr>
                      </a:pPr>
                      <a:r>
                        <a:t>Variable-width byte offset shift</a:t>
                      </a:r>
                    </a:p>
                  </a:txBody>
                  <a:tcPr anchor="ctr">
                    <a:solidFill>
                      <a:srgbClr val="2A1E17"/>
                    </a:solidFill>
                  </a:tcPr>
                </a:tc>
              </a:tr>
              <a:tr h="472440">
                <a:tc>
                  <a:txBody>
                    <a:bodyPr/>
                    <a:lstStyle/>
                    <a:p>
                      <a:pPr>
                        <a:defRPr sz="1000" b="1">
                          <a:solidFill>
                            <a:srgbClr val="F8FAFC"/>
                          </a:solidFill>
                          <a:latin typeface="JetBrains Mono"/>
                        </a:defRPr>
                      </a:pPr>
                      <a:r>
                        <a:t>Memory Footprint</a:t>
                      </a:r>
                    </a:p>
                  </a:txBody>
                  <a:tcPr anchor="ctr">
                    <a:solidFill>
                      <a:srgbClr val="0F172A"/>
                    </a:solidFill>
                  </a:tcPr>
                </a:tc>
                <a:tc>
                  <a:txBody>
                    <a:bodyPr/>
                    <a:lstStyle/>
                    <a:p>
                      <a:pPr>
                        <a:defRPr sz="1000" b="0">
                          <a:solidFill>
                            <a:srgbClr val="CBD5E1"/>
                          </a:solidFill>
                          <a:latin typeface="Inter"/>
                        </a:defRPr>
                      </a:pPr>
                      <a:r>
                        <a:t>O(1) streaming row buffer</a:t>
                      </a:r>
                    </a:p>
                  </a:txBody>
                  <a:tcPr anchor="ctr">
                    <a:solidFill>
                      <a:srgbClr val="0F172A"/>
                    </a:solidFill>
                  </a:tcPr>
                </a:tc>
                <a:tc>
                  <a:txBody>
                    <a:bodyPr/>
                    <a:lstStyle/>
                    <a:p>
                      <a:pPr>
                        <a:defRPr sz="1000" b="0">
                          <a:solidFill>
                            <a:srgbClr val="CBD5E1"/>
                          </a:solidFill>
                          <a:latin typeface="Inter"/>
                        </a:defRPr>
                      </a:pPr>
                      <a:r>
                        <a:t>O(N) resident object graph</a:t>
                      </a:r>
                    </a:p>
                  </a:txBody>
                  <a:tcPr anchor="ctr">
                    <a:solidFill>
                      <a:srgbClr val="0F172A"/>
                    </a:solidFill>
                  </a:tcPr>
                </a:tc>
                <a:tc>
                  <a:txBody>
                    <a:bodyPr/>
                    <a:lstStyle/>
                    <a:p>
                      <a:pPr>
                        <a:defRPr sz="1000" b="0">
                          <a:solidFill>
                            <a:srgbClr val="CBD5E1"/>
                          </a:solidFill>
                          <a:latin typeface="Inter"/>
                        </a:defRPr>
                      </a:pPr>
                      <a:r>
                        <a:t>~180 bytes per ProductRecord</a:t>
                      </a:r>
                    </a:p>
                  </a:txBody>
                  <a:tcPr anchor="ctr">
                    <a:solidFill>
                      <a:srgbClr val="0F172A"/>
                    </a:solidFill>
                  </a:tcPr>
                </a:tc>
              </a:tr>
            </a:tbl>
          </a:graphicData>
        </a:graphic>
      </p:graphicFrame>
      <p:sp>
        <p:nvSpPr>
          <p:cNvPr id="8" name="Rounded Rectangle 7"/>
          <p:cNvSpPr/>
          <p:nvPr/>
        </p:nvSpPr>
        <p:spPr>
          <a:xfrm>
            <a:off x="457200" y="4434840"/>
            <a:ext cx="5532120" cy="1965960"/>
          </a:xfrm>
          <a:prstGeom prst="roundRect">
            <a:avLst>
              <a:gd name="adj" fmla="val 2000"/>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06B6D4"/>
                </a:solidFill>
                <a:latin typeface="Inter"/>
              </a:defRPr>
            </a:pPr>
            <a:r>
              <a:t>Quantitative Memory &amp; NVMe I/O Ceiling</a:t>
            </a:r>
          </a:p>
          <a:p>
            <a:pPr>
              <a:spcAft>
                <a:spcPts val="400"/>
              </a:spcAft>
              <a:defRPr sz="1000">
                <a:solidFill>
                  <a:srgbClr val="CBD5E1"/>
                </a:solidFill>
                <a:latin typeface="Inter"/>
              </a:defRPr>
            </a:pPr>
            <a:r>
              <a:t>▸  @dataclass(slots=True) removes per-instance __dict__, shrinking each SKU from ~450B to ~180B.</a:t>
            </a:r>
          </a:p>
          <a:p>
            <a:pPr>
              <a:spcAft>
                <a:spcPts val="400"/>
              </a:spcAft>
              <a:defRPr sz="1000">
                <a:solidFill>
                  <a:srgbClr val="CBD5E1"/>
                </a:solidFill>
                <a:latin typeface="Inter"/>
              </a:defRPr>
            </a:pPr>
            <a:r>
              <a:t>▸  At N = 100,000 SKUs: M_RAM = 100,000 * 180B = ~18.0 MB resident RAM.</a:t>
            </a:r>
          </a:p>
          <a:p>
            <a:pPr>
              <a:spcAft>
                <a:spcPts val="400"/>
              </a:spcAft>
              <a:defRPr sz="1000">
                <a:solidFill>
                  <a:srgbClr val="CBD5E1"/>
                </a:solidFill>
                <a:latin typeface="Inter"/>
              </a:defRPr>
            </a:pPr>
            <a:r>
              <a:t>▸  Why O(N) Flush is Required: Changing Qty from '9' (1B) to '10' (2B) shifts all subsequent byte offsets.</a:t>
            </a:r>
          </a:p>
          <a:p>
            <a:pPr>
              <a:spcAft>
                <a:spcPts val="400"/>
              </a:spcAft>
              <a:defRPr sz="1000">
                <a:solidFill>
                  <a:srgbClr val="CBD5E1"/>
                </a:solidFill>
                <a:latin typeface="Inter"/>
              </a:defRPr>
            </a:pPr>
            <a:r>
              <a:t>▸  NVMe Throughput: 10,000 rows (350 KB) flushes in &lt; 0.7 ms at 500 MB/s.</a:t>
            </a:r>
          </a:p>
        </p:txBody>
      </p:sp>
      <p:sp>
        <p:nvSpPr>
          <p:cNvPr id="9" name="Rounded Rectangle 8"/>
          <p:cNvSpPr/>
          <p:nvPr/>
        </p:nvSpPr>
        <p:spPr>
          <a:xfrm>
            <a:off x="6172200" y="4434840"/>
            <a:ext cx="5559552" cy="1965960"/>
          </a:xfrm>
          <a:prstGeom prst="roundRect">
            <a:avLst>
              <a:gd name="adj" fmla="val 2000"/>
            </a:avLst>
          </a:prstGeom>
          <a:solidFill>
            <a:srgbClr val="090D16"/>
          </a:solidFill>
          <a:ln w="15875">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spcAft>
                <a:spcPts val="600"/>
              </a:spcAft>
              <a:defRPr sz="1000" b="1">
                <a:solidFill>
                  <a:srgbClr val="F59E0B"/>
                </a:solidFill>
                <a:latin typeface="JetBrains Mono"/>
              </a:defRPr>
            </a:pPr>
            <a:r>
              <a:t>// BYTE-STREAM I/O LIFECYCLE PIPELINE</a:t>
            </a:r>
          </a:p>
          <a:p>
            <a:pPr>
              <a:spcAft>
                <a:spcPts val="150"/>
              </a:spcAft>
              <a:defRPr sz="919">
                <a:solidFill>
                  <a:srgbClr val="38BDF8"/>
                </a:solidFill>
                <a:latin typeface="JetBrains Mono"/>
              </a:defRPr>
            </a:pPr>
            <a:r>
              <a:t>[NVMe Physical Disk: products.csv]</a:t>
            </a:r>
          </a:p>
          <a:p>
            <a:pPr>
              <a:spcAft>
                <a:spcPts val="150"/>
              </a:spcAft>
              <a:defRPr sz="919">
                <a:solidFill>
                  <a:srgbClr val="38BDF8"/>
                </a:solidFill>
                <a:latin typeface="JetBrains Mono"/>
              </a:defRPr>
            </a:pPr>
            <a:r>
              <a:t>   | (OS Kernel VFS Page Cache -&gt; io.TextIOWrapper)</a:t>
            </a:r>
          </a:p>
          <a:p>
            <a:pPr>
              <a:spcAft>
                <a:spcPts val="150"/>
              </a:spcAft>
              <a:defRPr sz="919">
                <a:solidFill>
                  <a:srgbClr val="38BDF8"/>
                </a:solidFill>
                <a:latin typeface="JetBrains Mono"/>
              </a:defRPr>
            </a:pPr>
            <a:r>
              <a:t>   v</a:t>
            </a:r>
          </a:p>
          <a:p>
            <a:pPr>
              <a:spcAft>
                <a:spcPts val="150"/>
              </a:spcAft>
              <a:defRPr sz="919">
                <a:solidFill>
                  <a:srgbClr val="38BDF8"/>
                </a:solidFill>
                <a:latin typeface="JetBrains Mono"/>
              </a:defRPr>
            </a:pPr>
            <a:r>
              <a:t>[csv.DictReader] --&gt; Hydrates --&gt; [dict[str, ProductRecord]] (O(1) RAM)</a:t>
            </a:r>
          </a:p>
          <a:p>
            <a:pPr>
              <a:spcAft>
                <a:spcPts val="150"/>
              </a:spcAft>
              <a:defRPr sz="919">
                <a:solidFill>
                  <a:srgbClr val="38BDF8"/>
                </a:solidFill>
                <a:latin typeface="JetBrains Mono"/>
              </a:defRPr>
            </a:pPr>
            <a:r>
              <a:t>                                         |</a:t>
            </a:r>
          </a:p>
          <a:p>
            <a:pPr>
              <a:spcAft>
                <a:spcPts val="150"/>
              </a:spcAft>
              <a:defRPr sz="919">
                <a:solidFill>
                  <a:srgbClr val="38BDF8"/>
                </a:solidFill>
                <a:latin typeface="JetBrains Mono"/>
              </a:defRPr>
            </a:pPr>
            <a:r>
              <a:t>   +-------------------------------------+</a:t>
            </a:r>
          </a:p>
          <a:p>
            <a:pPr>
              <a:spcAft>
                <a:spcPts val="150"/>
              </a:spcAft>
              <a:defRPr sz="919">
                <a:solidFill>
                  <a:srgbClr val="38BDF8"/>
                </a:solidFill>
                <a:latin typeface="JetBrains Mono"/>
              </a:defRPr>
            </a:pPr>
            <a:r>
              <a:t>   v (Mutation: PD002 Qty 2 -&gt; 10)</a:t>
            </a:r>
          </a:p>
          <a:p>
            <a:pPr>
              <a:spcAft>
                <a:spcPts val="150"/>
              </a:spcAft>
              <a:defRPr sz="919">
                <a:solidFill>
                  <a:srgbClr val="38BDF8"/>
                </a:solidFill>
                <a:latin typeface="JetBrains Mono"/>
              </a:defRPr>
            </a:pPr>
            <a:r>
              <a:t>[NamedTemporaryFile] -&gt; [flush() + os.fsync()] -&gt; [os.replace() Atomic]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058400" cy="274320"/>
          </a:xfrm>
          <a:prstGeom prst="rect">
            <a:avLst/>
          </a:prstGeom>
          <a:noFill/>
        </p:spPr>
        <p:txBody>
          <a:bodyPr wrap="square" lIns="0" tIns="0" rIns="0" bIns="0">
            <a:spAutoFit/>
          </a:bodyPr>
          <a:lstStyle/>
          <a:p>
            <a:pPr>
              <a:defRPr sz="1050" b="1">
                <a:solidFill>
                  <a:srgbClr val="06B6D4"/>
                </a:solidFill>
                <a:latin typeface="JetBrains Mono"/>
              </a:defRPr>
            </a:pPr>
            <a:r>
              <a:t>[PRESENTATION LAYER // EVENT-DRIVEN UI]</a:t>
            </a:r>
          </a:p>
        </p:txBody>
      </p:sp>
      <p:sp>
        <p:nvSpPr>
          <p:cNvPr id="3" name="Rounded Rectangle 2"/>
          <p:cNvSpPr/>
          <p:nvPr/>
        </p:nvSpPr>
        <p:spPr>
          <a:xfrm>
            <a:off x="11018520" y="256032"/>
            <a:ext cx="713232"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CBD5E1"/>
                </a:solidFill>
                <a:latin typeface="JetBrains Mono"/>
              </a:defRPr>
            </a:pPr>
            <a:r>
              <a:t>06 / 14</a:t>
            </a:r>
          </a:p>
        </p:txBody>
      </p:sp>
      <p:sp>
        <p:nvSpPr>
          <p:cNvPr id="4" name="TextBox 3"/>
          <p:cNvSpPr txBox="1"/>
          <p:nvPr/>
        </p:nvSpPr>
        <p:spPr>
          <a:xfrm>
            <a:off x="457200" y="548640"/>
            <a:ext cx="11274552" cy="713232"/>
          </a:xfrm>
          <a:prstGeom prst="rect">
            <a:avLst/>
          </a:prstGeom>
          <a:noFill/>
        </p:spPr>
        <p:txBody>
          <a:bodyPr wrap="square" lIns="0" tIns="0" rIns="0" bIns="0">
            <a:spAutoFit/>
          </a:bodyPr>
          <a:lstStyle/>
          <a:p>
            <a:pPr>
              <a:defRPr sz="1950" b="1">
                <a:solidFill>
                  <a:srgbClr val="F8FAFC"/>
                </a:solidFill>
                <a:latin typeface="Inter"/>
              </a:defRPr>
            </a:pPr>
            <a:r>
              <a:t>Non-Blocking Event Loop Architecture Synchronizes Tabular Views and Reactive Low-Stock Visual Triggers</a:t>
            </a:r>
          </a:p>
        </p:txBody>
      </p:sp>
      <p:sp>
        <p:nvSpPr>
          <p:cNvPr id="5" name="Rectangle 4"/>
          <p:cNvSpPr/>
          <p:nvPr/>
        </p:nvSpPr>
        <p:spPr>
          <a:xfrm>
            <a:off x="457200" y="1298448"/>
            <a:ext cx="1127455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65392"/>
            <a:ext cx="11274552" cy="228600"/>
          </a:xfrm>
          <a:prstGeom prst="rect">
            <a:avLst/>
          </a:prstGeom>
          <a:noFill/>
        </p:spPr>
        <p:txBody>
          <a:bodyPr wrap="none" lIns="0" tIns="0" rIns="0" bIns="0">
            <a:spAutoFit/>
          </a:bodyPr>
          <a:lstStyle/>
          <a:p>
            <a:pPr>
              <a:defRPr sz="850">
                <a:solidFill>
                  <a:srgbClr val="334155"/>
                </a:solidFill>
                <a:latin typeface="JetBrains Mono"/>
              </a:defRPr>
            </a:pPr>
            <a:r>
              <a:t>SIMS ARCHITECTURAL DEFENSE  //  EBUBECHUKWU WILLIAM AYOZIE  //  TARGET: CPYTHON 3.14 (HEAD -&gt; f9d08b2...c14609)</a:t>
            </a:r>
          </a:p>
        </p:txBody>
      </p:sp>
      <p:sp>
        <p:nvSpPr>
          <p:cNvPr id="7" name="Rounded Rectangle 6"/>
          <p:cNvSpPr/>
          <p:nvPr/>
        </p:nvSpPr>
        <p:spPr>
          <a:xfrm>
            <a:off x="457200" y="1463040"/>
            <a:ext cx="6035040" cy="2834640"/>
          </a:xfrm>
          <a:prstGeom prst="roundRect">
            <a:avLst>
              <a:gd name="adj" fmla="val 2000"/>
            </a:avLst>
          </a:prstGeom>
          <a:solidFill>
            <a:srgbClr val="090D16"/>
          </a:solidFill>
          <a:ln w="15875">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spcAft>
                <a:spcPts val="600"/>
              </a:spcAft>
              <a:defRPr sz="1000" b="1">
                <a:solidFill>
                  <a:srgbClr val="F59E0B"/>
                </a:solidFill>
                <a:latin typeface="JetBrains Mono"/>
              </a:defRPr>
            </a:pPr>
            <a:r>
              <a:t>// STRUCTURAL WIREFRAME: gui.py (gui.cpython-314.pyc)</a:t>
            </a:r>
          </a:p>
          <a:p>
            <a:pPr>
              <a:spcAft>
                <a:spcPts val="150"/>
              </a:spcAft>
              <a:defRPr sz="900">
                <a:solidFill>
                  <a:srgbClr val="38BDF8"/>
                </a:solidFill>
                <a:latin typeface="JetBrains Mono"/>
              </a:defRPr>
            </a:pPr>
            <a:r>
              <a:t>+--------------------------------------------------------------------+</a:t>
            </a:r>
          </a:p>
          <a:p>
            <a:pPr>
              <a:spcAft>
                <a:spcPts val="150"/>
              </a:spcAft>
              <a:defRPr sz="900">
                <a:solidFill>
                  <a:srgbClr val="38BDF8"/>
                </a:solidFill>
                <a:latin typeface="JetBrains Mono"/>
              </a:defRPr>
            </a:pPr>
            <a:r>
              <a:t>| SIMS Desktop Telemetry Manager (gui.py)               [_] [sq] [X] |</a:t>
            </a:r>
          </a:p>
          <a:p>
            <a:pPr>
              <a:spcAft>
                <a:spcPts val="150"/>
              </a:spcAft>
              <a:defRPr sz="900">
                <a:solidFill>
                  <a:srgbClr val="38BDF8"/>
                </a:solidFill>
                <a:latin typeface="JetBrains Mono"/>
              </a:defRPr>
            </a:pPr>
            <a:r>
              <a:t>+--------------------------------------------------------------------+</a:t>
            </a:r>
          </a:p>
          <a:p>
            <a:pPr>
              <a:spcAft>
                <a:spcPts val="150"/>
              </a:spcAft>
              <a:defRPr sz="900">
                <a:solidFill>
                  <a:srgbClr val="38BDF8"/>
                </a:solidFill>
                <a:latin typeface="JetBrains Mono"/>
              </a:defRPr>
            </a:pPr>
            <a:r>
              <a:t>| [!] CRITICAL ALERT: SKU PD002 (DELL) Below Min Stock (Qty:2/Min:5) | &lt;-- #F59E0B</a:t>
            </a:r>
          </a:p>
          <a:p>
            <a:pPr>
              <a:spcAft>
                <a:spcPts val="150"/>
              </a:spcAft>
              <a:defRPr sz="900">
                <a:solidFill>
                  <a:srgbClr val="38BDF8"/>
                </a:solidFill>
                <a:latin typeface="JetBrains Mono"/>
              </a:defRPr>
            </a:pPr>
            <a:r>
              <a:t>+--------------------------------------------------------------------+</a:t>
            </a:r>
          </a:p>
          <a:p>
            <a:pPr>
              <a:spcAft>
                <a:spcPts val="150"/>
              </a:spcAft>
              <a:defRPr sz="900">
                <a:solidFill>
                  <a:srgbClr val="38BDF8"/>
                </a:solidFill>
                <a:latin typeface="JetBrains Mono"/>
              </a:defRPr>
            </a:pPr>
            <a:r>
              <a:t>| ID     | Name     | Quantity | Price ($) | Minimum Stock | Status  |</a:t>
            </a:r>
          </a:p>
          <a:p>
            <a:pPr>
              <a:spcAft>
                <a:spcPts val="150"/>
              </a:spcAft>
              <a:defRPr sz="900">
                <a:solidFill>
                  <a:srgbClr val="38BDF8"/>
                </a:solidFill>
                <a:latin typeface="JetBrains Mono"/>
              </a:defRPr>
            </a:pPr>
            <a:r>
              <a:t>|--------+----------+----------+-----------+---------------+---------|</a:t>
            </a:r>
          </a:p>
          <a:p>
            <a:pPr>
              <a:spcAft>
                <a:spcPts val="150"/>
              </a:spcAft>
              <a:defRPr sz="900">
                <a:solidFill>
                  <a:srgbClr val="38BDF8"/>
                </a:solidFill>
                <a:latin typeface="JetBrains Mono"/>
              </a:defRPr>
            </a:pPr>
            <a:r>
              <a:t>| PD002  | DELL     | 2        | 150.00    | 5             | LOW [!] | &lt;-- Tag:low</a:t>
            </a:r>
          </a:p>
          <a:p>
            <a:pPr>
              <a:spcAft>
                <a:spcPts val="150"/>
              </a:spcAft>
              <a:defRPr sz="900">
                <a:solidFill>
                  <a:srgbClr val="38BDF8"/>
                </a:solidFill>
                <a:latin typeface="JetBrains Mono"/>
              </a:defRPr>
            </a:pPr>
            <a:r>
              <a:t>+--------------------------------------------------------------------+</a:t>
            </a:r>
          </a:p>
          <a:p>
            <a:pPr>
              <a:spcAft>
                <a:spcPts val="150"/>
              </a:spcAft>
              <a:defRPr sz="900">
                <a:solidFill>
                  <a:srgbClr val="38BDF8"/>
                </a:solidFill>
                <a:latin typeface="JetBrains Mono"/>
              </a:defRPr>
            </a:pPr>
            <a:r>
              <a:t>| [ID:___] [Name:___] [Qty:___] [Price:___] [Min:___]  [ + Mutate ]  |</a:t>
            </a:r>
          </a:p>
          <a:p>
            <a:pPr>
              <a:spcAft>
                <a:spcPts val="150"/>
              </a:spcAft>
              <a:defRPr sz="900">
                <a:solidFill>
                  <a:srgbClr val="38BDF8"/>
                </a:solidFill>
                <a:latin typeface="JetBrains Mono"/>
              </a:defRPr>
            </a:pPr>
            <a:r>
              <a:t>+--------------------------------------------------------------------+</a:t>
            </a:r>
          </a:p>
        </p:txBody>
      </p:sp>
      <p:sp>
        <p:nvSpPr>
          <p:cNvPr id="8" name="Rounded Rectangle 7"/>
          <p:cNvSpPr/>
          <p:nvPr/>
        </p:nvSpPr>
        <p:spPr>
          <a:xfrm>
            <a:off x="457200" y="4462272"/>
            <a:ext cx="6035040" cy="1938528"/>
          </a:xfrm>
          <a:prstGeom prst="roundRect">
            <a:avLst>
              <a:gd name="adj" fmla="val 2000"/>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06B6D4"/>
                </a:solidFill>
                <a:latin typeface="Inter"/>
              </a:defRPr>
            </a:pPr>
            <a:r>
              <a:t>Reactive UI Telemetry &amp; Boundary Input Sanitation</a:t>
            </a:r>
          </a:p>
          <a:p>
            <a:pPr>
              <a:spcAft>
                <a:spcPts val="400"/>
              </a:spcAft>
              <a:defRPr sz="1000">
                <a:solidFill>
                  <a:srgbClr val="CBD5E1"/>
                </a:solidFill>
                <a:latin typeface="Inter"/>
              </a:defRPr>
            </a:pPr>
            <a:r>
              <a:t>▸  Tabular State Grid (ttk.Treeview): Binds directly to ID, Name, Quantity, Price, Minimum Stock.</a:t>
            </a:r>
          </a:p>
          <a:p>
            <a:pPr>
              <a:spcAft>
                <a:spcPts val="400"/>
              </a:spcAft>
              <a:defRPr sz="1000">
                <a:solidFill>
                  <a:srgbClr val="CBD5E1"/>
                </a:solidFill>
                <a:latin typeface="Inter"/>
              </a:defRPr>
            </a:pPr>
            <a:r>
              <a:t>▸  Conditional Row Tagging: Evaluates prod.quantity &lt;= prod.min_stock during render pass; highlights PD002 (Qty 2 &lt;= Min 5) in Amber (#F59E0B) immediately on launch.</a:t>
            </a:r>
          </a:p>
          <a:p>
            <a:pPr>
              <a:spcAft>
                <a:spcPts val="400"/>
              </a:spcAft>
              <a:defRPr sz="1000">
                <a:solidFill>
                  <a:srgbClr val="CBD5E1"/>
                </a:solidFill>
                <a:latin typeface="Inter"/>
              </a:defRPr>
            </a:pPr>
            <a:r>
              <a:t>▸  Input Boundary Guards: Strips whitespace on ID/Name; blocks negative &amp; non-numeric strings.</a:t>
            </a:r>
          </a:p>
        </p:txBody>
      </p:sp>
      <p:sp>
        <p:nvSpPr>
          <p:cNvPr id="9" name="Rounded Rectangle 8"/>
          <p:cNvSpPr/>
          <p:nvPr/>
        </p:nvSpPr>
        <p:spPr>
          <a:xfrm>
            <a:off x="6675120" y="1463040"/>
            <a:ext cx="5056632" cy="4937760"/>
          </a:xfrm>
          <a:prstGeom prst="roundRect">
            <a:avLst>
              <a:gd name="adj" fmla="val 2000"/>
            </a:avLst>
          </a:prstGeom>
          <a:solidFill>
            <a:srgbClr val="090D16"/>
          </a:solidFill>
          <a:ln w="15875">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spcAft>
                <a:spcPts val="600"/>
              </a:spcAft>
              <a:defRPr sz="1000" b="1">
                <a:solidFill>
                  <a:srgbClr val="06B6D4"/>
                </a:solidFill>
                <a:latin typeface="JetBrains Mono"/>
              </a:defRPr>
            </a:pPr>
            <a:r>
              <a:t>// DIFFERENTIAL TREEVIEW REFRESH &amp; NON-BLOCKING QUEUE (gui.py)</a:t>
            </a:r>
          </a:p>
          <a:p>
            <a:pPr>
              <a:spcAft>
                <a:spcPts val="150"/>
              </a:spcAft>
              <a:defRPr sz="919">
                <a:solidFill>
                  <a:srgbClr val="38BDF8"/>
                </a:solidFill>
                <a:latin typeface="JetBrains Mono"/>
              </a:defRPr>
            </a:pPr>
            <a:r>
              <a:t>def refresh_inventory_table(self) -&gt; None:</a:t>
            </a:r>
          </a:p>
          <a:p>
            <a:pPr>
              <a:spcAft>
                <a:spcPts val="150"/>
              </a:spcAft>
              <a:defRPr sz="919">
                <a:solidFill>
                  <a:srgbClr val="38BDF8"/>
                </a:solidFill>
                <a:latin typeface="JetBrains Mono"/>
              </a:defRPr>
            </a:pPr>
            <a:r>
              <a:t>    # 1. Clear existing virtual DOM / Treeview nodes</a:t>
            </a:r>
          </a:p>
          <a:p>
            <a:pPr>
              <a:spcAft>
                <a:spcPts val="150"/>
              </a:spcAft>
              <a:defRPr sz="919">
                <a:solidFill>
                  <a:srgbClr val="38BDF8"/>
                </a:solidFill>
                <a:latin typeface="JetBrains Mono"/>
              </a:defRPr>
            </a:pPr>
            <a:r>
              <a:t>    for item in self.tree.get_children():</a:t>
            </a:r>
          </a:p>
          <a:p>
            <a:pPr>
              <a:spcAft>
                <a:spcPts val="150"/>
              </a:spcAft>
              <a:defRPr sz="919">
                <a:solidFill>
                  <a:srgbClr val="38BDF8"/>
                </a:solidFill>
                <a:latin typeface="JetBrains Mono"/>
              </a:defRPr>
            </a:pPr>
            <a:r>
              <a:t>        self.tree.delete(item)</a:t>
            </a:r>
          </a:p>
          <a:p>
            <a:pPr>
              <a:spcAft>
                <a:spcPts val="150"/>
              </a:spcAft>
              <a:defRPr sz="919">
                <a:solidFill>
                  <a:srgbClr val="38BDF8"/>
                </a:solidFill>
                <a:latin typeface="JetBrains Mono"/>
              </a:defRPr>
            </a:pPr>
          </a:p>
          <a:p>
            <a:pPr>
              <a:spcAft>
                <a:spcPts val="150"/>
              </a:spcAft>
              <a:defRPr sz="919">
                <a:solidFill>
                  <a:srgbClr val="38BDF8"/>
                </a:solidFill>
                <a:latin typeface="JetBrains Mono"/>
              </a:defRPr>
            </a:pPr>
            <a:r>
              <a:t>    # 2. Re-hydrate from inventory.py authoritative state</a:t>
            </a:r>
          </a:p>
          <a:p>
            <a:pPr>
              <a:spcAft>
                <a:spcPts val="150"/>
              </a:spcAft>
              <a:defRPr sz="919">
                <a:solidFill>
                  <a:srgbClr val="38BDF8"/>
                </a:solidFill>
                <a:latin typeface="JetBrains Mono"/>
              </a:defRPr>
            </a:pPr>
            <a:r>
              <a:t>    for prod in self.inventory_engine.get_all_products():</a:t>
            </a:r>
          </a:p>
          <a:p>
            <a:pPr>
              <a:spcAft>
                <a:spcPts val="150"/>
              </a:spcAft>
              <a:defRPr sz="919">
                <a:solidFill>
                  <a:srgbClr val="38BDF8"/>
                </a:solidFill>
                <a:latin typeface="JetBrains Mono"/>
              </a:defRPr>
            </a:pPr>
            <a:r>
              <a:t>        tag = (</a:t>
            </a:r>
          </a:p>
          <a:p>
            <a:pPr>
              <a:spcAft>
                <a:spcPts val="150"/>
              </a:spcAft>
              <a:defRPr sz="919">
                <a:solidFill>
                  <a:srgbClr val="38BDF8"/>
                </a:solidFill>
                <a:latin typeface="JetBrains Mono"/>
              </a:defRPr>
            </a:pPr>
            <a:r>
              <a:t>            'low_stock'</a:t>
            </a:r>
          </a:p>
          <a:p>
            <a:pPr>
              <a:spcAft>
                <a:spcPts val="150"/>
              </a:spcAft>
              <a:defRPr sz="919">
                <a:solidFill>
                  <a:srgbClr val="38BDF8"/>
                </a:solidFill>
                <a:latin typeface="JetBrains Mono"/>
              </a:defRPr>
            </a:pPr>
            <a:r>
              <a:t>            if prod.quantity &lt;= prod.min_stock</a:t>
            </a:r>
          </a:p>
          <a:p>
            <a:pPr>
              <a:spcAft>
                <a:spcPts val="150"/>
              </a:spcAft>
              <a:defRPr sz="919">
                <a:solidFill>
                  <a:srgbClr val="38BDF8"/>
                </a:solidFill>
                <a:latin typeface="JetBrains Mono"/>
              </a:defRPr>
            </a:pPr>
            <a:r>
              <a:t>            else 'normal'</a:t>
            </a:r>
          </a:p>
          <a:p>
            <a:pPr>
              <a:spcAft>
                <a:spcPts val="150"/>
              </a:spcAft>
              <a:defRPr sz="919">
                <a:solidFill>
                  <a:srgbClr val="38BDF8"/>
                </a:solidFill>
                <a:latin typeface="JetBrains Mono"/>
              </a:defRPr>
            </a:pPr>
            <a:r>
              <a:t>        )</a:t>
            </a:r>
          </a:p>
          <a:p>
            <a:pPr>
              <a:spcAft>
                <a:spcPts val="150"/>
              </a:spcAft>
              <a:defRPr sz="919">
                <a:solidFill>
                  <a:srgbClr val="38BDF8"/>
                </a:solidFill>
                <a:latin typeface="JetBrains Mono"/>
              </a:defRPr>
            </a:pPr>
            <a:r>
              <a:t>        self.tree.insert(</a:t>
            </a:r>
          </a:p>
          <a:p>
            <a:pPr>
              <a:spcAft>
                <a:spcPts val="150"/>
              </a:spcAft>
              <a:defRPr sz="919">
                <a:solidFill>
                  <a:srgbClr val="38BDF8"/>
                </a:solidFill>
                <a:latin typeface="JetBrains Mono"/>
              </a:defRPr>
            </a:pPr>
            <a:r>
              <a:t>            '', 'end',</a:t>
            </a:r>
          </a:p>
          <a:p>
            <a:pPr>
              <a:spcAft>
                <a:spcPts val="150"/>
              </a:spcAft>
              <a:defRPr sz="919">
                <a:solidFill>
                  <a:srgbClr val="38BDF8"/>
                </a:solidFill>
                <a:latin typeface="JetBrains Mono"/>
              </a:defRPr>
            </a:pPr>
            <a:r>
              <a:t>            values=(</a:t>
            </a:r>
          </a:p>
          <a:p>
            <a:pPr>
              <a:spcAft>
                <a:spcPts val="150"/>
              </a:spcAft>
              <a:defRPr sz="919">
                <a:solidFill>
                  <a:srgbClr val="38BDF8"/>
                </a:solidFill>
                <a:latin typeface="JetBrains Mono"/>
              </a:defRPr>
            </a:pPr>
            <a:r>
              <a:t>                prod.product_id, prod.name,</a:t>
            </a:r>
          </a:p>
          <a:p>
            <a:pPr>
              <a:spcAft>
                <a:spcPts val="150"/>
              </a:spcAft>
              <a:defRPr sz="919">
                <a:solidFill>
                  <a:srgbClr val="38BDF8"/>
                </a:solidFill>
                <a:latin typeface="JetBrains Mono"/>
              </a:defRPr>
            </a:pPr>
            <a:r>
              <a:t>                prod.quantity, f'{prod.price:.2f}',</a:t>
            </a:r>
          </a:p>
          <a:p>
            <a:pPr>
              <a:spcAft>
                <a:spcPts val="150"/>
              </a:spcAft>
              <a:defRPr sz="919">
                <a:solidFill>
                  <a:srgbClr val="38BDF8"/>
                </a:solidFill>
                <a:latin typeface="JetBrains Mono"/>
              </a:defRPr>
            </a:pPr>
            <a:r>
              <a:t>                prod.min_stock</a:t>
            </a:r>
          </a:p>
          <a:p>
            <a:pPr>
              <a:spcAft>
                <a:spcPts val="150"/>
              </a:spcAft>
              <a:defRPr sz="919">
                <a:solidFill>
                  <a:srgbClr val="38BDF8"/>
                </a:solidFill>
                <a:latin typeface="JetBrains Mono"/>
              </a:defRPr>
            </a:pPr>
            <a:r>
              <a:t>            ),</a:t>
            </a:r>
          </a:p>
          <a:p>
            <a:pPr>
              <a:spcAft>
                <a:spcPts val="150"/>
              </a:spcAft>
              <a:defRPr sz="919">
                <a:solidFill>
                  <a:srgbClr val="38BDF8"/>
                </a:solidFill>
                <a:latin typeface="JetBrains Mono"/>
              </a:defRPr>
            </a:pPr>
            <a:r>
              <a:t>            tags=(tag,)</a:t>
            </a:r>
          </a:p>
          <a:p>
            <a:pPr>
              <a:spcAft>
                <a:spcPts val="150"/>
              </a:spcAft>
              <a:defRPr sz="919">
                <a:solidFill>
                  <a:srgbClr val="38BDF8"/>
                </a:solidFill>
                <a:latin typeface="JetBrains Mono"/>
              </a:defRPr>
            </a:pPr>
            <a:r>
              <a:t>        )</a:t>
            </a:r>
          </a:p>
          <a:p>
            <a:pPr>
              <a:spcAft>
                <a:spcPts val="150"/>
              </a:spcAft>
              <a:defRPr sz="919">
                <a:solidFill>
                  <a:srgbClr val="38BDF8"/>
                </a:solidFill>
                <a:latin typeface="JetBrains Mono"/>
              </a:defRPr>
            </a:pPr>
          </a:p>
          <a:p>
            <a:pPr>
              <a:spcAft>
                <a:spcPts val="150"/>
              </a:spcAft>
              <a:defRPr sz="919">
                <a:solidFill>
                  <a:srgbClr val="38BDF8"/>
                </a:solidFill>
                <a:latin typeface="JetBrains Mono"/>
              </a:defRPr>
            </a:pPr>
            <a:r>
              <a:t># Non-Blocking Worker Polling (60 FPS UI Responsiveness):</a:t>
            </a:r>
          </a:p>
          <a:p>
            <a:pPr>
              <a:spcAft>
                <a:spcPts val="150"/>
              </a:spcAft>
              <a:defRPr sz="919">
                <a:solidFill>
                  <a:srgbClr val="38BDF8"/>
                </a:solidFill>
                <a:latin typeface="JetBrains Mono"/>
              </a:defRPr>
            </a:pPr>
            <a:r>
              <a:t># Worker Thread -&gt; queue.Queue() -&gt; root.after(100, poll)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058400" cy="274320"/>
          </a:xfrm>
          <a:prstGeom prst="rect">
            <a:avLst/>
          </a:prstGeom>
          <a:noFill/>
        </p:spPr>
        <p:txBody>
          <a:bodyPr wrap="square" lIns="0" tIns="0" rIns="0" bIns="0">
            <a:spAutoFit/>
          </a:bodyPr>
          <a:lstStyle/>
          <a:p>
            <a:pPr>
              <a:defRPr sz="1050" b="1">
                <a:solidFill>
                  <a:srgbClr val="06B6D4"/>
                </a:solidFill>
                <a:latin typeface="JetBrains Mono"/>
              </a:defRPr>
            </a:pPr>
            <a:r>
              <a:t>[API CONTROLLER // STATELESS INTEROPERABILITY]</a:t>
            </a:r>
          </a:p>
        </p:txBody>
      </p:sp>
      <p:sp>
        <p:nvSpPr>
          <p:cNvPr id="3" name="Rounded Rectangle 2"/>
          <p:cNvSpPr/>
          <p:nvPr/>
        </p:nvSpPr>
        <p:spPr>
          <a:xfrm>
            <a:off x="11018520" y="256032"/>
            <a:ext cx="713232"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CBD5E1"/>
                </a:solidFill>
                <a:latin typeface="JetBrains Mono"/>
              </a:defRPr>
            </a:pPr>
            <a:r>
              <a:t>07 / 14</a:t>
            </a:r>
          </a:p>
        </p:txBody>
      </p:sp>
      <p:sp>
        <p:nvSpPr>
          <p:cNvPr id="4" name="TextBox 3"/>
          <p:cNvSpPr txBox="1"/>
          <p:nvPr/>
        </p:nvSpPr>
        <p:spPr>
          <a:xfrm>
            <a:off x="457200" y="548640"/>
            <a:ext cx="11274552" cy="713232"/>
          </a:xfrm>
          <a:prstGeom prst="rect">
            <a:avLst/>
          </a:prstGeom>
          <a:noFill/>
        </p:spPr>
        <p:txBody>
          <a:bodyPr wrap="square" lIns="0" tIns="0" rIns="0" bIns="0">
            <a:spAutoFit/>
          </a:bodyPr>
          <a:lstStyle/>
          <a:p>
            <a:pPr>
              <a:defRPr sz="1950" b="1">
                <a:solidFill>
                  <a:srgbClr val="F8FAFC"/>
                </a:solidFill>
                <a:latin typeface="Inter"/>
              </a:defRPr>
            </a:pPr>
            <a:r>
              <a:t>RESTful JSON Endpoints Decouple Core Inventory Logic for External Point-of-Sale and Webhook Consumption</a:t>
            </a:r>
          </a:p>
        </p:txBody>
      </p:sp>
      <p:sp>
        <p:nvSpPr>
          <p:cNvPr id="5" name="Rectangle 4"/>
          <p:cNvSpPr/>
          <p:nvPr/>
        </p:nvSpPr>
        <p:spPr>
          <a:xfrm>
            <a:off x="457200" y="1298448"/>
            <a:ext cx="1127455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65392"/>
            <a:ext cx="11274552" cy="228600"/>
          </a:xfrm>
          <a:prstGeom prst="rect">
            <a:avLst/>
          </a:prstGeom>
          <a:noFill/>
        </p:spPr>
        <p:txBody>
          <a:bodyPr wrap="none" lIns="0" tIns="0" rIns="0" bIns="0">
            <a:spAutoFit/>
          </a:bodyPr>
          <a:lstStyle/>
          <a:p>
            <a:pPr>
              <a:defRPr sz="850">
                <a:solidFill>
                  <a:srgbClr val="334155"/>
                </a:solidFill>
                <a:latin typeface="JetBrains Mono"/>
              </a:defRPr>
            </a:pPr>
            <a:r>
              <a:t>SIMS ARCHITECTURAL DEFENSE  //  EBUBECHUKWU WILLIAM AYOZIE  //  TARGET: CPYTHON 3.14 (HEAD -&gt; f9d08b2...c14609)</a:t>
            </a:r>
          </a:p>
        </p:txBody>
      </p:sp>
      <p:graphicFrame>
        <p:nvGraphicFramePr>
          <p:cNvPr id="7" name="Table 6"/>
          <p:cNvGraphicFramePr>
            <a:graphicFrameLocks noGrp="1"/>
          </p:cNvGraphicFramePr>
          <p:nvPr/>
        </p:nvGraphicFramePr>
        <p:xfrm>
          <a:off x="457200" y="1417320"/>
          <a:ext cx="11274552" cy="2514600"/>
        </p:xfrm>
        <a:graphic>
          <a:graphicData uri="http://schemas.openxmlformats.org/drawingml/2006/table">
            <a:tbl>
              <a:tblPr firstRow="1" bandRow="1">
                <a:tableStyleId>{5C22544A-7EE6-4342-B048-85BDC9FD1C3A}</a:tableStyleId>
              </a:tblPr>
              <a:tblGrid>
                <a:gridCol w="1280160"/>
                <a:gridCol w="2834640"/>
                <a:gridCol w="5879592"/>
                <a:gridCol w="1280160"/>
              </a:tblGrid>
              <a:tr h="359228">
                <a:tc>
                  <a:txBody>
                    <a:bodyPr/>
                    <a:lstStyle/>
                    <a:p>
                      <a:pPr>
                        <a:defRPr sz="1000" b="1">
                          <a:solidFill>
                            <a:srgbClr val="06B6D4"/>
                          </a:solidFill>
                          <a:latin typeface="Inter"/>
                        </a:defRPr>
                      </a:pPr>
                      <a:r>
                        <a:t>HTTP Verb</a:t>
                      </a:r>
                    </a:p>
                  </a:txBody>
                  <a:tcPr anchor="ctr">
                    <a:solidFill>
                      <a:srgbClr val="1E293B"/>
                    </a:solidFill>
                  </a:tcPr>
                </a:tc>
                <a:tc>
                  <a:txBody>
                    <a:bodyPr/>
                    <a:lstStyle/>
                    <a:p>
                      <a:pPr>
                        <a:defRPr sz="1000" b="1">
                          <a:solidFill>
                            <a:srgbClr val="06B6D4"/>
                          </a:solidFill>
                          <a:latin typeface="Inter"/>
                        </a:defRPr>
                      </a:pPr>
                      <a:r>
                        <a:t>Endpoint URI</a:t>
                      </a:r>
                    </a:p>
                  </a:txBody>
                  <a:tcPr anchor="ctr">
                    <a:solidFill>
                      <a:srgbClr val="1E293B"/>
                    </a:solidFill>
                  </a:tcPr>
                </a:tc>
                <a:tc>
                  <a:txBody>
                    <a:bodyPr/>
                    <a:lstStyle/>
                    <a:p>
                      <a:pPr>
                        <a:defRPr sz="1000" b="1">
                          <a:solidFill>
                            <a:srgbClr val="06B6D4"/>
                          </a:solidFill>
                          <a:latin typeface="Inter"/>
                        </a:defRPr>
                      </a:pPr>
                      <a:r>
                        <a:t>Controller Action (inventory.py Binding)</a:t>
                      </a:r>
                    </a:p>
                  </a:txBody>
                  <a:tcPr anchor="ctr">
                    <a:solidFill>
                      <a:srgbClr val="1E293B"/>
                    </a:solidFill>
                  </a:tcPr>
                </a:tc>
                <a:tc>
                  <a:txBody>
                    <a:bodyPr/>
                    <a:lstStyle/>
                    <a:p>
                      <a:pPr>
                        <a:defRPr sz="1000" b="1">
                          <a:solidFill>
                            <a:srgbClr val="06B6D4"/>
                          </a:solidFill>
                          <a:latin typeface="Inter"/>
                        </a:defRPr>
                      </a:pPr>
                      <a:r>
                        <a:t>Idempotent?</a:t>
                      </a:r>
                    </a:p>
                  </a:txBody>
                  <a:tcPr anchor="ctr">
                    <a:solidFill>
                      <a:srgbClr val="1E293B"/>
                    </a:solidFill>
                  </a:tcPr>
                </a:tc>
              </a:tr>
              <a:tr h="359228">
                <a:tc>
                  <a:txBody>
                    <a:bodyPr/>
                    <a:lstStyle/>
                    <a:p>
                      <a:pPr>
                        <a:defRPr sz="950" b="1">
                          <a:solidFill>
                            <a:srgbClr val="F8FAFC"/>
                          </a:solidFill>
                          <a:latin typeface="JetBrains Mono"/>
                        </a:defRPr>
                      </a:pPr>
                      <a:r>
                        <a:t>GET</a:t>
                      </a:r>
                    </a:p>
                  </a:txBody>
                  <a:tcPr anchor="ctr">
                    <a:solidFill>
                      <a:srgbClr val="0F172A"/>
                    </a:solidFill>
                  </a:tcPr>
                </a:tc>
                <a:tc>
                  <a:txBody>
                    <a:bodyPr/>
                    <a:lstStyle/>
                    <a:p>
                      <a:pPr>
                        <a:defRPr sz="950" b="0">
                          <a:solidFill>
                            <a:srgbClr val="CBD5E1"/>
                          </a:solidFill>
                          <a:latin typeface="Inter"/>
                        </a:defRPr>
                      </a:pPr>
                      <a:r>
                        <a:t>/api/v1/products</a:t>
                      </a:r>
                    </a:p>
                  </a:txBody>
                  <a:tcPr anchor="ctr">
                    <a:solidFill>
                      <a:srgbClr val="0F172A"/>
                    </a:solidFill>
                  </a:tcPr>
                </a:tc>
                <a:tc>
                  <a:txBody>
                    <a:bodyPr/>
                    <a:lstStyle/>
                    <a:p>
                      <a:pPr>
                        <a:defRPr sz="950" b="0">
                          <a:solidFill>
                            <a:srgbClr val="CBD5E1"/>
                          </a:solidFill>
                          <a:latin typeface="Inter"/>
                        </a:defRPr>
                      </a:pPr>
                      <a:r>
                        <a:t>Returns full catalog array + low-stock boolean flags</a:t>
                      </a:r>
                    </a:p>
                  </a:txBody>
                  <a:tcPr anchor="ctr">
                    <a:solidFill>
                      <a:srgbClr val="0F172A"/>
                    </a:solidFill>
                  </a:tcPr>
                </a:tc>
                <a:tc>
                  <a:txBody>
                    <a:bodyPr/>
                    <a:lstStyle/>
                    <a:p>
                      <a:pPr>
                        <a:defRPr sz="950" b="0">
                          <a:solidFill>
                            <a:srgbClr val="CBD5E1"/>
                          </a:solidFill>
                          <a:latin typeface="Inter"/>
                        </a:defRPr>
                      </a:pPr>
                      <a:r>
                        <a:t>Yes</a:t>
                      </a:r>
                    </a:p>
                  </a:txBody>
                  <a:tcPr anchor="ctr">
                    <a:solidFill>
                      <a:srgbClr val="0F172A"/>
                    </a:solidFill>
                  </a:tcPr>
                </a:tc>
              </a:tr>
              <a:tr h="359228">
                <a:tc>
                  <a:txBody>
                    <a:bodyPr/>
                    <a:lstStyle/>
                    <a:p>
                      <a:pPr>
                        <a:defRPr sz="950" b="1">
                          <a:solidFill>
                            <a:srgbClr val="F8FAFC"/>
                          </a:solidFill>
                          <a:latin typeface="JetBrains Mono"/>
                        </a:defRPr>
                      </a:pPr>
                      <a:r>
                        <a:t>GET</a:t>
                      </a:r>
                    </a:p>
                  </a:txBody>
                  <a:tcPr anchor="ctr">
                    <a:solidFill>
                      <a:srgbClr val="162032"/>
                    </a:solidFill>
                  </a:tcPr>
                </a:tc>
                <a:tc>
                  <a:txBody>
                    <a:bodyPr/>
                    <a:lstStyle/>
                    <a:p>
                      <a:pPr>
                        <a:defRPr sz="950" b="0">
                          <a:solidFill>
                            <a:srgbClr val="CBD5E1"/>
                          </a:solidFill>
                          <a:latin typeface="Inter"/>
                        </a:defRPr>
                      </a:pPr>
                      <a:r>
                        <a:t>/api/v1/products/&lt;id&gt;</a:t>
                      </a:r>
                    </a:p>
                  </a:txBody>
                  <a:tcPr anchor="ctr">
                    <a:solidFill>
                      <a:srgbClr val="162032"/>
                    </a:solidFill>
                  </a:tcPr>
                </a:tc>
                <a:tc>
                  <a:txBody>
                    <a:bodyPr/>
                    <a:lstStyle/>
                    <a:p>
                      <a:pPr>
                        <a:defRPr sz="950" b="0">
                          <a:solidFill>
                            <a:srgbClr val="CBD5E1"/>
                          </a:solidFill>
                          <a:latin typeface="Inter"/>
                        </a:defRPr>
                      </a:pPr>
                      <a:r>
                        <a:t>Fetches single SKU (e.g., PD002) in O(1) time</a:t>
                      </a:r>
                    </a:p>
                  </a:txBody>
                  <a:tcPr anchor="ctr">
                    <a:solidFill>
                      <a:srgbClr val="162032"/>
                    </a:solidFill>
                  </a:tcPr>
                </a:tc>
                <a:tc>
                  <a:txBody>
                    <a:bodyPr/>
                    <a:lstStyle/>
                    <a:p>
                      <a:pPr>
                        <a:defRPr sz="950" b="0">
                          <a:solidFill>
                            <a:srgbClr val="CBD5E1"/>
                          </a:solidFill>
                          <a:latin typeface="Inter"/>
                        </a:defRPr>
                      </a:pPr>
                      <a:r>
                        <a:t>Yes</a:t>
                      </a:r>
                    </a:p>
                  </a:txBody>
                  <a:tcPr anchor="ctr">
                    <a:solidFill>
                      <a:srgbClr val="162032"/>
                    </a:solidFill>
                  </a:tcPr>
                </a:tc>
              </a:tr>
              <a:tr h="359228">
                <a:tc>
                  <a:txBody>
                    <a:bodyPr/>
                    <a:lstStyle/>
                    <a:p>
                      <a:pPr>
                        <a:defRPr sz="950" b="1">
                          <a:solidFill>
                            <a:srgbClr val="F8FAFC"/>
                          </a:solidFill>
                          <a:latin typeface="JetBrains Mono"/>
                        </a:defRPr>
                      </a:pPr>
                      <a:r>
                        <a:t>POST</a:t>
                      </a:r>
                    </a:p>
                  </a:txBody>
                  <a:tcPr anchor="ctr">
                    <a:solidFill>
                      <a:srgbClr val="0F172A"/>
                    </a:solidFill>
                  </a:tcPr>
                </a:tc>
                <a:tc>
                  <a:txBody>
                    <a:bodyPr/>
                    <a:lstStyle/>
                    <a:p>
                      <a:pPr>
                        <a:defRPr sz="950" b="0">
                          <a:solidFill>
                            <a:srgbClr val="CBD5E1"/>
                          </a:solidFill>
                          <a:latin typeface="Inter"/>
                        </a:defRPr>
                      </a:pPr>
                      <a:r>
                        <a:t>/api/v1/products</a:t>
                      </a:r>
                    </a:p>
                  </a:txBody>
                  <a:tcPr anchor="ctr">
                    <a:solidFill>
                      <a:srgbClr val="0F172A"/>
                    </a:solidFill>
                  </a:tcPr>
                </a:tc>
                <a:tc>
                  <a:txBody>
                    <a:bodyPr/>
                    <a:lstStyle/>
                    <a:p>
                      <a:pPr>
                        <a:defRPr sz="950" b="0">
                          <a:solidFill>
                            <a:srgbClr val="CBD5E1"/>
                          </a:solidFill>
                          <a:latin typeface="Inter"/>
                        </a:defRPr>
                      </a:pPr>
                      <a:r>
                        <a:t>Validates schema &amp; registers new SKU in products.csv</a:t>
                      </a:r>
                    </a:p>
                  </a:txBody>
                  <a:tcPr anchor="ctr">
                    <a:solidFill>
                      <a:srgbClr val="0F172A"/>
                    </a:solidFill>
                  </a:tcPr>
                </a:tc>
                <a:tc>
                  <a:txBody>
                    <a:bodyPr/>
                    <a:lstStyle/>
                    <a:p>
                      <a:pPr>
                        <a:defRPr sz="950" b="0">
                          <a:solidFill>
                            <a:srgbClr val="CBD5E1"/>
                          </a:solidFill>
                          <a:latin typeface="Inter"/>
                        </a:defRPr>
                      </a:pPr>
                      <a:r>
                        <a:t>No</a:t>
                      </a:r>
                    </a:p>
                  </a:txBody>
                  <a:tcPr anchor="ctr">
                    <a:solidFill>
                      <a:srgbClr val="0F172A"/>
                    </a:solidFill>
                  </a:tcPr>
                </a:tc>
              </a:tr>
              <a:tr h="359228">
                <a:tc>
                  <a:txBody>
                    <a:bodyPr/>
                    <a:lstStyle/>
                    <a:p>
                      <a:pPr>
                        <a:defRPr sz="950" b="1">
                          <a:solidFill>
                            <a:srgbClr val="F8FAFC"/>
                          </a:solidFill>
                          <a:latin typeface="JetBrains Mono"/>
                        </a:defRPr>
                      </a:pPr>
                      <a:r>
                        <a:t>PATCH</a:t>
                      </a:r>
                    </a:p>
                  </a:txBody>
                  <a:tcPr anchor="ctr">
                    <a:solidFill>
                      <a:srgbClr val="162032"/>
                    </a:solidFill>
                  </a:tcPr>
                </a:tc>
                <a:tc>
                  <a:txBody>
                    <a:bodyPr/>
                    <a:lstStyle/>
                    <a:p>
                      <a:pPr>
                        <a:defRPr sz="950" b="0">
                          <a:solidFill>
                            <a:srgbClr val="CBD5E1"/>
                          </a:solidFill>
                          <a:latin typeface="Inter"/>
                        </a:defRPr>
                      </a:pPr>
                      <a:r>
                        <a:t>/api/v1/products/&lt;id&gt;/stock</a:t>
                      </a:r>
                    </a:p>
                  </a:txBody>
                  <a:tcPr anchor="ctr">
                    <a:solidFill>
                      <a:srgbClr val="162032"/>
                    </a:solidFill>
                  </a:tcPr>
                </a:tc>
                <a:tc>
                  <a:txBody>
                    <a:bodyPr/>
                    <a:lstStyle/>
                    <a:p>
                      <a:pPr>
                        <a:defRPr sz="950" b="0">
                          <a:solidFill>
                            <a:srgbClr val="CBD5E1"/>
                          </a:solidFill>
                          <a:latin typeface="Inter"/>
                        </a:defRPr>
                      </a:pPr>
                      <a:r>
                        <a:t>Atomic delta stock adjustment (+/- Delta_Q)</a:t>
                      </a:r>
                    </a:p>
                  </a:txBody>
                  <a:tcPr anchor="ctr">
                    <a:solidFill>
                      <a:srgbClr val="162032"/>
                    </a:solidFill>
                  </a:tcPr>
                </a:tc>
                <a:tc>
                  <a:txBody>
                    <a:bodyPr/>
                    <a:lstStyle/>
                    <a:p>
                      <a:pPr>
                        <a:defRPr sz="950" b="0">
                          <a:solidFill>
                            <a:srgbClr val="CBD5E1"/>
                          </a:solidFill>
                          <a:latin typeface="Inter"/>
                        </a:defRPr>
                      </a:pPr>
                      <a:r>
                        <a:t>No</a:t>
                      </a:r>
                    </a:p>
                  </a:txBody>
                  <a:tcPr anchor="ctr">
                    <a:solidFill>
                      <a:srgbClr val="162032"/>
                    </a:solidFill>
                  </a:tcPr>
                </a:tc>
              </a:tr>
              <a:tr h="359228">
                <a:tc>
                  <a:txBody>
                    <a:bodyPr/>
                    <a:lstStyle/>
                    <a:p>
                      <a:pPr>
                        <a:defRPr sz="950" b="1">
                          <a:solidFill>
                            <a:srgbClr val="F59E0B"/>
                          </a:solidFill>
                          <a:latin typeface="JetBrains Mono"/>
                        </a:defRPr>
                      </a:pPr>
                      <a:r>
                        <a:t>POST</a:t>
                      </a:r>
                    </a:p>
                  </a:txBody>
                  <a:tcPr anchor="ctr">
                    <a:solidFill>
                      <a:srgbClr val="2A1E17"/>
                    </a:solidFill>
                  </a:tcPr>
                </a:tc>
                <a:tc>
                  <a:txBody>
                    <a:bodyPr/>
                    <a:lstStyle/>
                    <a:p>
                      <a:pPr>
                        <a:defRPr sz="950" b="1">
                          <a:solidFill>
                            <a:srgbClr val="CBD5E1"/>
                          </a:solidFill>
                          <a:latin typeface="Inter"/>
                        </a:defRPr>
                      </a:pPr>
                      <a:r>
                        <a:t>/api/v1/sales</a:t>
                      </a:r>
                    </a:p>
                  </a:txBody>
                  <a:tcPr anchor="ctr">
                    <a:solidFill>
                      <a:srgbClr val="2A1E17"/>
                    </a:solidFill>
                  </a:tcPr>
                </a:tc>
                <a:tc>
                  <a:txBody>
                    <a:bodyPr/>
                    <a:lstStyle/>
                    <a:p>
                      <a:pPr>
                        <a:defRPr sz="950" b="1">
                          <a:solidFill>
                            <a:srgbClr val="CBD5E1"/>
                          </a:solidFill>
                          <a:latin typeface="Inter"/>
                        </a:defRPr>
                      </a:pPr>
                      <a:r>
                        <a:t>Deducts stock in products.csv &amp; appends to sales.csv</a:t>
                      </a:r>
                    </a:p>
                  </a:txBody>
                  <a:tcPr anchor="ctr">
                    <a:solidFill>
                      <a:srgbClr val="2A1E17"/>
                    </a:solidFill>
                  </a:tcPr>
                </a:tc>
                <a:tc>
                  <a:txBody>
                    <a:bodyPr/>
                    <a:lstStyle/>
                    <a:p>
                      <a:pPr>
                        <a:defRPr sz="950" b="1">
                          <a:solidFill>
                            <a:srgbClr val="CBD5E1"/>
                          </a:solidFill>
                          <a:latin typeface="Inter"/>
                        </a:defRPr>
                      </a:pPr>
                      <a:r>
                        <a:t>No</a:t>
                      </a:r>
                    </a:p>
                  </a:txBody>
                  <a:tcPr anchor="ctr">
                    <a:solidFill>
                      <a:srgbClr val="2A1E17"/>
                    </a:solidFill>
                  </a:tcPr>
                </a:tc>
              </a:tr>
              <a:tr h="359232">
                <a:tc>
                  <a:txBody>
                    <a:bodyPr/>
                    <a:lstStyle/>
                    <a:p>
                      <a:pPr>
                        <a:defRPr sz="950" b="1">
                          <a:solidFill>
                            <a:srgbClr val="F8FAFC"/>
                          </a:solidFill>
                          <a:latin typeface="JetBrains Mono"/>
                        </a:defRPr>
                      </a:pPr>
                      <a:r>
                        <a:t>GET</a:t>
                      </a:r>
                    </a:p>
                  </a:txBody>
                  <a:tcPr anchor="ctr">
                    <a:solidFill>
                      <a:srgbClr val="162032"/>
                    </a:solidFill>
                  </a:tcPr>
                </a:tc>
                <a:tc>
                  <a:txBody>
                    <a:bodyPr/>
                    <a:lstStyle/>
                    <a:p>
                      <a:pPr>
                        <a:defRPr sz="950" b="0">
                          <a:solidFill>
                            <a:srgbClr val="CBD5E1"/>
                          </a:solidFill>
                          <a:latin typeface="Inter"/>
                        </a:defRPr>
                      </a:pPr>
                      <a:r>
                        <a:t>/api/v1/ai/insights</a:t>
                      </a:r>
                    </a:p>
                  </a:txBody>
                  <a:tcPr anchor="ctr">
                    <a:solidFill>
                      <a:srgbClr val="162032"/>
                    </a:solidFill>
                  </a:tcPr>
                </a:tc>
                <a:tc>
                  <a:txBody>
                    <a:bodyPr/>
                    <a:lstStyle/>
                    <a:p>
                      <a:pPr>
                        <a:defRPr sz="950" b="0">
                          <a:solidFill>
                            <a:srgbClr val="CBD5E1"/>
                          </a:solidFill>
                          <a:latin typeface="Inter"/>
                        </a:defRPr>
                      </a:pPr>
                      <a:r>
                        <a:t>Triggers ai_assistant.py reorder point analysis</a:t>
                      </a:r>
                    </a:p>
                  </a:txBody>
                  <a:tcPr anchor="ctr">
                    <a:solidFill>
                      <a:srgbClr val="162032"/>
                    </a:solidFill>
                  </a:tcPr>
                </a:tc>
                <a:tc>
                  <a:txBody>
                    <a:bodyPr/>
                    <a:lstStyle/>
                    <a:p>
                      <a:pPr>
                        <a:defRPr sz="950" b="0">
                          <a:solidFill>
                            <a:srgbClr val="CBD5E1"/>
                          </a:solidFill>
                          <a:latin typeface="Inter"/>
                        </a:defRPr>
                      </a:pPr>
                      <a:r>
                        <a:t>Yes</a:t>
                      </a:r>
                    </a:p>
                  </a:txBody>
                  <a:tcPr anchor="ctr">
                    <a:solidFill>
                      <a:srgbClr val="162032"/>
                    </a:solidFill>
                  </a:tcPr>
                </a:tc>
              </a:tr>
            </a:tbl>
          </a:graphicData>
        </a:graphic>
      </p:graphicFrame>
      <p:sp>
        <p:nvSpPr>
          <p:cNvPr id="8" name="Rounded Rectangle 7"/>
          <p:cNvSpPr/>
          <p:nvPr/>
        </p:nvSpPr>
        <p:spPr>
          <a:xfrm>
            <a:off x="457200" y="4096512"/>
            <a:ext cx="5303520" cy="2304288"/>
          </a:xfrm>
          <a:prstGeom prst="roundRect">
            <a:avLst>
              <a:gd name="adj" fmla="val 2000"/>
            </a:avLst>
          </a:prstGeom>
          <a:solidFill>
            <a:srgbClr val="090D16"/>
          </a:solidFill>
          <a:ln w="15875">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spcAft>
                <a:spcPts val="600"/>
              </a:spcAft>
              <a:defRPr sz="1000" b="1">
                <a:solidFill>
                  <a:srgbClr val="06B6D4"/>
                </a:solidFill>
                <a:latin typeface="JetBrains Mono"/>
              </a:defRPr>
            </a:pPr>
            <a:r>
              <a:t>// CANONICAL PAYLOAD: GET /api/v1/products/PD002</a:t>
            </a:r>
          </a:p>
          <a:p>
            <a:pPr>
              <a:spcAft>
                <a:spcPts val="150"/>
              </a:spcAft>
              <a:defRPr sz="950">
                <a:solidFill>
                  <a:srgbClr val="38BDF8"/>
                </a:solidFill>
                <a:latin typeface="JetBrains Mono"/>
              </a:defRPr>
            </a:pPr>
            <a:r>
              <a:t>{</a:t>
            </a:r>
          </a:p>
          <a:p>
            <a:pPr>
              <a:spcAft>
                <a:spcPts val="150"/>
              </a:spcAft>
              <a:defRPr sz="950">
                <a:solidFill>
                  <a:srgbClr val="38BDF8"/>
                </a:solidFill>
                <a:latin typeface="JetBrains Mono"/>
              </a:defRPr>
            </a:pPr>
            <a:r>
              <a:t>  "status": "success",</a:t>
            </a:r>
          </a:p>
          <a:p>
            <a:pPr>
              <a:spcAft>
                <a:spcPts val="150"/>
              </a:spcAft>
              <a:defRPr sz="950">
                <a:solidFill>
                  <a:srgbClr val="38BDF8"/>
                </a:solidFill>
                <a:latin typeface="JetBrains Mono"/>
              </a:defRPr>
            </a:pPr>
            <a:r>
              <a:t>  "data": {</a:t>
            </a:r>
          </a:p>
          <a:p>
            <a:pPr>
              <a:spcAft>
                <a:spcPts val="150"/>
              </a:spcAft>
              <a:defRPr sz="950">
                <a:solidFill>
                  <a:srgbClr val="38BDF8"/>
                </a:solidFill>
                <a:latin typeface="JetBrains Mono"/>
              </a:defRPr>
            </a:pPr>
            <a:r>
              <a:t>    "id": "PD002",</a:t>
            </a:r>
          </a:p>
          <a:p>
            <a:pPr>
              <a:spcAft>
                <a:spcPts val="150"/>
              </a:spcAft>
              <a:defRPr sz="950">
                <a:solidFill>
                  <a:srgbClr val="38BDF8"/>
                </a:solidFill>
                <a:latin typeface="JetBrains Mono"/>
              </a:defRPr>
            </a:pPr>
            <a:r>
              <a:t>    "name": "DELL",</a:t>
            </a:r>
          </a:p>
          <a:p>
            <a:pPr>
              <a:spcAft>
                <a:spcPts val="150"/>
              </a:spcAft>
              <a:defRPr sz="950">
                <a:solidFill>
                  <a:srgbClr val="38BDF8"/>
                </a:solidFill>
                <a:latin typeface="JetBrains Mono"/>
              </a:defRPr>
            </a:pPr>
            <a:r>
              <a:t>    "quantity": 2,</a:t>
            </a:r>
          </a:p>
          <a:p>
            <a:pPr>
              <a:spcAft>
                <a:spcPts val="150"/>
              </a:spcAft>
              <a:defRPr sz="950">
                <a:solidFill>
                  <a:srgbClr val="38BDF8"/>
                </a:solidFill>
                <a:latin typeface="JetBrains Mono"/>
              </a:defRPr>
            </a:pPr>
            <a:r>
              <a:t>    "price": 150.00,</a:t>
            </a:r>
          </a:p>
          <a:p>
            <a:pPr>
              <a:spcAft>
                <a:spcPts val="150"/>
              </a:spcAft>
              <a:defRPr sz="950">
                <a:solidFill>
                  <a:srgbClr val="38BDF8"/>
                </a:solidFill>
                <a:latin typeface="JetBrains Mono"/>
              </a:defRPr>
            </a:pPr>
            <a:r>
              <a:t>    "minimum_stock": 5,</a:t>
            </a:r>
          </a:p>
          <a:p>
            <a:pPr>
              <a:spcAft>
                <a:spcPts val="150"/>
              </a:spcAft>
              <a:defRPr sz="950">
                <a:solidFill>
                  <a:srgbClr val="38BDF8"/>
                </a:solidFill>
                <a:latin typeface="JetBrains Mono"/>
              </a:defRPr>
            </a:pPr>
            <a:r>
              <a:t>    "is_low_stock": true,</a:t>
            </a:r>
          </a:p>
          <a:p>
            <a:pPr>
              <a:spcAft>
                <a:spcPts val="150"/>
              </a:spcAft>
              <a:defRPr sz="950">
                <a:solidFill>
                  <a:srgbClr val="38BDF8"/>
                </a:solidFill>
                <a:latin typeface="JetBrains Mono"/>
              </a:defRPr>
            </a:pPr>
            <a:r>
              <a:t>    "deficit_units": 3</a:t>
            </a:r>
          </a:p>
          <a:p>
            <a:pPr>
              <a:spcAft>
                <a:spcPts val="150"/>
              </a:spcAft>
              <a:defRPr sz="950">
                <a:solidFill>
                  <a:srgbClr val="38BDF8"/>
                </a:solidFill>
                <a:latin typeface="JetBrains Mono"/>
              </a:defRPr>
            </a:pPr>
            <a:r>
              <a:t>  }</a:t>
            </a:r>
          </a:p>
          <a:p>
            <a:pPr>
              <a:spcAft>
                <a:spcPts val="150"/>
              </a:spcAft>
              <a:defRPr sz="950">
                <a:solidFill>
                  <a:srgbClr val="38BDF8"/>
                </a:solidFill>
                <a:latin typeface="JetBrains Mono"/>
              </a:defRPr>
            </a:pPr>
            <a:r>
              <a:t>}</a:t>
            </a:r>
          </a:p>
        </p:txBody>
      </p:sp>
      <p:sp>
        <p:nvSpPr>
          <p:cNvPr id="9" name="Rounded Rectangle 8"/>
          <p:cNvSpPr/>
          <p:nvPr/>
        </p:nvSpPr>
        <p:spPr>
          <a:xfrm>
            <a:off x="5943600" y="4096512"/>
            <a:ext cx="5788152" cy="2304288"/>
          </a:xfrm>
          <a:prstGeom prst="roundRect">
            <a:avLst>
              <a:gd name="adj" fmla="val 2000"/>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F59E0B"/>
                </a:solidFill>
                <a:latin typeface="Inter"/>
              </a:defRPr>
            </a:pPr>
            <a:r>
              <a:t>Strict HTTP Status Code Discipline (api.py)</a:t>
            </a:r>
          </a:p>
          <a:p>
            <a:pPr>
              <a:spcAft>
                <a:spcPts val="400"/>
              </a:spcAft>
              <a:defRPr sz="980">
                <a:solidFill>
                  <a:srgbClr val="CBD5E1"/>
                </a:solidFill>
                <a:latin typeface="Inter"/>
              </a:defRPr>
            </a:pPr>
            <a:r>
              <a:t>▸  200 OK / 201 Created: Deterministic read or validated resource persistence.</a:t>
            </a:r>
          </a:p>
          <a:p>
            <a:pPr>
              <a:spcAft>
                <a:spcPts val="400"/>
              </a:spcAft>
              <a:defRPr sz="980">
                <a:solidFill>
                  <a:srgbClr val="CBD5E1"/>
                </a:solidFill>
                <a:latin typeface="Inter"/>
              </a:defRPr>
            </a:pPr>
            <a:r>
              <a:t>▸  400 Bad Request: Malformed JSON payload syntax or missing Content-Type header.</a:t>
            </a:r>
          </a:p>
          <a:p>
            <a:pPr>
              <a:spcAft>
                <a:spcPts val="400"/>
              </a:spcAft>
              <a:defRPr sz="980">
                <a:solidFill>
                  <a:srgbClr val="CBD5E1"/>
                </a:solidFill>
                <a:latin typeface="Inter"/>
              </a:defRPr>
            </a:pPr>
            <a:r>
              <a:t>▸  404 Not Found: Requested SKU ID (e.g., PD999) absent from products.csv index.</a:t>
            </a:r>
          </a:p>
          <a:p>
            <a:pPr>
              <a:spcAft>
                <a:spcPts val="400"/>
              </a:spcAft>
              <a:defRPr sz="980">
                <a:solidFill>
                  <a:srgbClr val="CBD5E1"/>
                </a:solidFill>
                <a:latin typeface="Inter"/>
              </a:defRPr>
            </a:pPr>
            <a:r>
              <a:t>▸  409 Conflict [STATE]: Duplicate PK on POST or insufficient stock (Req: 5 &gt; Avail: 2).</a:t>
            </a:r>
          </a:p>
          <a:p>
            <a:pPr>
              <a:spcAft>
                <a:spcPts val="400"/>
              </a:spcAft>
              <a:defRPr sz="980">
                <a:solidFill>
                  <a:srgbClr val="CBD5E1"/>
                </a:solidFill>
                <a:latin typeface="Inter"/>
              </a:defRPr>
            </a:pPr>
            <a:r>
              <a:t>▸  422 Unprocessable Entity [SCHEMA]: Valid JSON, invalid domain value (price: -50.0).</a:t>
            </a:r>
          </a:p>
          <a:p>
            <a:pPr>
              <a:spcAft>
                <a:spcPts val="400"/>
              </a:spcAft>
              <a:defRPr sz="980">
                <a:solidFill>
                  <a:srgbClr val="CBD5E1"/>
                </a:solidFill>
                <a:latin typeface="Inter"/>
              </a:defRPr>
            </a:pPr>
            <a:r>
              <a:t>▸  500 Internal Server Error: Unhandled OS PermissionError or file lock timeout.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058400" cy="274320"/>
          </a:xfrm>
          <a:prstGeom prst="rect">
            <a:avLst/>
          </a:prstGeom>
          <a:noFill/>
        </p:spPr>
        <p:txBody>
          <a:bodyPr wrap="square" lIns="0" tIns="0" rIns="0" bIns="0">
            <a:spAutoFit/>
          </a:bodyPr>
          <a:lstStyle/>
          <a:p>
            <a:pPr>
              <a:defRPr sz="1050" b="1">
                <a:solidFill>
                  <a:srgbClr val="06B6D4"/>
                </a:solidFill>
                <a:latin typeface="JetBrains Mono"/>
              </a:defRPr>
            </a:pPr>
            <a:r>
              <a:t>[AI &amp; ANALYTICS // PREDICTIVE AUTOMATION]</a:t>
            </a:r>
          </a:p>
        </p:txBody>
      </p:sp>
      <p:sp>
        <p:nvSpPr>
          <p:cNvPr id="3" name="Rounded Rectangle 2"/>
          <p:cNvSpPr/>
          <p:nvPr/>
        </p:nvSpPr>
        <p:spPr>
          <a:xfrm>
            <a:off x="11018520" y="256032"/>
            <a:ext cx="713232"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CBD5E1"/>
                </a:solidFill>
                <a:latin typeface="JetBrains Mono"/>
              </a:defRPr>
            </a:pPr>
            <a:r>
              <a:t>08 / 14</a:t>
            </a:r>
          </a:p>
        </p:txBody>
      </p:sp>
      <p:sp>
        <p:nvSpPr>
          <p:cNvPr id="4" name="TextBox 3"/>
          <p:cNvSpPr txBox="1"/>
          <p:nvPr/>
        </p:nvSpPr>
        <p:spPr>
          <a:xfrm>
            <a:off x="457200" y="548640"/>
            <a:ext cx="11274552" cy="713232"/>
          </a:xfrm>
          <a:prstGeom prst="rect">
            <a:avLst/>
          </a:prstGeom>
          <a:noFill/>
        </p:spPr>
        <p:txBody>
          <a:bodyPr wrap="square" lIns="0" tIns="0" rIns="0" bIns="0">
            <a:spAutoFit/>
          </a:bodyPr>
          <a:lstStyle/>
          <a:p>
            <a:pPr>
              <a:defRPr sz="1950" b="1">
                <a:solidFill>
                  <a:srgbClr val="F8FAFC"/>
                </a:solidFill>
                <a:latin typeface="Inter"/>
              </a:defRPr>
            </a:pPr>
            <a:r>
              <a:t>Hybrid Heuristic and Velocity Forecasting Pipeline Automates Reorder Point Calculation and Anomaly Detection</a:t>
            </a:r>
          </a:p>
        </p:txBody>
      </p:sp>
      <p:sp>
        <p:nvSpPr>
          <p:cNvPr id="5" name="Rectangle 4"/>
          <p:cNvSpPr/>
          <p:nvPr/>
        </p:nvSpPr>
        <p:spPr>
          <a:xfrm>
            <a:off x="457200" y="1298448"/>
            <a:ext cx="1127455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65392"/>
            <a:ext cx="11274552" cy="228600"/>
          </a:xfrm>
          <a:prstGeom prst="rect">
            <a:avLst/>
          </a:prstGeom>
          <a:noFill/>
        </p:spPr>
        <p:txBody>
          <a:bodyPr wrap="none" lIns="0" tIns="0" rIns="0" bIns="0">
            <a:spAutoFit/>
          </a:bodyPr>
          <a:lstStyle/>
          <a:p>
            <a:pPr>
              <a:defRPr sz="850">
                <a:solidFill>
                  <a:srgbClr val="334155"/>
                </a:solidFill>
                <a:latin typeface="JetBrains Mono"/>
              </a:defRPr>
            </a:pPr>
            <a:r>
              <a:t>SIMS ARCHITECTURAL DEFENSE  //  EBUBECHUKWU WILLIAM AYOZIE  //  TARGET: CPYTHON 3.14 (HEAD -&gt; f9d08b2...c14609)</a:t>
            </a:r>
          </a:p>
        </p:txBody>
      </p:sp>
      <p:sp>
        <p:nvSpPr>
          <p:cNvPr id="7" name="Rounded Rectangle 6"/>
          <p:cNvSpPr/>
          <p:nvPr/>
        </p:nvSpPr>
        <p:spPr>
          <a:xfrm>
            <a:off x="457200" y="1444752"/>
            <a:ext cx="2706624" cy="1298448"/>
          </a:xfrm>
          <a:prstGeom prst="roundRect">
            <a:avLst>
              <a:gd name="adj" fmla="val 2000"/>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06B6D4"/>
                </a:solidFill>
                <a:latin typeface="Inter"/>
              </a:defRPr>
            </a:pPr>
            <a:r>
              <a:t>Stage 1: State Ingestion</a:t>
            </a:r>
          </a:p>
          <a:p>
            <a:pPr>
              <a:spcAft>
                <a:spcPts val="400"/>
              </a:spcAft>
              <a:defRPr sz="950">
                <a:solidFill>
                  <a:srgbClr val="CBD5E1"/>
                </a:solidFill>
                <a:latin typeface="Inter"/>
              </a:defRPr>
            </a:pPr>
            <a:r>
              <a:t>▸  Hydrates products.csv</a:t>
            </a:r>
          </a:p>
          <a:p>
            <a:pPr>
              <a:spcAft>
                <a:spcPts val="400"/>
              </a:spcAft>
              <a:defRPr sz="950">
                <a:solidFill>
                  <a:srgbClr val="CBD5E1"/>
                </a:solidFill>
                <a:latin typeface="Inter"/>
              </a:defRPr>
            </a:pPr>
            <a:r>
              <a:t>▸  Streams sales.csv window W</a:t>
            </a:r>
          </a:p>
        </p:txBody>
      </p:sp>
      <p:sp>
        <p:nvSpPr>
          <p:cNvPr id="8" name="Rounded Rectangle 7"/>
          <p:cNvSpPr/>
          <p:nvPr/>
        </p:nvSpPr>
        <p:spPr>
          <a:xfrm>
            <a:off x="3310128" y="1444752"/>
            <a:ext cx="2706624" cy="1298448"/>
          </a:xfrm>
          <a:prstGeom prst="roundRect">
            <a:avLst>
              <a:gd name="adj" fmla="val 2000"/>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06B6D4"/>
                </a:solidFill>
                <a:latin typeface="Inter"/>
              </a:defRPr>
            </a:pPr>
            <a:r>
              <a:t>Stage 2: Burn-Rate Engine</a:t>
            </a:r>
          </a:p>
          <a:p>
            <a:pPr>
              <a:spcAft>
                <a:spcPts val="400"/>
              </a:spcAft>
              <a:defRPr sz="950">
                <a:solidFill>
                  <a:srgbClr val="CBD5E1"/>
                </a:solidFill>
                <a:latin typeface="Inter"/>
              </a:defRPr>
            </a:pPr>
            <a:r>
              <a:t>▸  Computes daily velocity d_bar</a:t>
            </a:r>
          </a:p>
          <a:p>
            <a:pPr>
              <a:spcAft>
                <a:spcPts val="400"/>
              </a:spcAft>
              <a:defRPr sz="950">
                <a:solidFill>
                  <a:srgbClr val="CBD5E1"/>
                </a:solidFill>
                <a:latin typeface="Inter"/>
              </a:defRPr>
            </a:pPr>
            <a:r>
              <a:t>▸  Epsilon guard prevents /0</a:t>
            </a:r>
          </a:p>
        </p:txBody>
      </p:sp>
      <p:sp>
        <p:nvSpPr>
          <p:cNvPr id="9" name="Rounded Rectangle 8"/>
          <p:cNvSpPr/>
          <p:nvPr/>
        </p:nvSpPr>
        <p:spPr>
          <a:xfrm>
            <a:off x="6163056" y="1444752"/>
            <a:ext cx="2706624" cy="1298448"/>
          </a:xfrm>
          <a:prstGeom prst="roundRect">
            <a:avLst>
              <a:gd name="adj" fmla="val 2000"/>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06B6D4"/>
                </a:solidFill>
                <a:latin typeface="Inter"/>
              </a:defRPr>
            </a:pPr>
            <a:r>
              <a:t>Stage 3: ROP &amp; EOQ Solver</a:t>
            </a:r>
          </a:p>
          <a:p>
            <a:pPr>
              <a:spcAft>
                <a:spcPts val="400"/>
              </a:spcAft>
              <a:defRPr sz="950">
                <a:solidFill>
                  <a:srgbClr val="CBD5E1"/>
                </a:solidFill>
                <a:latin typeface="Inter"/>
              </a:defRPr>
            </a:pPr>
            <a:r>
              <a:t>▸  Safety Stock Z*sigma*sqrt(L)</a:t>
            </a:r>
          </a:p>
          <a:p>
            <a:pPr>
              <a:spcAft>
                <a:spcPts val="400"/>
              </a:spcAft>
              <a:defRPr sz="950">
                <a:solidFill>
                  <a:srgbClr val="CBD5E1"/>
                </a:solidFill>
                <a:latin typeface="Inter"/>
              </a:defRPr>
            </a:pPr>
            <a:r>
              <a:t>▸  Dynamic Reorder Point</a:t>
            </a:r>
          </a:p>
        </p:txBody>
      </p:sp>
      <p:sp>
        <p:nvSpPr>
          <p:cNvPr id="10" name="Rounded Rectangle 9"/>
          <p:cNvSpPr/>
          <p:nvPr/>
        </p:nvSpPr>
        <p:spPr>
          <a:xfrm>
            <a:off x="9015984" y="1444752"/>
            <a:ext cx="2706624" cy="1298448"/>
          </a:xfrm>
          <a:prstGeom prst="roundRect">
            <a:avLst>
              <a:gd name="adj" fmla="val 2000"/>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F59E0B"/>
                </a:solidFill>
                <a:latin typeface="Inter"/>
              </a:defRPr>
            </a:pPr>
            <a:r>
              <a:t>Stage 4: Advisory Synthesis</a:t>
            </a:r>
          </a:p>
          <a:p>
            <a:pPr>
              <a:spcAft>
                <a:spcPts val="400"/>
              </a:spcAft>
              <a:defRPr sz="950">
                <a:solidFill>
                  <a:srgbClr val="CBD5E1"/>
                </a:solidFill>
                <a:latin typeface="Inter"/>
              </a:defRPr>
            </a:pPr>
            <a:r>
              <a:t>▸  Flags PD002 (-3 deficit)</a:t>
            </a:r>
          </a:p>
          <a:p>
            <a:pPr>
              <a:spcAft>
                <a:spcPts val="400"/>
              </a:spcAft>
              <a:defRPr sz="950">
                <a:solidFill>
                  <a:srgbClr val="CBD5E1"/>
                </a:solidFill>
                <a:latin typeface="Inter"/>
              </a:defRPr>
            </a:pPr>
            <a:r>
              <a:t>▸  Emits procurement directive</a:t>
            </a:r>
          </a:p>
        </p:txBody>
      </p:sp>
      <p:sp>
        <p:nvSpPr>
          <p:cNvPr id="11" name="Rounded Rectangle 10"/>
          <p:cNvSpPr/>
          <p:nvPr/>
        </p:nvSpPr>
        <p:spPr>
          <a:xfrm>
            <a:off x="457200" y="2926080"/>
            <a:ext cx="5760720" cy="3474720"/>
          </a:xfrm>
          <a:prstGeom prst="roundRect">
            <a:avLst>
              <a:gd name="adj" fmla="val 2000"/>
            </a:avLst>
          </a:prstGeom>
          <a:solidFill>
            <a:srgbClr val="090D16"/>
          </a:solidFill>
          <a:ln w="15875">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spcAft>
                <a:spcPts val="600"/>
              </a:spcAft>
              <a:defRPr sz="1000" b="1">
                <a:solidFill>
                  <a:srgbClr val="06B6D4"/>
                </a:solidFill>
                <a:latin typeface="JetBrains Mono"/>
              </a:defRPr>
            </a:pPr>
            <a:r>
              <a:t>// MATHEMATICAL FORMULATION (ai_assistant.py)</a:t>
            </a:r>
          </a:p>
          <a:p>
            <a:pPr>
              <a:spcAft>
                <a:spcPts val="150"/>
              </a:spcAft>
              <a:defRPr sz="950">
                <a:solidFill>
                  <a:srgbClr val="38BDF8"/>
                </a:solidFill>
                <a:latin typeface="JetBrains Mono"/>
              </a:defRPr>
            </a:pPr>
            <a:r>
              <a:t>1. Average Daily Demand &amp; Days of Inventory Remaining (DIR):</a:t>
            </a:r>
          </a:p>
          <a:p>
            <a:pPr>
              <a:spcAft>
                <a:spcPts val="150"/>
              </a:spcAft>
              <a:defRPr sz="950">
                <a:solidFill>
                  <a:srgbClr val="38BDF8"/>
                </a:solidFill>
                <a:latin typeface="JetBrains Mono"/>
              </a:defRPr>
            </a:pPr>
            <a:r>
              <a:t>   d_bar_i = (1 / W) * Sum_{t=1..W}(q_{i,t})</a:t>
            </a:r>
          </a:p>
          <a:p>
            <a:pPr>
              <a:spcAft>
                <a:spcPts val="150"/>
              </a:spcAft>
              <a:defRPr sz="950">
                <a:solidFill>
                  <a:srgbClr val="38BDF8"/>
                </a:solidFill>
                <a:latin typeface="JetBrains Mono"/>
              </a:defRPr>
            </a:pPr>
            <a:r>
              <a:t>   DIR     = Q_curr / max(d_bar_i, epsilon)   # epsilon = 1e-6 (/0 Guard)</a:t>
            </a:r>
          </a:p>
          <a:p>
            <a:pPr>
              <a:spcAft>
                <a:spcPts val="150"/>
              </a:spcAft>
              <a:defRPr sz="950">
                <a:solidFill>
                  <a:srgbClr val="38BDF8"/>
                </a:solidFill>
                <a:latin typeface="JetBrains Mono"/>
              </a:defRPr>
            </a:pPr>
          </a:p>
          <a:p>
            <a:pPr>
              <a:spcAft>
                <a:spcPts val="150"/>
              </a:spcAft>
              <a:defRPr sz="950">
                <a:solidFill>
                  <a:srgbClr val="38BDF8"/>
                </a:solidFill>
                <a:latin typeface="JetBrains Mono"/>
              </a:defRPr>
            </a:pPr>
            <a:r>
              <a:t>2. Dynamic Safety Stock (SS) &amp; Reorder Point (ROP):</a:t>
            </a:r>
          </a:p>
          <a:p>
            <a:pPr>
              <a:spcAft>
                <a:spcPts val="150"/>
              </a:spcAft>
              <a:defRPr sz="950">
                <a:solidFill>
                  <a:srgbClr val="38BDF8"/>
                </a:solidFill>
                <a:latin typeface="JetBrains Mono"/>
              </a:defRPr>
            </a:pPr>
            <a:r>
              <a:t>   SS      = Z_95 * sigma_d * sqrt(L)         # Z_95 = 1.645</a:t>
            </a:r>
          </a:p>
          <a:p>
            <a:pPr>
              <a:spcAft>
                <a:spcPts val="150"/>
              </a:spcAft>
              <a:defRPr sz="950">
                <a:solidFill>
                  <a:srgbClr val="38BDF8"/>
                </a:solidFill>
                <a:latin typeface="JetBrains Mono"/>
              </a:defRPr>
            </a:pPr>
            <a:r>
              <a:t>   ROP     = (d_bar_i * L) + max(R_min, SS)</a:t>
            </a:r>
          </a:p>
          <a:p>
            <a:pPr>
              <a:spcAft>
                <a:spcPts val="150"/>
              </a:spcAft>
              <a:defRPr sz="950">
                <a:solidFill>
                  <a:srgbClr val="38BDF8"/>
                </a:solidFill>
                <a:latin typeface="JetBrains Mono"/>
              </a:defRPr>
            </a:pPr>
          </a:p>
          <a:p>
            <a:pPr>
              <a:spcAft>
                <a:spcPts val="150"/>
              </a:spcAft>
              <a:defRPr sz="950">
                <a:solidFill>
                  <a:srgbClr val="38BDF8"/>
                </a:solidFill>
                <a:latin typeface="JetBrains Mono"/>
              </a:defRPr>
            </a:pPr>
            <a:r>
              <a:t>3. Economic Order Quantity (EOQ) &amp; Procurement Delta:</a:t>
            </a:r>
          </a:p>
          <a:p>
            <a:pPr>
              <a:spcAft>
                <a:spcPts val="150"/>
              </a:spcAft>
              <a:defRPr sz="950">
                <a:solidFill>
                  <a:srgbClr val="38BDF8"/>
                </a:solidFill>
                <a:latin typeface="JetBrains Mono"/>
              </a:defRPr>
            </a:pPr>
            <a:r>
              <a:t>   EOQ     = sqrt((2 * D * C_o) / C_h)</a:t>
            </a:r>
          </a:p>
          <a:p>
            <a:pPr>
              <a:spcAft>
                <a:spcPts val="150"/>
              </a:spcAft>
              <a:defRPr sz="950">
                <a:solidFill>
                  <a:srgbClr val="38BDF8"/>
                </a:solidFill>
                <a:latin typeface="JetBrains Mono"/>
              </a:defRPr>
            </a:pPr>
            <a:r>
              <a:t>   Delta_Q = max(0, ROP - Q_curr + EOQ)</a:t>
            </a:r>
          </a:p>
        </p:txBody>
      </p:sp>
      <p:sp>
        <p:nvSpPr>
          <p:cNvPr id="12" name="Rounded Rectangle 11"/>
          <p:cNvSpPr/>
          <p:nvPr/>
        </p:nvSpPr>
        <p:spPr>
          <a:xfrm>
            <a:off x="6400800" y="2926080"/>
            <a:ext cx="5330952" cy="3474720"/>
          </a:xfrm>
          <a:prstGeom prst="roundRect">
            <a:avLst>
              <a:gd name="adj" fmla="val 2000"/>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F59E0B"/>
                </a:solidFill>
                <a:latin typeface="Inter"/>
              </a:defRPr>
            </a:pPr>
            <a:r>
              <a:t>Live Diagnostic Synthesis: SKU PD002 (DELL)</a:t>
            </a:r>
          </a:p>
          <a:p>
            <a:pPr>
              <a:spcAft>
                <a:spcPts val="400"/>
              </a:spcAft>
              <a:defRPr sz="1050">
                <a:solidFill>
                  <a:srgbClr val="CBD5E1"/>
                </a:solidFill>
                <a:latin typeface="Inter"/>
              </a:defRPr>
            </a:pPr>
            <a:r>
              <a:t>▸  Detected State Anomaly: PD002 holds Q_curr = 2 against R_min = 5 (60% below safety floor).</a:t>
            </a:r>
          </a:p>
          <a:p>
            <a:pPr>
              <a:spcAft>
                <a:spcPts val="400"/>
              </a:spcAft>
              <a:defRPr sz="1050">
                <a:solidFill>
                  <a:srgbClr val="CBD5E1"/>
                </a:solidFill>
                <a:latin typeface="Inter"/>
              </a:defRPr>
            </a:pPr>
            <a:r>
              <a:t>▸  Cold-Start Fallback Verification: When sales.csv is empty (N_sales == 0), ROP defaults deterministically to R_min = 5.</a:t>
            </a:r>
          </a:p>
          <a:p>
            <a:pPr>
              <a:spcAft>
                <a:spcPts val="400"/>
              </a:spcAft>
              <a:defRPr sz="1050">
                <a:solidFill>
                  <a:srgbClr val="CBD5E1"/>
                </a:solidFill>
                <a:latin typeface="Inter"/>
              </a:defRPr>
            </a:pPr>
            <a:r>
              <a:t>▸  AI Advisory Output: "CRITICAL RESTOCK: SKU PD002 (DELL) is 3 units below safety floor (2/5). Immediate procurement of &gt;= 8 units ($1,200.00 capital allocation at $150.00/unit) required to prevent stockout."</a:t>
            </a:r>
          </a:p>
          <a:p>
            <a:pPr>
              <a:spcAft>
                <a:spcPts val="400"/>
              </a:spcAft>
              <a:defRPr sz="1050">
                <a:solidFill>
                  <a:srgbClr val="CBD5E1"/>
                </a:solidFill>
                <a:latin typeface="Inter"/>
              </a:defRPr>
            </a:pPr>
            <a:r>
              <a:t>▸  Compiled Artifact: ai_assistant.cpython-314.pyc.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058400" cy="274320"/>
          </a:xfrm>
          <a:prstGeom prst="rect">
            <a:avLst/>
          </a:prstGeom>
          <a:noFill/>
        </p:spPr>
        <p:txBody>
          <a:bodyPr wrap="square" lIns="0" tIns="0" rIns="0" bIns="0">
            <a:spAutoFit/>
          </a:bodyPr>
          <a:lstStyle/>
          <a:p>
            <a:pPr>
              <a:defRPr sz="1050" b="1">
                <a:solidFill>
                  <a:srgbClr val="06B6D4"/>
                </a:solidFill>
                <a:latin typeface="JetBrains Mono"/>
              </a:defRPr>
            </a:pPr>
            <a:r>
              <a:t>[CONCURRENCY CONTROL // ATOMIC I/O]</a:t>
            </a:r>
          </a:p>
        </p:txBody>
      </p:sp>
      <p:sp>
        <p:nvSpPr>
          <p:cNvPr id="3" name="Rounded Rectangle 2"/>
          <p:cNvSpPr/>
          <p:nvPr/>
        </p:nvSpPr>
        <p:spPr>
          <a:xfrm>
            <a:off x="11018520" y="256032"/>
            <a:ext cx="713232"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CBD5E1"/>
                </a:solidFill>
                <a:latin typeface="JetBrains Mono"/>
              </a:defRPr>
            </a:pPr>
            <a:r>
              <a:t>09 / 14</a:t>
            </a:r>
          </a:p>
        </p:txBody>
      </p:sp>
      <p:sp>
        <p:nvSpPr>
          <p:cNvPr id="4" name="TextBox 3"/>
          <p:cNvSpPr txBox="1"/>
          <p:nvPr/>
        </p:nvSpPr>
        <p:spPr>
          <a:xfrm>
            <a:off x="457200" y="548640"/>
            <a:ext cx="11274552" cy="713232"/>
          </a:xfrm>
          <a:prstGeom prst="rect">
            <a:avLst/>
          </a:prstGeom>
          <a:noFill/>
        </p:spPr>
        <p:txBody>
          <a:bodyPr wrap="square" lIns="0" tIns="0" rIns="0" bIns="0">
            <a:spAutoFit/>
          </a:bodyPr>
          <a:lstStyle/>
          <a:p>
            <a:pPr>
              <a:defRPr sz="1950" b="1">
                <a:solidFill>
                  <a:srgbClr val="F8FAFC"/>
                </a:solidFill>
                <a:latin typeface="Inter"/>
              </a:defRPr>
            </a:pPr>
            <a:r>
              <a:t>Exclusive OS File Locking and Write-Replace-Rename Semantics Eliminate Multi-Writer Race Conditions</a:t>
            </a:r>
          </a:p>
        </p:txBody>
      </p:sp>
      <p:sp>
        <p:nvSpPr>
          <p:cNvPr id="5" name="Rectangle 4"/>
          <p:cNvSpPr/>
          <p:nvPr/>
        </p:nvSpPr>
        <p:spPr>
          <a:xfrm>
            <a:off x="457200" y="1298448"/>
            <a:ext cx="1127455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65392"/>
            <a:ext cx="11274552" cy="228600"/>
          </a:xfrm>
          <a:prstGeom prst="rect">
            <a:avLst/>
          </a:prstGeom>
          <a:noFill/>
        </p:spPr>
        <p:txBody>
          <a:bodyPr wrap="none" lIns="0" tIns="0" rIns="0" bIns="0">
            <a:spAutoFit/>
          </a:bodyPr>
          <a:lstStyle/>
          <a:p>
            <a:pPr>
              <a:defRPr sz="850">
                <a:solidFill>
                  <a:srgbClr val="334155"/>
                </a:solidFill>
                <a:latin typeface="JetBrains Mono"/>
              </a:defRPr>
            </a:pPr>
            <a:r>
              <a:t>SIMS ARCHITECTURAL DEFENSE  //  EBUBECHUKWU WILLIAM AYOZIE  //  TARGET: CPYTHON 3.14 (HEAD -&gt; f9d08b2...c14609)</a:t>
            </a:r>
          </a:p>
        </p:txBody>
      </p:sp>
      <p:sp>
        <p:nvSpPr>
          <p:cNvPr id="7" name="Rounded Rectangle 6"/>
          <p:cNvSpPr/>
          <p:nvPr/>
        </p:nvSpPr>
        <p:spPr>
          <a:xfrm>
            <a:off x="457200" y="1463040"/>
            <a:ext cx="5257800" cy="4937760"/>
          </a:xfrm>
          <a:prstGeom prst="roundRect">
            <a:avLst>
              <a:gd name="adj" fmla="val 2000"/>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F59E0B"/>
                </a:solidFill>
                <a:latin typeface="Inter"/>
              </a:defRPr>
            </a:pPr>
            <a:r>
              <a:t>The Multi-Writer Trap: Unprotected Lost Update</a:t>
            </a:r>
          </a:p>
          <a:p>
            <a:pPr>
              <a:spcAft>
                <a:spcPts val="400"/>
              </a:spcAft>
              <a:defRPr sz="1050">
                <a:solidFill>
                  <a:srgbClr val="CBD5E1"/>
                </a:solidFill>
                <a:latin typeface="Inter"/>
              </a:defRPr>
            </a:pPr>
            <a:r>
              <a:t>▸  t_1 [GUI Read]: gui.py reads products.csv -&gt; observes PD002 Quantity = 2.</a:t>
            </a:r>
          </a:p>
          <a:p>
            <a:pPr>
              <a:spcAft>
                <a:spcPts val="400"/>
              </a:spcAft>
              <a:defRPr sz="1050">
                <a:solidFill>
                  <a:srgbClr val="CBD5E1"/>
                </a:solidFill>
                <a:latin typeface="Inter"/>
              </a:defRPr>
            </a:pPr>
            <a:r>
              <a:t>▸  t_2 [API Read]: api.py receives POST /sales (1 unit) -&gt; reads products.csv -&gt; observes PD002 Quantity = 2.</a:t>
            </a:r>
          </a:p>
          <a:p>
            <a:pPr>
              <a:spcAft>
                <a:spcPts val="400"/>
              </a:spcAft>
              <a:defRPr sz="1050">
                <a:solidFill>
                  <a:srgbClr val="CBD5E1"/>
                </a:solidFill>
                <a:latin typeface="Inter"/>
              </a:defRPr>
            </a:pPr>
            <a:r>
              <a:t>▸  t_3 [GUI Write]: gui.py restocks +10 units -&gt; writes PD002 Quantity = 12 to products.csv.</a:t>
            </a:r>
          </a:p>
          <a:p>
            <a:pPr>
              <a:spcAft>
                <a:spcPts val="400"/>
              </a:spcAft>
              <a:defRPr sz="1050">
                <a:solidFill>
                  <a:srgbClr val="CBD5E1"/>
                </a:solidFill>
                <a:latin typeface="Inter"/>
              </a:defRPr>
            </a:pPr>
            <a:r>
              <a:t>▸  t_4 [API Overwrite]: api.py completes sale deduction (2 - 1 = 1) -&gt; overwrites products.csv with Quantity = 1.</a:t>
            </a:r>
          </a:p>
          <a:p>
            <a:pPr>
              <a:spcAft>
                <a:spcPts val="400"/>
              </a:spcAft>
              <a:defRPr sz="1050">
                <a:solidFill>
                  <a:srgbClr val="CBD5E1"/>
                </a:solidFill>
                <a:latin typeface="Inter"/>
              </a:defRPr>
            </a:pPr>
            <a:r>
              <a:t>▸  Catastrophic Outcome: The 10 restocked units vanish silently (Silent Data Corruption).</a:t>
            </a:r>
          </a:p>
          <a:p>
            <a:pPr>
              <a:spcAft>
                <a:spcPts val="400"/>
              </a:spcAft>
              <a:defRPr sz="1050">
                <a:solidFill>
                  <a:srgbClr val="CBD5E1"/>
                </a:solidFill>
                <a:latin typeface="Inter"/>
              </a:defRPr>
            </a:pPr>
            <a:r>
              <a:t>▸  Second Hazard: Opening products.csv with mode='w' truncates the file to 0 bytes before writing; a crash mid-loop destroys the entire catalog.</a:t>
            </a:r>
          </a:p>
        </p:txBody>
      </p:sp>
      <p:sp>
        <p:nvSpPr>
          <p:cNvPr id="8" name="Rounded Rectangle 7"/>
          <p:cNvSpPr/>
          <p:nvPr/>
        </p:nvSpPr>
        <p:spPr>
          <a:xfrm>
            <a:off x="5897880" y="1463040"/>
            <a:ext cx="5833872" cy="4937760"/>
          </a:xfrm>
          <a:prstGeom prst="roundRect">
            <a:avLst>
              <a:gd name="adj" fmla="val 2000"/>
            </a:avLst>
          </a:prstGeom>
          <a:solidFill>
            <a:srgbClr val="090D16"/>
          </a:solidFill>
          <a:ln w="15875">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spcAft>
                <a:spcPts val="600"/>
              </a:spcAft>
              <a:defRPr sz="1000" b="1">
                <a:solidFill>
                  <a:srgbClr val="06B6D4"/>
                </a:solidFill>
                <a:latin typeface="JetBrains Mono"/>
              </a:defRPr>
            </a:pPr>
            <a:r>
              <a:t>// CRITICAL SECTION &amp; ATOMIC SWAP (inventory.py)</a:t>
            </a:r>
          </a:p>
          <a:p>
            <a:pPr>
              <a:spcAft>
                <a:spcPts val="150"/>
              </a:spcAft>
              <a:defRPr sz="919">
                <a:solidFill>
                  <a:srgbClr val="38BDF8"/>
                </a:solidFill>
                <a:latin typeface="JetBrains Mono"/>
              </a:defRPr>
            </a:pPr>
            <a:r>
              <a:t>import csv, os, tempfile, threading</a:t>
            </a:r>
          </a:p>
          <a:p>
            <a:pPr>
              <a:spcAft>
                <a:spcPts val="150"/>
              </a:spcAft>
              <a:defRPr sz="919">
                <a:solidFill>
                  <a:srgbClr val="38BDF8"/>
                </a:solidFill>
                <a:latin typeface="JetBrains Mono"/>
              </a:defRPr>
            </a:pPr>
            <a:r>
              <a:t>_IO_LOCK = threading.RLock()  # Intra-process mutex</a:t>
            </a:r>
          </a:p>
          <a:p>
            <a:pPr>
              <a:spcAft>
                <a:spcPts val="150"/>
              </a:spcAft>
              <a:defRPr sz="919">
                <a:solidFill>
                  <a:srgbClr val="38BDF8"/>
                </a:solidFill>
                <a:latin typeface="JetBrains Mono"/>
              </a:defRPr>
            </a:pPr>
          </a:p>
          <a:p>
            <a:pPr>
              <a:spcAft>
                <a:spcPts val="150"/>
              </a:spcAft>
              <a:defRPr sz="919">
                <a:solidFill>
                  <a:srgbClr val="38BDF8"/>
                </a:solidFill>
                <a:latin typeface="JetBrains Mono"/>
              </a:defRPr>
            </a:pPr>
            <a:r>
              <a:t>def atomic_write_products(filepath: str, rows: list[dict]) -&gt; None:</a:t>
            </a:r>
          </a:p>
          <a:p>
            <a:pPr>
              <a:spcAft>
                <a:spcPts val="150"/>
              </a:spcAft>
              <a:defRPr sz="919">
                <a:solidFill>
                  <a:srgbClr val="38BDF8"/>
                </a:solidFill>
                <a:latin typeface="JetBrains Mono"/>
              </a:defRPr>
            </a:pPr>
            <a:r>
              <a:t>    with _IO_LOCK:  # Serialize concurrent GUI &amp; API threads</a:t>
            </a:r>
          </a:p>
          <a:p>
            <a:pPr>
              <a:spcAft>
                <a:spcPts val="150"/>
              </a:spcAft>
              <a:defRPr sz="919">
                <a:solidFill>
                  <a:srgbClr val="38BDF8"/>
                </a:solidFill>
                <a:latin typeface="JetBrains Mono"/>
              </a:defRPr>
            </a:pPr>
            <a:r>
              <a:t>        dir_name = os.path.dirname(os.path.abspath(filepath))</a:t>
            </a:r>
          </a:p>
          <a:p>
            <a:pPr>
              <a:spcAft>
                <a:spcPts val="150"/>
              </a:spcAft>
              <a:defRPr sz="919">
                <a:solidFill>
                  <a:srgbClr val="38BDF8"/>
                </a:solidFill>
                <a:latin typeface="JetBrains Mono"/>
              </a:defRPr>
            </a:pPr>
            <a:r>
              <a:t>        with tempfile.NamedTemporaryFile(</a:t>
            </a:r>
          </a:p>
          <a:p>
            <a:pPr>
              <a:spcAft>
                <a:spcPts val="150"/>
              </a:spcAft>
              <a:defRPr sz="919">
                <a:solidFill>
                  <a:srgbClr val="38BDF8"/>
                </a:solidFill>
                <a:latin typeface="JetBrains Mono"/>
              </a:defRPr>
            </a:pPr>
            <a:r>
              <a:t>            'w', dir=dir_name, delete=False, newline=''</a:t>
            </a:r>
          </a:p>
          <a:p>
            <a:pPr>
              <a:spcAft>
                <a:spcPts val="150"/>
              </a:spcAft>
              <a:defRPr sz="919">
                <a:solidFill>
                  <a:srgbClr val="38BDF8"/>
                </a:solidFill>
                <a:latin typeface="JetBrains Mono"/>
              </a:defRPr>
            </a:pPr>
            <a:r>
              <a:t>        ) as tmp:</a:t>
            </a:r>
          </a:p>
          <a:p>
            <a:pPr>
              <a:spcAft>
                <a:spcPts val="150"/>
              </a:spcAft>
              <a:defRPr sz="919">
                <a:solidFill>
                  <a:srgbClr val="38BDF8"/>
                </a:solidFill>
                <a:latin typeface="JetBrains Mono"/>
              </a:defRPr>
            </a:pPr>
            <a:r>
              <a:t>            writer = csv.DictWriter(</a:t>
            </a:r>
          </a:p>
          <a:p>
            <a:pPr>
              <a:spcAft>
                <a:spcPts val="150"/>
              </a:spcAft>
              <a:defRPr sz="919">
                <a:solidFill>
                  <a:srgbClr val="38BDF8"/>
                </a:solidFill>
                <a:latin typeface="JetBrains Mono"/>
              </a:defRPr>
            </a:pPr>
            <a:r>
              <a:t>                tmp,</a:t>
            </a:r>
          </a:p>
          <a:p>
            <a:pPr>
              <a:spcAft>
                <a:spcPts val="150"/>
              </a:spcAft>
              <a:defRPr sz="919">
                <a:solidFill>
                  <a:srgbClr val="38BDF8"/>
                </a:solidFill>
                <a:latin typeface="JetBrains Mono"/>
              </a:defRPr>
            </a:pPr>
            <a:r>
              <a:t>                fieldnames=[</a:t>
            </a:r>
          </a:p>
          <a:p>
            <a:pPr>
              <a:spcAft>
                <a:spcPts val="150"/>
              </a:spcAft>
              <a:defRPr sz="919">
                <a:solidFill>
                  <a:srgbClr val="38BDF8"/>
                </a:solidFill>
                <a:latin typeface="JetBrains Mono"/>
              </a:defRPr>
            </a:pPr>
            <a:r>
              <a:t>                    'ID', 'Name', 'Quantity',</a:t>
            </a:r>
          </a:p>
          <a:p>
            <a:pPr>
              <a:spcAft>
                <a:spcPts val="150"/>
              </a:spcAft>
              <a:defRPr sz="919">
                <a:solidFill>
                  <a:srgbClr val="38BDF8"/>
                </a:solidFill>
                <a:latin typeface="JetBrains Mono"/>
              </a:defRPr>
            </a:pPr>
            <a:r>
              <a:t>                    'Price', 'Minimum Stock'</a:t>
            </a:r>
          </a:p>
          <a:p>
            <a:pPr>
              <a:spcAft>
                <a:spcPts val="150"/>
              </a:spcAft>
              <a:defRPr sz="919">
                <a:solidFill>
                  <a:srgbClr val="38BDF8"/>
                </a:solidFill>
                <a:latin typeface="JetBrains Mono"/>
              </a:defRPr>
            </a:pPr>
            <a:r>
              <a:t>                ]</a:t>
            </a:r>
          </a:p>
          <a:p>
            <a:pPr>
              <a:spcAft>
                <a:spcPts val="150"/>
              </a:spcAft>
              <a:defRPr sz="919">
                <a:solidFill>
                  <a:srgbClr val="38BDF8"/>
                </a:solidFill>
                <a:latin typeface="JetBrains Mono"/>
              </a:defRPr>
            </a:pPr>
            <a:r>
              <a:t>            )</a:t>
            </a:r>
          </a:p>
          <a:p>
            <a:pPr>
              <a:spcAft>
                <a:spcPts val="150"/>
              </a:spcAft>
              <a:defRPr sz="919">
                <a:solidFill>
                  <a:srgbClr val="38BDF8"/>
                </a:solidFill>
                <a:latin typeface="JetBrains Mono"/>
              </a:defRPr>
            </a:pPr>
            <a:r>
              <a:t>            writer.writeheader()</a:t>
            </a:r>
          </a:p>
          <a:p>
            <a:pPr>
              <a:spcAft>
                <a:spcPts val="150"/>
              </a:spcAft>
              <a:defRPr sz="919">
                <a:solidFill>
                  <a:srgbClr val="38BDF8"/>
                </a:solidFill>
                <a:latin typeface="JetBrains Mono"/>
              </a:defRPr>
            </a:pPr>
            <a:r>
              <a:t>            writer.writerows(rows)</a:t>
            </a:r>
          </a:p>
          <a:p>
            <a:pPr>
              <a:spcAft>
                <a:spcPts val="150"/>
              </a:spcAft>
              <a:defRPr sz="919">
                <a:solidFill>
                  <a:srgbClr val="38BDF8"/>
                </a:solidFill>
                <a:latin typeface="JetBrains Mono"/>
              </a:defRPr>
            </a:pPr>
            <a:r>
              <a:t>            tmp.flush()</a:t>
            </a:r>
          </a:p>
          <a:p>
            <a:pPr>
              <a:spcAft>
                <a:spcPts val="150"/>
              </a:spcAft>
              <a:defRPr sz="919">
                <a:solidFill>
                  <a:srgbClr val="38BDF8"/>
                </a:solidFill>
                <a:latin typeface="JetBrains Mono"/>
              </a:defRPr>
            </a:pPr>
            <a:r>
              <a:t>            os.fsync(tmp.fileno())  # Flush OS cache to disk</a:t>
            </a:r>
          </a:p>
          <a:p>
            <a:pPr>
              <a:spcAft>
                <a:spcPts val="150"/>
              </a:spcAft>
              <a:defRPr sz="919">
                <a:solidFill>
                  <a:srgbClr val="38BDF8"/>
                </a:solidFill>
                <a:latin typeface="JetBrains Mono"/>
              </a:defRPr>
            </a:pPr>
            <a:r>
              <a:t>            tmp_path = tmp.name</a:t>
            </a:r>
          </a:p>
          <a:p>
            <a:pPr>
              <a:spcAft>
                <a:spcPts val="150"/>
              </a:spcAft>
              <a:defRPr sz="919">
                <a:solidFill>
                  <a:srgbClr val="38BDF8"/>
                </a:solidFill>
                <a:latin typeface="JetBrains Mono"/>
              </a:defRPr>
            </a:pPr>
          </a:p>
          <a:p>
            <a:pPr>
              <a:spcAft>
                <a:spcPts val="150"/>
              </a:spcAft>
              <a:defRPr sz="919">
                <a:solidFill>
                  <a:srgbClr val="38BDF8"/>
                </a:solidFill>
                <a:latin typeface="JetBrains Mono"/>
              </a:defRPr>
            </a:pPr>
            <a:r>
              <a:t>        # POSIX/NTFS atomic directory entry replacement</a:t>
            </a:r>
          </a:p>
          <a:p>
            <a:pPr>
              <a:spcAft>
                <a:spcPts val="150"/>
              </a:spcAft>
              <a:defRPr sz="919">
                <a:solidFill>
                  <a:srgbClr val="38BDF8"/>
                </a:solidFill>
                <a:latin typeface="JetBrains Mono"/>
              </a:defRPr>
            </a:pPr>
            <a:r>
              <a:t>        os.replace(tmp_path, filepath)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058400" cy="274320"/>
          </a:xfrm>
          <a:prstGeom prst="rect">
            <a:avLst/>
          </a:prstGeom>
          <a:noFill/>
        </p:spPr>
        <p:txBody>
          <a:bodyPr wrap="square" lIns="0" tIns="0" rIns="0" bIns="0">
            <a:spAutoFit/>
          </a:bodyPr>
          <a:lstStyle/>
          <a:p>
            <a:pPr>
              <a:defRPr sz="1050" b="1">
                <a:solidFill>
                  <a:srgbClr val="06B6D4"/>
                </a:solidFill>
                <a:latin typeface="JetBrains Mono"/>
              </a:defRPr>
            </a:pPr>
            <a:r>
              <a:t>[REPOSITORY FORENSICS // GIT &amp; BYTECODE INTERNALS]</a:t>
            </a:r>
          </a:p>
        </p:txBody>
      </p:sp>
      <p:sp>
        <p:nvSpPr>
          <p:cNvPr id="3" name="Rounded Rectangle 2"/>
          <p:cNvSpPr/>
          <p:nvPr/>
        </p:nvSpPr>
        <p:spPr>
          <a:xfrm>
            <a:off x="11018520" y="256032"/>
            <a:ext cx="713232"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CBD5E1"/>
                </a:solidFill>
                <a:latin typeface="JetBrains Mono"/>
              </a:defRPr>
            </a:pPr>
            <a:r>
              <a:t>10 / 14</a:t>
            </a:r>
          </a:p>
        </p:txBody>
      </p:sp>
      <p:sp>
        <p:nvSpPr>
          <p:cNvPr id="4" name="TextBox 3"/>
          <p:cNvSpPr txBox="1"/>
          <p:nvPr/>
        </p:nvSpPr>
        <p:spPr>
          <a:xfrm>
            <a:off x="457200" y="548640"/>
            <a:ext cx="11274552" cy="713232"/>
          </a:xfrm>
          <a:prstGeom prst="rect">
            <a:avLst/>
          </a:prstGeom>
          <a:noFill/>
        </p:spPr>
        <p:txBody>
          <a:bodyPr wrap="square" lIns="0" tIns="0" rIns="0" bIns="0">
            <a:spAutoFit/>
          </a:bodyPr>
          <a:lstStyle/>
          <a:p>
            <a:pPr>
              <a:defRPr sz="1950" b="1">
                <a:solidFill>
                  <a:srgbClr val="F8FAFC"/>
                </a:solidFill>
                <a:latin typeface="Inter"/>
              </a:defRPr>
            </a:pPr>
            <a:r>
              <a:t>Git Object Graph Inspection and CPython 3.14 Bytecode Analysis Reveal Build Lineage and Packaging Hygiene</a:t>
            </a:r>
          </a:p>
        </p:txBody>
      </p:sp>
      <p:sp>
        <p:nvSpPr>
          <p:cNvPr id="5" name="Rectangle 4"/>
          <p:cNvSpPr/>
          <p:nvPr/>
        </p:nvSpPr>
        <p:spPr>
          <a:xfrm>
            <a:off x="457200" y="1298448"/>
            <a:ext cx="1127455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65392"/>
            <a:ext cx="11274552" cy="228600"/>
          </a:xfrm>
          <a:prstGeom prst="rect">
            <a:avLst/>
          </a:prstGeom>
          <a:noFill/>
        </p:spPr>
        <p:txBody>
          <a:bodyPr wrap="none" lIns="0" tIns="0" rIns="0" bIns="0">
            <a:spAutoFit/>
          </a:bodyPr>
          <a:lstStyle/>
          <a:p>
            <a:pPr>
              <a:defRPr sz="850">
                <a:solidFill>
                  <a:srgbClr val="334155"/>
                </a:solidFill>
                <a:latin typeface="JetBrains Mono"/>
              </a:defRPr>
            </a:pPr>
            <a:r>
              <a:t>SIMS ARCHITECTURAL DEFENSE  //  EBUBECHUKWU WILLIAM AYOZIE  //  TARGET: CPYTHON 3.14 (HEAD -&gt; f9d08b2...c14609)</a:t>
            </a:r>
          </a:p>
        </p:txBody>
      </p:sp>
      <p:sp>
        <p:nvSpPr>
          <p:cNvPr id="7" name="Rounded Rectangle 6"/>
          <p:cNvSpPr/>
          <p:nvPr/>
        </p:nvSpPr>
        <p:spPr>
          <a:xfrm>
            <a:off x="457200" y="1463040"/>
            <a:ext cx="5532120" cy="4937760"/>
          </a:xfrm>
          <a:prstGeom prst="roundRect">
            <a:avLst>
              <a:gd name="adj" fmla="val 2000"/>
            </a:avLst>
          </a:prstGeom>
          <a:solidFill>
            <a:srgbClr val="090D16"/>
          </a:solidFill>
          <a:ln w="15875">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spcAft>
                <a:spcPts val="600"/>
              </a:spcAft>
              <a:defRPr sz="1000" b="1">
                <a:solidFill>
                  <a:srgbClr val="06B6D4"/>
                </a:solidFill>
                <a:latin typeface="JetBrains Mono"/>
              </a:defRPr>
            </a:pPr>
            <a:r>
              <a:t>// FORENSIC RECONSTRUCTION OF .git/ OBJECT GRAPH</a:t>
            </a:r>
          </a:p>
          <a:p>
            <a:pPr>
              <a:spcAft>
                <a:spcPts val="150"/>
              </a:spcAft>
              <a:defRPr sz="919">
                <a:solidFill>
                  <a:srgbClr val="38BDF8"/>
                </a:solidFill>
                <a:latin typeface="JetBrains Mono"/>
              </a:defRPr>
            </a:pPr>
            <a:r>
              <a:t>Active Symbolic Ref (.git/HEAD):</a:t>
            </a:r>
          </a:p>
          <a:p>
            <a:pPr>
              <a:spcAft>
                <a:spcPts val="150"/>
              </a:spcAft>
              <a:defRPr sz="919">
                <a:solidFill>
                  <a:srgbClr val="38BDF8"/>
                </a:solidFill>
                <a:latin typeface="JetBrains Mono"/>
              </a:defRPr>
            </a:pPr>
            <a:r>
              <a:t>  ref: refs/heads/main</a:t>
            </a:r>
          </a:p>
          <a:p>
            <a:pPr>
              <a:spcAft>
                <a:spcPts val="150"/>
              </a:spcAft>
              <a:defRPr sz="919">
                <a:solidFill>
                  <a:srgbClr val="38BDF8"/>
                </a:solidFill>
                <a:latin typeface="JetBrains Mono"/>
              </a:defRPr>
            </a:pPr>
          </a:p>
          <a:p>
            <a:pPr>
              <a:spcAft>
                <a:spcPts val="150"/>
              </a:spcAft>
              <a:defRPr sz="919">
                <a:solidFill>
                  <a:srgbClr val="38BDF8"/>
                </a:solidFill>
                <a:latin typeface="JetBrains Mono"/>
              </a:defRPr>
            </a:pPr>
            <a:r>
              <a:t>Branch Tip (refs/heads/main &amp; refs/remotes/origin/main):</a:t>
            </a:r>
          </a:p>
          <a:p>
            <a:pPr>
              <a:spcAft>
                <a:spcPts val="150"/>
              </a:spcAft>
              <a:defRPr sz="919">
                <a:solidFill>
                  <a:srgbClr val="38BDF8"/>
                </a:solidFill>
                <a:latin typeface="JetBrains Mono"/>
              </a:defRPr>
            </a:pPr>
            <a:r>
              <a:t>  Commit SHA-1: f9d08b2f49d55dc2576a10eb05a5eacaa7c14609</a:t>
            </a:r>
          </a:p>
          <a:p>
            <a:pPr>
              <a:spcAft>
                <a:spcPts val="150"/>
              </a:spcAft>
              <a:defRPr sz="919">
                <a:solidFill>
                  <a:srgbClr val="38BDF8"/>
                </a:solidFill>
                <a:latin typeface="JetBrains Mono"/>
              </a:defRPr>
            </a:pPr>
            <a:r>
              <a:t>  Commit Msg  : "Create project sructure"</a:t>
            </a:r>
          </a:p>
          <a:p>
            <a:pPr>
              <a:spcAft>
                <a:spcPts val="150"/>
              </a:spcAft>
              <a:defRPr sz="919">
                <a:solidFill>
                  <a:srgbClr val="38BDF8"/>
                </a:solidFill>
                <a:latin typeface="JetBrains Mono"/>
              </a:defRPr>
            </a:pPr>
          </a:p>
          <a:p>
            <a:pPr>
              <a:spcAft>
                <a:spcPts val="150"/>
              </a:spcAft>
              <a:defRPr sz="919">
                <a:solidFill>
                  <a:srgbClr val="38BDF8"/>
                </a:solidFill>
                <a:latin typeface="JetBrains Mono"/>
              </a:defRPr>
            </a:pPr>
            <a:r>
              <a:t>Verified Loose Objects in .git/objects/:</a:t>
            </a:r>
          </a:p>
          <a:p>
            <a:pPr>
              <a:spcAft>
                <a:spcPts val="150"/>
              </a:spcAft>
              <a:defRPr sz="919">
                <a:solidFill>
                  <a:srgbClr val="38BDF8"/>
                </a:solidFill>
                <a:latin typeface="JetBrains Mono"/>
              </a:defRPr>
            </a:pPr>
            <a:r>
              <a:t>  [f9/d08b2f49d55dc2576a10eb05a5eacaa7c14609]</a:t>
            </a:r>
          </a:p>
          <a:p>
            <a:pPr>
              <a:spcAft>
                <a:spcPts val="150"/>
              </a:spcAft>
              <a:defRPr sz="919">
                <a:solidFill>
                  <a:srgbClr val="38BDF8"/>
                </a:solidFill>
                <a:latin typeface="JetBrains Mono"/>
              </a:defRPr>
            </a:pPr>
            <a:r>
              <a:t>    -&gt; Root Commit Object (Author, Timestamp, Tree Ptr)</a:t>
            </a:r>
          </a:p>
          <a:p>
            <a:pPr>
              <a:spcAft>
                <a:spcPts val="150"/>
              </a:spcAft>
              <a:defRPr sz="919">
                <a:solidFill>
                  <a:srgbClr val="38BDF8"/>
                </a:solidFill>
                <a:latin typeface="JetBrains Mono"/>
              </a:defRPr>
            </a:pPr>
          </a:p>
          <a:p>
            <a:pPr>
              <a:spcAft>
                <a:spcPts val="150"/>
              </a:spcAft>
              <a:defRPr sz="919">
                <a:solidFill>
                  <a:srgbClr val="38BDF8"/>
                </a:solidFill>
                <a:latin typeface="JetBrains Mono"/>
              </a:defRPr>
            </a:pPr>
            <a:r>
              <a:t>  [29/2e9b1dcc1c85e855caa9a3bd2f9d0be784789d]</a:t>
            </a:r>
          </a:p>
          <a:p>
            <a:pPr>
              <a:spcAft>
                <a:spcPts val="150"/>
              </a:spcAft>
              <a:defRPr sz="919">
                <a:solidFill>
                  <a:srgbClr val="38BDF8"/>
                </a:solidFill>
                <a:latin typeface="JetBrains Mono"/>
              </a:defRPr>
            </a:pPr>
            <a:r>
              <a:t>    -&gt; Root Tree / Directory Listing Object</a:t>
            </a:r>
          </a:p>
          <a:p>
            <a:pPr>
              <a:spcAft>
                <a:spcPts val="150"/>
              </a:spcAft>
              <a:defRPr sz="919">
                <a:solidFill>
                  <a:srgbClr val="38BDF8"/>
                </a:solidFill>
                <a:latin typeface="JetBrains Mono"/>
              </a:defRPr>
            </a:pPr>
          </a:p>
          <a:p>
            <a:pPr>
              <a:spcAft>
                <a:spcPts val="150"/>
              </a:spcAft>
              <a:defRPr sz="919">
                <a:solidFill>
                  <a:srgbClr val="38BDF8"/>
                </a:solidFill>
                <a:latin typeface="JetBrains Mono"/>
              </a:defRPr>
            </a:pPr>
            <a:r>
              <a:t>  [c6/f7c900684084ce67efce102f2a84b5f77a0e26]</a:t>
            </a:r>
          </a:p>
          <a:p>
            <a:pPr>
              <a:spcAft>
                <a:spcPts val="150"/>
              </a:spcAft>
              <a:defRPr sz="919">
                <a:solidFill>
                  <a:srgbClr val="38BDF8"/>
                </a:solidFill>
                <a:latin typeface="JetBrains Mono"/>
              </a:defRPr>
            </a:pPr>
            <a:r>
              <a:t>    -&gt; Tracked Source Blob Object</a:t>
            </a:r>
          </a:p>
          <a:p>
            <a:pPr>
              <a:spcAft>
                <a:spcPts val="150"/>
              </a:spcAft>
              <a:defRPr sz="919">
                <a:solidFill>
                  <a:srgbClr val="38BDF8"/>
                </a:solidFill>
                <a:latin typeface="JetBrains Mono"/>
              </a:defRPr>
            </a:pPr>
          </a:p>
          <a:p>
            <a:pPr>
              <a:spcAft>
                <a:spcPts val="150"/>
              </a:spcAft>
              <a:defRPr sz="919">
                <a:solidFill>
                  <a:srgbClr val="38BDF8"/>
                </a:solidFill>
                <a:latin typeface="JetBrains Mono"/>
              </a:defRPr>
            </a:pPr>
            <a:r>
              <a:t>  [e6/9de29bb2d1d6434b8b29ae775ad8c2e48c5391]</a:t>
            </a:r>
          </a:p>
          <a:p>
            <a:pPr>
              <a:spcAft>
                <a:spcPts val="150"/>
              </a:spcAft>
              <a:defRPr sz="919">
                <a:solidFill>
                  <a:srgbClr val="38BDF8"/>
                </a:solidFill>
                <a:latin typeface="JetBrains Mono"/>
              </a:defRPr>
            </a:pPr>
            <a:r>
              <a:t>    -&gt; Canonical Git Empty Blob: SHA-1("blob 0\0")</a:t>
            </a:r>
          </a:p>
          <a:p>
            <a:pPr>
              <a:spcAft>
                <a:spcPts val="150"/>
              </a:spcAft>
              <a:defRPr sz="919">
                <a:solidFill>
                  <a:srgbClr val="38BDF8"/>
                </a:solidFill>
                <a:latin typeface="JetBrains Mono"/>
              </a:defRPr>
            </a:pPr>
            <a:r>
              <a:t>       Maps to 0-byte initialized files (e.g., README.md)</a:t>
            </a:r>
          </a:p>
        </p:txBody>
      </p:sp>
      <p:sp>
        <p:nvSpPr>
          <p:cNvPr id="8" name="Rounded Rectangle 7"/>
          <p:cNvSpPr/>
          <p:nvPr/>
        </p:nvSpPr>
        <p:spPr>
          <a:xfrm>
            <a:off x="6172200" y="1463040"/>
            <a:ext cx="5559552" cy="2606040"/>
          </a:xfrm>
          <a:prstGeom prst="roundRect">
            <a:avLst>
              <a:gd name="adj" fmla="val 2000"/>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F59E0B"/>
                </a:solidFill>
                <a:latin typeface="Inter"/>
              </a:defRPr>
            </a:pPr>
            <a:r>
              <a:t>CPython 3.14 Bytecode Analysis (__pycache__/)</a:t>
            </a:r>
          </a:p>
          <a:p>
            <a:pPr>
              <a:spcAft>
                <a:spcPts val="400"/>
              </a:spcAft>
              <a:defRPr sz="1000">
                <a:solidFill>
                  <a:srgbClr val="CBD5E1"/>
                </a:solidFill>
                <a:latin typeface="Inter"/>
              </a:defRPr>
            </a:pPr>
            <a:r>
              <a:t>▸  Cached Artifacts Present: ai_assistant.cpython-314.pyc, api.cpython-314.pyc, gui.cpython-314.pyc, inventory.cpython-314.pyc.</a:t>
            </a:r>
          </a:p>
          <a:p>
            <a:pPr>
              <a:spcAft>
                <a:spcPts val="400"/>
              </a:spcAft>
              <a:defRPr sz="1000">
                <a:solidFill>
                  <a:srgbClr val="CBD5E1"/>
                </a:solidFill>
                <a:latin typeface="Inter"/>
              </a:defRPr>
            </a:pPr>
            <a:r>
              <a:t>▸  Why main.cpython-314.pyc is Absent: CPython importlib only caches imported modules; top-level __main__ (python main.py) compiles in RAM only.</a:t>
            </a:r>
          </a:p>
          <a:p>
            <a:pPr>
              <a:spcAft>
                <a:spcPts val="400"/>
              </a:spcAft>
              <a:defRPr sz="1000">
                <a:solidFill>
                  <a:srgbClr val="CBD5E1"/>
                </a:solidFill>
                <a:latin typeface="Inter"/>
              </a:defRPr>
            </a:pPr>
            <a:r>
              <a:t>▸  Packaging Remediation: Add __pycache__/ and *.py[cod] to .gitignore.</a:t>
            </a:r>
          </a:p>
        </p:txBody>
      </p:sp>
      <p:graphicFrame>
        <p:nvGraphicFramePr>
          <p:cNvPr id="9" name="Table 8"/>
          <p:cNvGraphicFramePr>
            <a:graphicFrameLocks noGrp="1"/>
          </p:cNvGraphicFramePr>
          <p:nvPr/>
        </p:nvGraphicFramePr>
        <p:xfrm>
          <a:off x="6172200" y="4206240"/>
          <a:ext cx="5559552" cy="2194560"/>
        </p:xfrm>
        <a:graphic>
          <a:graphicData uri="http://schemas.openxmlformats.org/drawingml/2006/table">
            <a:tbl>
              <a:tblPr firstRow="1" bandRow="1">
                <a:tableStyleId>{5C22544A-7EE6-4342-B048-85BDC9FD1C3A}</a:tableStyleId>
              </a:tblPr>
              <a:tblGrid>
                <a:gridCol w="1234440"/>
                <a:gridCol w="1417320"/>
                <a:gridCol w="2907792"/>
              </a:tblGrid>
              <a:tr h="438912">
                <a:tc>
                  <a:txBody>
                    <a:bodyPr/>
                    <a:lstStyle/>
                    <a:p>
                      <a:pPr>
                        <a:defRPr sz="1000" b="1">
                          <a:solidFill>
                            <a:srgbClr val="06B6D4"/>
                          </a:solidFill>
                          <a:latin typeface="Inter"/>
                        </a:defRPr>
                      </a:pPr>
                      <a:r>
                        <a:t>Byte Offset</a:t>
                      </a:r>
                    </a:p>
                  </a:txBody>
                  <a:tcPr anchor="ctr">
                    <a:solidFill>
                      <a:srgbClr val="1E293B"/>
                    </a:solidFill>
                  </a:tcPr>
                </a:tc>
                <a:tc>
                  <a:txBody>
                    <a:bodyPr/>
                    <a:lstStyle/>
                    <a:p>
                      <a:pPr>
                        <a:defRPr sz="1000" b="1">
                          <a:solidFill>
                            <a:srgbClr val="06B6D4"/>
                          </a:solidFill>
                          <a:latin typeface="Inter"/>
                        </a:defRPr>
                      </a:pPr>
                      <a:r>
                        <a:t>Field Name</a:t>
                      </a:r>
                    </a:p>
                  </a:txBody>
                  <a:tcPr anchor="ctr">
                    <a:solidFill>
                      <a:srgbClr val="1E293B"/>
                    </a:solidFill>
                  </a:tcPr>
                </a:tc>
                <a:tc>
                  <a:txBody>
                    <a:bodyPr/>
                    <a:lstStyle/>
                    <a:p>
                      <a:pPr>
                        <a:defRPr sz="1000" b="1">
                          <a:solidFill>
                            <a:srgbClr val="06B6D4"/>
                          </a:solidFill>
                          <a:latin typeface="Inter"/>
                        </a:defRPr>
                      </a:pPr>
                      <a:r>
                        <a:t>Forensic Verification Purpose (PEP 552)</a:t>
                      </a:r>
                    </a:p>
                  </a:txBody>
                  <a:tcPr anchor="ctr">
                    <a:solidFill>
                      <a:srgbClr val="1E293B"/>
                    </a:solidFill>
                  </a:tcPr>
                </a:tc>
              </a:tr>
              <a:tr h="438912">
                <a:tc>
                  <a:txBody>
                    <a:bodyPr/>
                    <a:lstStyle/>
                    <a:p>
                      <a:pPr>
                        <a:defRPr sz="950" b="1">
                          <a:solidFill>
                            <a:srgbClr val="F8FAFC"/>
                          </a:solidFill>
                          <a:latin typeface="JetBrains Mono"/>
                        </a:defRPr>
                      </a:pPr>
                      <a:r>
                        <a:t>Bytes 0..3</a:t>
                      </a:r>
                    </a:p>
                  </a:txBody>
                  <a:tcPr anchor="ctr">
                    <a:solidFill>
                      <a:srgbClr val="0F172A"/>
                    </a:solidFill>
                  </a:tcPr>
                </a:tc>
                <a:tc>
                  <a:txBody>
                    <a:bodyPr/>
                    <a:lstStyle/>
                    <a:p>
                      <a:pPr>
                        <a:defRPr sz="950" b="0">
                          <a:solidFill>
                            <a:srgbClr val="CBD5E1"/>
                          </a:solidFill>
                          <a:latin typeface="Inter"/>
                        </a:defRPr>
                      </a:pPr>
                      <a:r>
                        <a:t>Magic Number</a:t>
                      </a:r>
                    </a:p>
                  </a:txBody>
                  <a:tcPr anchor="ctr">
                    <a:solidFill>
                      <a:srgbClr val="0F172A"/>
                    </a:solidFill>
                  </a:tcPr>
                </a:tc>
                <a:tc>
                  <a:txBody>
                    <a:bodyPr/>
                    <a:lstStyle/>
                    <a:p>
                      <a:pPr>
                        <a:defRPr sz="950" b="0">
                          <a:solidFill>
                            <a:srgbClr val="CBD5E1"/>
                          </a:solidFill>
                          <a:latin typeface="Inter"/>
                        </a:defRPr>
                      </a:pPr>
                      <a:r>
                        <a:t>CPython 3.14 bytecode version tag</a:t>
                      </a:r>
                    </a:p>
                  </a:txBody>
                  <a:tcPr anchor="ctr">
                    <a:solidFill>
                      <a:srgbClr val="0F172A"/>
                    </a:solidFill>
                  </a:tcPr>
                </a:tc>
              </a:tr>
              <a:tr h="438912">
                <a:tc>
                  <a:txBody>
                    <a:bodyPr/>
                    <a:lstStyle/>
                    <a:p>
                      <a:pPr>
                        <a:defRPr sz="950" b="1">
                          <a:solidFill>
                            <a:srgbClr val="F8FAFC"/>
                          </a:solidFill>
                          <a:latin typeface="JetBrains Mono"/>
                        </a:defRPr>
                      </a:pPr>
                      <a:r>
                        <a:t>Bytes 4..7</a:t>
                      </a:r>
                    </a:p>
                  </a:txBody>
                  <a:tcPr anchor="ctr">
                    <a:solidFill>
                      <a:srgbClr val="162032"/>
                    </a:solidFill>
                  </a:tcPr>
                </a:tc>
                <a:tc>
                  <a:txBody>
                    <a:bodyPr/>
                    <a:lstStyle/>
                    <a:p>
                      <a:pPr>
                        <a:defRPr sz="950" b="0">
                          <a:solidFill>
                            <a:srgbClr val="CBD5E1"/>
                          </a:solidFill>
                          <a:latin typeface="Inter"/>
                        </a:defRPr>
                      </a:pPr>
                      <a:r>
                        <a:t>Bitfield (0x0)</a:t>
                      </a:r>
                    </a:p>
                  </a:txBody>
                  <a:tcPr anchor="ctr">
                    <a:solidFill>
                      <a:srgbClr val="162032"/>
                    </a:solidFill>
                  </a:tcPr>
                </a:tc>
                <a:tc>
                  <a:txBody>
                    <a:bodyPr/>
                    <a:lstStyle/>
                    <a:p>
                      <a:pPr>
                        <a:defRPr sz="950" b="0">
                          <a:solidFill>
                            <a:srgbClr val="CBD5E1"/>
                          </a:solidFill>
                          <a:latin typeface="Inter"/>
                        </a:defRPr>
                      </a:pPr>
                      <a:r>
                        <a:t>Selects timestamp vs. SIP-hash invalidation</a:t>
                      </a:r>
                    </a:p>
                  </a:txBody>
                  <a:tcPr anchor="ctr">
                    <a:solidFill>
                      <a:srgbClr val="162032"/>
                    </a:solidFill>
                  </a:tcPr>
                </a:tc>
              </a:tr>
              <a:tr h="438912">
                <a:tc>
                  <a:txBody>
                    <a:bodyPr/>
                    <a:lstStyle/>
                    <a:p>
                      <a:pPr>
                        <a:defRPr sz="950" b="1">
                          <a:solidFill>
                            <a:srgbClr val="F8FAFC"/>
                          </a:solidFill>
                          <a:latin typeface="JetBrains Mono"/>
                        </a:defRPr>
                      </a:pPr>
                      <a:r>
                        <a:t>Bytes 8..11</a:t>
                      </a:r>
                    </a:p>
                  </a:txBody>
                  <a:tcPr anchor="ctr">
                    <a:solidFill>
                      <a:srgbClr val="0F172A"/>
                    </a:solidFill>
                  </a:tcPr>
                </a:tc>
                <a:tc>
                  <a:txBody>
                    <a:bodyPr/>
                    <a:lstStyle/>
                    <a:p>
                      <a:pPr>
                        <a:defRPr sz="950" b="0">
                          <a:solidFill>
                            <a:srgbClr val="CBD5E1"/>
                          </a:solidFill>
                          <a:latin typeface="Inter"/>
                        </a:defRPr>
                      </a:pPr>
                      <a:r>
                        <a:t>Source mtime</a:t>
                      </a:r>
                    </a:p>
                  </a:txBody>
                  <a:tcPr anchor="ctr">
                    <a:solidFill>
                      <a:srgbClr val="0F172A"/>
                    </a:solidFill>
                  </a:tcPr>
                </a:tc>
                <a:tc>
                  <a:txBody>
                    <a:bodyPr/>
                    <a:lstStyle/>
                    <a:p>
                      <a:pPr>
                        <a:defRPr sz="950" b="0">
                          <a:solidFill>
                            <a:srgbClr val="CBD5E1"/>
                          </a:solidFill>
                          <a:latin typeface="Inter"/>
                        </a:defRPr>
                      </a:pPr>
                      <a:r>
                        <a:t>32-bit epoch timestamp of .py source file</a:t>
                      </a:r>
                    </a:p>
                  </a:txBody>
                  <a:tcPr anchor="ctr">
                    <a:solidFill>
                      <a:srgbClr val="0F172A"/>
                    </a:solidFill>
                  </a:tcPr>
                </a:tc>
              </a:tr>
              <a:tr h="438912">
                <a:tc>
                  <a:txBody>
                    <a:bodyPr/>
                    <a:lstStyle/>
                    <a:p>
                      <a:pPr>
                        <a:defRPr sz="950" b="1">
                          <a:solidFill>
                            <a:srgbClr val="F8FAFC"/>
                          </a:solidFill>
                          <a:latin typeface="JetBrains Mono"/>
                        </a:defRPr>
                      </a:pPr>
                      <a:r>
                        <a:t>Bytes 12..15</a:t>
                      </a:r>
                    </a:p>
                  </a:txBody>
                  <a:tcPr anchor="ctr">
                    <a:solidFill>
                      <a:srgbClr val="162032"/>
                    </a:solidFill>
                  </a:tcPr>
                </a:tc>
                <a:tc>
                  <a:txBody>
                    <a:bodyPr/>
                    <a:lstStyle/>
                    <a:p>
                      <a:pPr>
                        <a:defRPr sz="950" b="0">
                          <a:solidFill>
                            <a:srgbClr val="CBD5E1"/>
                          </a:solidFill>
                          <a:latin typeface="Inter"/>
                        </a:defRPr>
                      </a:pPr>
                      <a:r>
                        <a:t>Source Size</a:t>
                      </a:r>
                    </a:p>
                  </a:txBody>
                  <a:tcPr anchor="ctr">
                    <a:solidFill>
                      <a:srgbClr val="162032"/>
                    </a:solidFill>
                  </a:tcPr>
                </a:tc>
                <a:tc>
                  <a:txBody>
                    <a:bodyPr/>
                    <a:lstStyle/>
                    <a:p>
                      <a:pPr>
                        <a:defRPr sz="950" b="0">
                          <a:solidFill>
                            <a:srgbClr val="CBD5E1"/>
                          </a:solidFill>
                          <a:latin typeface="Inter"/>
                        </a:defRPr>
                      </a:pPr>
                      <a:r>
                        <a:t>File size modulo 2^32 to detect edits</a:t>
                      </a:r>
                    </a:p>
                  </a:txBody>
                  <a:tcPr anchor="ctr">
                    <a:solidFill>
                      <a:srgbClr val="162032"/>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058400" cy="274320"/>
          </a:xfrm>
          <a:prstGeom prst="rect">
            <a:avLst/>
          </a:prstGeom>
          <a:noFill/>
        </p:spPr>
        <p:txBody>
          <a:bodyPr wrap="square" lIns="0" tIns="0" rIns="0" bIns="0">
            <a:spAutoFit/>
          </a:bodyPr>
          <a:lstStyle/>
          <a:p>
            <a:pPr>
              <a:defRPr sz="1050" b="1">
                <a:solidFill>
                  <a:srgbClr val="06B6D4"/>
                </a:solidFill>
                <a:latin typeface="JetBrains Mono"/>
              </a:defRPr>
            </a:pPr>
            <a:r>
              <a:t>[RESILIENCE ENGINEERING // EDGE-CASE MATRIX]</a:t>
            </a:r>
          </a:p>
        </p:txBody>
      </p:sp>
      <p:sp>
        <p:nvSpPr>
          <p:cNvPr id="3" name="Rounded Rectangle 2"/>
          <p:cNvSpPr/>
          <p:nvPr/>
        </p:nvSpPr>
        <p:spPr>
          <a:xfrm>
            <a:off x="11018520" y="256032"/>
            <a:ext cx="713232"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CBD5E1"/>
                </a:solidFill>
                <a:latin typeface="JetBrains Mono"/>
              </a:defRPr>
            </a:pPr>
            <a:r>
              <a:t>11 / 14</a:t>
            </a:r>
          </a:p>
        </p:txBody>
      </p:sp>
      <p:sp>
        <p:nvSpPr>
          <p:cNvPr id="4" name="TextBox 3"/>
          <p:cNvSpPr txBox="1"/>
          <p:nvPr/>
        </p:nvSpPr>
        <p:spPr>
          <a:xfrm>
            <a:off x="457200" y="548640"/>
            <a:ext cx="11274552" cy="713232"/>
          </a:xfrm>
          <a:prstGeom prst="rect">
            <a:avLst/>
          </a:prstGeom>
          <a:noFill/>
        </p:spPr>
        <p:txBody>
          <a:bodyPr wrap="square" lIns="0" tIns="0" rIns="0" bIns="0">
            <a:spAutoFit/>
          </a:bodyPr>
          <a:lstStyle/>
          <a:p>
            <a:pPr>
              <a:defRPr sz="1950" b="1">
                <a:solidFill>
                  <a:srgbClr val="F8FAFC"/>
                </a:solidFill>
                <a:latin typeface="Inter"/>
              </a:defRPr>
            </a:pPr>
            <a:r>
              <a:t>Defensive Boundary Guards Neutralize Corrupt Headers, Floating-Point Drift, and Negative Stock Exploits</a:t>
            </a:r>
          </a:p>
        </p:txBody>
      </p:sp>
      <p:sp>
        <p:nvSpPr>
          <p:cNvPr id="5" name="Rectangle 4"/>
          <p:cNvSpPr/>
          <p:nvPr/>
        </p:nvSpPr>
        <p:spPr>
          <a:xfrm>
            <a:off x="457200" y="1298448"/>
            <a:ext cx="1127455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65392"/>
            <a:ext cx="11274552" cy="228600"/>
          </a:xfrm>
          <a:prstGeom prst="rect">
            <a:avLst/>
          </a:prstGeom>
          <a:noFill/>
        </p:spPr>
        <p:txBody>
          <a:bodyPr wrap="none" lIns="0" tIns="0" rIns="0" bIns="0">
            <a:spAutoFit/>
          </a:bodyPr>
          <a:lstStyle/>
          <a:p>
            <a:pPr>
              <a:defRPr sz="850">
                <a:solidFill>
                  <a:srgbClr val="334155"/>
                </a:solidFill>
                <a:latin typeface="JetBrains Mono"/>
              </a:defRPr>
            </a:pPr>
            <a:r>
              <a:t>SIMS ARCHITECTURAL DEFENSE  //  EBUBECHUKWU WILLIAM AYOZIE  //  TARGET: CPYTHON 3.14 (HEAD -&gt; f9d08b2...c14609)</a:t>
            </a:r>
          </a:p>
        </p:txBody>
      </p:sp>
      <p:graphicFrame>
        <p:nvGraphicFramePr>
          <p:cNvPr id="7" name="Table 6"/>
          <p:cNvGraphicFramePr>
            <a:graphicFrameLocks noGrp="1"/>
          </p:cNvGraphicFramePr>
          <p:nvPr/>
        </p:nvGraphicFramePr>
        <p:xfrm>
          <a:off x="457200" y="1444752"/>
          <a:ext cx="11274552" cy="4956048"/>
        </p:xfrm>
        <a:graphic>
          <a:graphicData uri="http://schemas.openxmlformats.org/drawingml/2006/table">
            <a:tbl>
              <a:tblPr firstRow="1" bandRow="1">
                <a:tableStyleId>{5C22544A-7EE6-4342-B048-85BDC9FD1C3A}</a:tableStyleId>
              </a:tblPr>
              <a:tblGrid>
                <a:gridCol w="2240280"/>
                <a:gridCol w="2697480"/>
                <a:gridCol w="2697480"/>
                <a:gridCol w="3639312"/>
              </a:tblGrid>
              <a:tr h="708006">
                <a:tc>
                  <a:txBody>
                    <a:bodyPr/>
                    <a:lstStyle/>
                    <a:p>
                      <a:pPr>
                        <a:defRPr sz="1000" b="1">
                          <a:solidFill>
                            <a:srgbClr val="06B6D4"/>
                          </a:solidFill>
                          <a:latin typeface="Inter"/>
                        </a:defRPr>
                      </a:pPr>
                      <a:r>
                        <a:t>Failure Vector</a:t>
                      </a:r>
                    </a:p>
                  </a:txBody>
                  <a:tcPr anchor="ctr">
                    <a:solidFill>
                      <a:srgbClr val="1E293B"/>
                    </a:solidFill>
                  </a:tcPr>
                </a:tc>
                <a:tc>
                  <a:txBody>
                    <a:bodyPr/>
                    <a:lstStyle/>
                    <a:p>
                      <a:pPr>
                        <a:defRPr sz="1000" b="1">
                          <a:solidFill>
                            <a:srgbClr val="06B6D4"/>
                          </a:solidFill>
                          <a:latin typeface="Inter"/>
                        </a:defRPr>
                      </a:pPr>
                      <a:r>
                        <a:t>Root Cause / Trigger</a:t>
                      </a:r>
                    </a:p>
                  </a:txBody>
                  <a:tcPr anchor="ctr">
                    <a:solidFill>
                      <a:srgbClr val="1E293B"/>
                    </a:solidFill>
                  </a:tcPr>
                </a:tc>
                <a:tc>
                  <a:txBody>
                    <a:bodyPr/>
                    <a:lstStyle/>
                    <a:p>
                      <a:pPr>
                        <a:defRPr sz="1000" b="1">
                          <a:solidFill>
                            <a:srgbClr val="06B6D4"/>
                          </a:solidFill>
                          <a:latin typeface="Inter"/>
                        </a:defRPr>
                      </a:pPr>
                      <a:r>
                        <a:t>Unmitigated System Impact</a:t>
                      </a:r>
                    </a:p>
                  </a:txBody>
                  <a:tcPr anchor="ctr">
                    <a:solidFill>
                      <a:srgbClr val="1E293B"/>
                    </a:solidFill>
                  </a:tcPr>
                </a:tc>
                <a:tc>
                  <a:txBody>
                    <a:bodyPr/>
                    <a:lstStyle/>
                    <a:p>
                      <a:pPr>
                        <a:defRPr sz="1000" b="1">
                          <a:solidFill>
                            <a:srgbClr val="06B6D4"/>
                          </a:solidFill>
                          <a:latin typeface="Inter"/>
                        </a:defRPr>
                      </a:pPr>
                      <a:r>
                        <a:t>Implemented SIMS Defense Mechanism</a:t>
                      </a:r>
                    </a:p>
                  </a:txBody>
                  <a:tcPr anchor="ctr">
                    <a:solidFill>
                      <a:srgbClr val="1E293B"/>
                    </a:solidFill>
                  </a:tcPr>
                </a:tc>
              </a:tr>
              <a:tr h="708006">
                <a:tc>
                  <a:txBody>
                    <a:bodyPr/>
                    <a:lstStyle/>
                    <a:p>
                      <a:pPr>
                        <a:defRPr sz="950" b="1">
                          <a:solidFill>
                            <a:srgbClr val="F8FAFC"/>
                          </a:solidFill>
                          <a:latin typeface="JetBrains Mono"/>
                        </a:defRPr>
                      </a:pPr>
                      <a:r>
                        <a:t>1. Corrupted CSV Header</a:t>
                      </a:r>
                    </a:p>
                  </a:txBody>
                  <a:tcPr anchor="ctr">
                    <a:solidFill>
                      <a:srgbClr val="0F172A"/>
                    </a:solidFill>
                  </a:tcPr>
                </a:tc>
                <a:tc>
                  <a:txBody>
                    <a:bodyPr/>
                    <a:lstStyle/>
                    <a:p>
                      <a:pPr>
                        <a:defRPr sz="950" b="0">
                          <a:solidFill>
                            <a:srgbClr val="CBD5E1"/>
                          </a:solidFill>
                          <a:latin typeface="Inter"/>
                        </a:defRPr>
                      </a:pPr>
                      <a:r>
                        <a:t>Manual edit deletes Minimum Stock column in products.csv</a:t>
                      </a:r>
                    </a:p>
                  </a:txBody>
                  <a:tcPr anchor="ctr">
                    <a:solidFill>
                      <a:srgbClr val="0F172A"/>
                    </a:solidFill>
                  </a:tcPr>
                </a:tc>
                <a:tc>
                  <a:txBody>
                    <a:bodyPr/>
                    <a:lstStyle/>
                    <a:p>
                      <a:pPr>
                        <a:defRPr sz="950" b="0">
                          <a:solidFill>
                            <a:srgbClr val="CBD5E1"/>
                          </a:solidFill>
                          <a:latin typeface="Inter"/>
                        </a:defRPr>
                      </a:pPr>
                      <a:r>
                        <a:t>KeyError crash during row hydration on startup</a:t>
                      </a:r>
                    </a:p>
                  </a:txBody>
                  <a:tcPr anchor="ctr">
                    <a:solidFill>
                      <a:srgbClr val="0F172A"/>
                    </a:solidFill>
                  </a:tcPr>
                </a:tc>
                <a:tc>
                  <a:txBody>
                    <a:bodyPr/>
                    <a:lstStyle/>
                    <a:p>
                      <a:pPr>
                        <a:defRPr sz="950" b="0">
                          <a:solidFill>
                            <a:srgbClr val="CBD5E1"/>
                          </a:solidFill>
                          <a:latin typeface="Inter"/>
                        </a:defRPr>
                      </a:pPr>
                      <a:r>
                        <a:t>Boot check verifies set(reader.fieldnames) == EXPECTED_HEADERS; restores .bak</a:t>
                      </a:r>
                    </a:p>
                  </a:txBody>
                  <a:tcPr anchor="ctr">
                    <a:solidFill>
                      <a:srgbClr val="0F172A"/>
                    </a:solidFill>
                  </a:tcPr>
                </a:tc>
              </a:tr>
              <a:tr h="708006">
                <a:tc>
                  <a:txBody>
                    <a:bodyPr/>
                    <a:lstStyle/>
                    <a:p>
                      <a:pPr>
                        <a:defRPr sz="950" b="1">
                          <a:solidFill>
                            <a:srgbClr val="F59E0B"/>
                          </a:solidFill>
                          <a:latin typeface="JetBrains Mono"/>
                        </a:defRPr>
                      </a:pPr>
                      <a:r>
                        <a:t>2. IEEE 754 Float Drift [!]</a:t>
                      </a:r>
                    </a:p>
                  </a:txBody>
                  <a:tcPr anchor="ctr">
                    <a:solidFill>
                      <a:srgbClr val="2A1E17"/>
                    </a:solidFill>
                  </a:tcPr>
                </a:tc>
                <a:tc>
                  <a:txBody>
                    <a:bodyPr/>
                    <a:lstStyle/>
                    <a:p>
                      <a:pPr>
                        <a:defRPr sz="950" b="1">
                          <a:solidFill>
                            <a:srgbClr val="CBD5E1"/>
                          </a:solidFill>
                          <a:latin typeface="Inter"/>
                        </a:defRPr>
                      </a:pPr>
                      <a:r>
                        <a:t>Binary float math: 0.1 + 0.2 = 0.30000000000000004</a:t>
                      </a:r>
                    </a:p>
                  </a:txBody>
                  <a:tcPr anchor="ctr">
                    <a:solidFill>
                      <a:srgbClr val="2A1E17"/>
                    </a:solidFill>
                  </a:tcPr>
                </a:tc>
                <a:tc>
                  <a:txBody>
                    <a:bodyPr/>
                    <a:lstStyle/>
                    <a:p>
                      <a:pPr>
                        <a:defRPr sz="950" b="1">
                          <a:solidFill>
                            <a:srgbClr val="CBD5E1"/>
                          </a:solidFill>
                          <a:latin typeface="Inter"/>
                        </a:defRPr>
                      </a:pPr>
                      <a:r>
                        <a:t>Cumulative financial ledger mismatch in sales.csv</a:t>
                      </a:r>
                    </a:p>
                  </a:txBody>
                  <a:tcPr anchor="ctr">
                    <a:solidFill>
                      <a:srgbClr val="2A1E17"/>
                    </a:solidFill>
                  </a:tcPr>
                </a:tc>
                <a:tc>
                  <a:txBody>
                    <a:bodyPr/>
                    <a:lstStyle/>
                    <a:p>
                      <a:pPr>
                        <a:defRPr sz="950" b="1">
                          <a:solidFill>
                            <a:srgbClr val="CBD5E1"/>
                          </a:solidFill>
                          <a:latin typeface="Inter"/>
                        </a:defRPr>
                      </a:pPr>
                      <a:r>
                        <a:t>Enforces decimal.Decimal('0.01') with ROUND_HALF_UP for all currency math</a:t>
                      </a:r>
                    </a:p>
                  </a:txBody>
                  <a:tcPr anchor="ctr">
                    <a:solidFill>
                      <a:srgbClr val="2A1E17"/>
                    </a:solidFill>
                  </a:tcPr>
                </a:tc>
              </a:tr>
              <a:tr h="708006">
                <a:tc>
                  <a:txBody>
                    <a:bodyPr/>
                    <a:lstStyle/>
                    <a:p>
                      <a:pPr>
                        <a:defRPr sz="950" b="1">
                          <a:solidFill>
                            <a:srgbClr val="F59E0B"/>
                          </a:solidFill>
                          <a:latin typeface="JetBrains Mono"/>
                        </a:defRPr>
                      </a:pPr>
                      <a:r>
                        <a:t>3. Negative Qty Injection [!]</a:t>
                      </a:r>
                    </a:p>
                  </a:txBody>
                  <a:tcPr anchor="ctr">
                    <a:solidFill>
                      <a:srgbClr val="2A1E17"/>
                    </a:solidFill>
                  </a:tcPr>
                </a:tc>
                <a:tc>
                  <a:txBody>
                    <a:bodyPr/>
                    <a:lstStyle/>
                    <a:p>
                      <a:pPr>
                        <a:defRPr sz="950" b="1">
                          <a:solidFill>
                            <a:srgbClr val="CBD5E1"/>
                          </a:solidFill>
                          <a:latin typeface="Inter"/>
                        </a:defRPr>
                      </a:pPr>
                      <a:r>
                        <a:t>Submitting Quantity = -10 on sale request</a:t>
                      </a:r>
                    </a:p>
                  </a:txBody>
                  <a:tcPr anchor="ctr">
                    <a:solidFill>
                      <a:srgbClr val="2A1E17"/>
                    </a:solidFill>
                  </a:tcPr>
                </a:tc>
                <a:tc>
                  <a:txBody>
                    <a:bodyPr/>
                    <a:lstStyle/>
                    <a:p>
                      <a:pPr>
                        <a:defRPr sz="950" b="1">
                          <a:solidFill>
                            <a:srgbClr val="CBD5E1"/>
                          </a:solidFill>
                          <a:latin typeface="Inter"/>
                        </a:defRPr>
                      </a:pPr>
                      <a:r>
                        <a:t>Creates fake inventory out of thin air (Q - (-10) = Q + 10)</a:t>
                      </a:r>
                    </a:p>
                  </a:txBody>
                  <a:tcPr anchor="ctr">
                    <a:solidFill>
                      <a:srgbClr val="2A1E17"/>
                    </a:solidFill>
                  </a:tcPr>
                </a:tc>
                <a:tc>
                  <a:txBody>
                    <a:bodyPr/>
                    <a:lstStyle/>
                    <a:p>
                      <a:pPr>
                        <a:defRPr sz="950" b="1">
                          <a:solidFill>
                            <a:srgbClr val="CBD5E1"/>
                          </a:solidFill>
                          <a:latin typeface="Inter"/>
                        </a:defRPr>
                      </a:pPr>
                      <a:r>
                        <a:t>Strict precondition guard: if delta_qty &lt;= 0: raise ValidationError()</a:t>
                      </a:r>
                    </a:p>
                  </a:txBody>
                  <a:tcPr anchor="ctr">
                    <a:solidFill>
                      <a:srgbClr val="2A1E17"/>
                    </a:solidFill>
                  </a:tcPr>
                </a:tc>
              </a:tr>
              <a:tr h="708006">
                <a:tc>
                  <a:txBody>
                    <a:bodyPr/>
                    <a:lstStyle/>
                    <a:p>
                      <a:pPr>
                        <a:defRPr sz="950" b="1">
                          <a:solidFill>
                            <a:srgbClr val="F8FAFC"/>
                          </a:solidFill>
                          <a:latin typeface="JetBrains Mono"/>
                        </a:defRPr>
                      </a:pPr>
                      <a:r>
                        <a:t>4. Stock Underflow</a:t>
                      </a:r>
                    </a:p>
                  </a:txBody>
                  <a:tcPr anchor="ctr">
                    <a:solidFill>
                      <a:srgbClr val="162032"/>
                    </a:solidFill>
                  </a:tcPr>
                </a:tc>
                <a:tc>
                  <a:txBody>
                    <a:bodyPr/>
                    <a:lstStyle/>
                    <a:p>
                      <a:pPr>
                        <a:defRPr sz="950" b="0">
                          <a:solidFill>
                            <a:srgbClr val="CBD5E1"/>
                          </a:solidFill>
                          <a:latin typeface="Inter"/>
                        </a:defRPr>
                      </a:pPr>
                      <a:r>
                        <a:t>Purchasing 5 units of PD002 when Quantity is 2</a:t>
                      </a:r>
                    </a:p>
                  </a:txBody>
                  <a:tcPr anchor="ctr">
                    <a:solidFill>
                      <a:srgbClr val="162032"/>
                    </a:solidFill>
                  </a:tcPr>
                </a:tc>
                <a:tc>
                  <a:txBody>
                    <a:bodyPr/>
                    <a:lstStyle/>
                    <a:p>
                      <a:pPr>
                        <a:defRPr sz="950" b="0">
                          <a:solidFill>
                            <a:srgbClr val="CBD5E1"/>
                          </a:solidFill>
                          <a:latin typeface="Inter"/>
                        </a:defRPr>
                      </a:pPr>
                      <a:r>
                        <a:t>Negative physical inventory count (Quantity = -3)</a:t>
                      </a:r>
                    </a:p>
                  </a:txBody>
                  <a:tcPr anchor="ctr">
                    <a:solidFill>
                      <a:srgbClr val="162032"/>
                    </a:solidFill>
                  </a:tcPr>
                </a:tc>
                <a:tc>
                  <a:txBody>
                    <a:bodyPr/>
                    <a:lstStyle/>
                    <a:p>
                      <a:pPr>
                        <a:defRPr sz="950" b="0">
                          <a:solidFill>
                            <a:srgbClr val="CBD5E1"/>
                          </a:solidFill>
                          <a:latin typeface="Inter"/>
                        </a:defRPr>
                      </a:pPr>
                      <a:r>
                        <a:t>Atomic check if prod.quantity &lt; req_qty: raise InsufficientStockError (HTTP 409)</a:t>
                      </a:r>
                    </a:p>
                  </a:txBody>
                  <a:tcPr anchor="ctr">
                    <a:solidFill>
                      <a:srgbClr val="162032"/>
                    </a:solidFill>
                  </a:tcPr>
                </a:tc>
              </a:tr>
              <a:tr h="708006">
                <a:tc>
                  <a:txBody>
                    <a:bodyPr/>
                    <a:lstStyle/>
                    <a:p>
                      <a:pPr>
                        <a:defRPr sz="950" b="1">
                          <a:solidFill>
                            <a:srgbClr val="F59E0B"/>
                          </a:solidFill>
                          <a:latin typeface="JetBrains Mono"/>
                        </a:defRPr>
                      </a:pPr>
                      <a:r>
                        <a:t>5. CSV Formula Injection [!]</a:t>
                      </a:r>
                    </a:p>
                  </a:txBody>
                  <a:tcPr anchor="ctr">
                    <a:solidFill>
                      <a:srgbClr val="2A1E17"/>
                    </a:solidFill>
                  </a:tcPr>
                </a:tc>
                <a:tc>
                  <a:txBody>
                    <a:bodyPr/>
                    <a:lstStyle/>
                    <a:p>
                      <a:pPr>
                        <a:defRPr sz="950" b="1">
                          <a:solidFill>
                            <a:srgbClr val="CBD5E1"/>
                          </a:solidFill>
                          <a:latin typeface="Inter"/>
                        </a:defRPr>
                      </a:pPr>
                      <a:r>
                        <a:t>Malicious product Name starting with =CMD|'...' </a:t>
                      </a:r>
                    </a:p>
                  </a:txBody>
                  <a:tcPr anchor="ctr">
                    <a:solidFill>
                      <a:srgbClr val="2A1E17"/>
                    </a:solidFill>
                  </a:tcPr>
                </a:tc>
                <a:tc>
                  <a:txBody>
                    <a:bodyPr/>
                    <a:lstStyle/>
                    <a:p>
                      <a:pPr>
                        <a:defRPr sz="950" b="1">
                          <a:solidFill>
                            <a:srgbClr val="CBD5E1"/>
                          </a:solidFill>
                          <a:latin typeface="Inter"/>
                        </a:defRPr>
                      </a:pPr>
                      <a:r>
                        <a:t>Arbitrary code execution when CSV is opened in Excel</a:t>
                      </a:r>
                    </a:p>
                  </a:txBody>
                  <a:tcPr anchor="ctr">
                    <a:solidFill>
                      <a:srgbClr val="2A1E17"/>
                    </a:solidFill>
                  </a:tcPr>
                </a:tc>
                <a:tc>
                  <a:txBody>
                    <a:bodyPr/>
                    <a:lstStyle/>
                    <a:p>
                      <a:pPr>
                        <a:defRPr sz="950" b="1">
                          <a:solidFill>
                            <a:srgbClr val="CBD5E1"/>
                          </a:solidFill>
                          <a:latin typeface="Inter"/>
                        </a:defRPr>
                      </a:pPr>
                      <a:r>
                        <a:t>Sanitizes strings by prefixing leading =, +, -, or @ with a single quote (')</a:t>
                      </a:r>
                    </a:p>
                  </a:txBody>
                  <a:tcPr anchor="ctr">
                    <a:solidFill>
                      <a:srgbClr val="2A1E17"/>
                    </a:solidFill>
                  </a:tcPr>
                </a:tc>
              </a:tr>
              <a:tr h="708012">
                <a:tc>
                  <a:txBody>
                    <a:bodyPr/>
                    <a:lstStyle/>
                    <a:p>
                      <a:pPr>
                        <a:defRPr sz="950" b="1">
                          <a:solidFill>
                            <a:srgbClr val="F8FAFC"/>
                          </a:solidFill>
                          <a:latin typeface="JetBrains Mono"/>
                        </a:defRPr>
                      </a:pPr>
                      <a:r>
                        <a:t>6. Socket Timeout / DoS</a:t>
                      </a:r>
                    </a:p>
                  </a:txBody>
                  <a:tcPr anchor="ctr">
                    <a:solidFill>
                      <a:srgbClr val="162032"/>
                    </a:solidFill>
                  </a:tcPr>
                </a:tc>
                <a:tc>
                  <a:txBody>
                    <a:bodyPr/>
                    <a:lstStyle/>
                    <a:p>
                      <a:pPr>
                        <a:defRPr sz="950" b="0">
                          <a:solidFill>
                            <a:srgbClr val="CBD5E1"/>
                          </a:solidFill>
                          <a:latin typeface="Inter"/>
                        </a:defRPr>
                      </a:pPr>
                      <a:r>
                        <a:t>Slow client holds HTTP socket open indefinitely</a:t>
                      </a:r>
                    </a:p>
                  </a:txBody>
                  <a:tcPr anchor="ctr">
                    <a:solidFill>
                      <a:srgbClr val="162032"/>
                    </a:solidFill>
                  </a:tcPr>
                </a:tc>
                <a:tc>
                  <a:txBody>
                    <a:bodyPr/>
                    <a:lstStyle/>
                    <a:p>
                      <a:pPr>
                        <a:defRPr sz="950" b="0">
                          <a:solidFill>
                            <a:srgbClr val="CBD5E1"/>
                          </a:solidFill>
                          <a:latin typeface="Inter"/>
                        </a:defRPr>
                      </a:pPr>
                      <a:r>
                        <a:t>Thread pool exhaustion / denial of service on api.py</a:t>
                      </a:r>
                    </a:p>
                  </a:txBody>
                  <a:tcPr anchor="ctr">
                    <a:solidFill>
                      <a:srgbClr val="162032"/>
                    </a:solidFill>
                  </a:tcPr>
                </a:tc>
                <a:tc>
                  <a:txBody>
                    <a:bodyPr/>
                    <a:lstStyle/>
                    <a:p>
                      <a:pPr>
                        <a:defRPr sz="950" b="0">
                          <a:solidFill>
                            <a:srgbClr val="CBD5E1"/>
                          </a:solidFill>
                          <a:latin typeface="Inter"/>
                        </a:defRPr>
                      </a:pPr>
                      <a:r>
                        <a:t>Enforces socket read/write timeout=5.0s and &lt; 1 MB request payload limit</a:t>
                      </a:r>
                    </a:p>
                  </a:txBody>
                  <a:tcPr anchor="ctr">
                    <a:solidFill>
                      <a:srgbClr val="162032"/>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058400" cy="274320"/>
          </a:xfrm>
          <a:prstGeom prst="rect">
            <a:avLst/>
          </a:prstGeom>
          <a:noFill/>
        </p:spPr>
        <p:txBody>
          <a:bodyPr wrap="square" lIns="0" tIns="0" rIns="0" bIns="0">
            <a:spAutoFit/>
          </a:bodyPr>
          <a:lstStyle/>
          <a:p>
            <a:pPr>
              <a:defRPr sz="1050" b="1">
                <a:solidFill>
                  <a:srgbClr val="06B6D4"/>
                </a:solidFill>
                <a:latin typeface="JetBrains Mono"/>
              </a:defRPr>
            </a:pPr>
            <a:r>
              <a:t>[LIVE VERIFICATION // 180-SECOND DEMO PROTOCOL]</a:t>
            </a:r>
          </a:p>
        </p:txBody>
      </p:sp>
      <p:sp>
        <p:nvSpPr>
          <p:cNvPr id="3" name="Rounded Rectangle 2"/>
          <p:cNvSpPr/>
          <p:nvPr/>
        </p:nvSpPr>
        <p:spPr>
          <a:xfrm>
            <a:off x="11018520" y="256032"/>
            <a:ext cx="713232"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CBD5E1"/>
                </a:solidFill>
                <a:latin typeface="JetBrains Mono"/>
              </a:defRPr>
            </a:pPr>
            <a:r>
              <a:t>12 / 14</a:t>
            </a:r>
          </a:p>
        </p:txBody>
      </p:sp>
      <p:sp>
        <p:nvSpPr>
          <p:cNvPr id="4" name="TextBox 3"/>
          <p:cNvSpPr txBox="1"/>
          <p:nvPr/>
        </p:nvSpPr>
        <p:spPr>
          <a:xfrm>
            <a:off x="457200" y="548640"/>
            <a:ext cx="11274552" cy="713232"/>
          </a:xfrm>
          <a:prstGeom prst="rect">
            <a:avLst/>
          </a:prstGeom>
          <a:noFill/>
        </p:spPr>
        <p:txBody>
          <a:bodyPr wrap="square" lIns="0" tIns="0" rIns="0" bIns="0">
            <a:spAutoFit/>
          </a:bodyPr>
          <a:lstStyle/>
          <a:p>
            <a:pPr>
              <a:defRPr sz="1950" b="1">
                <a:solidFill>
                  <a:srgbClr val="F8FAFC"/>
                </a:solidFill>
                <a:latin typeface="Inter"/>
              </a:defRPr>
            </a:pPr>
            <a:r>
              <a:t>Four-Stage Deterministic Verification Protocol Proves End-to-End Parity Across GUI, REST API, AI, and Disk</a:t>
            </a:r>
          </a:p>
        </p:txBody>
      </p:sp>
      <p:sp>
        <p:nvSpPr>
          <p:cNvPr id="5" name="Rectangle 4"/>
          <p:cNvSpPr/>
          <p:nvPr/>
        </p:nvSpPr>
        <p:spPr>
          <a:xfrm>
            <a:off x="457200" y="1298448"/>
            <a:ext cx="1127455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65392"/>
            <a:ext cx="11274552" cy="228600"/>
          </a:xfrm>
          <a:prstGeom prst="rect">
            <a:avLst/>
          </a:prstGeom>
          <a:noFill/>
        </p:spPr>
        <p:txBody>
          <a:bodyPr wrap="none" lIns="0" tIns="0" rIns="0" bIns="0">
            <a:spAutoFit/>
          </a:bodyPr>
          <a:lstStyle/>
          <a:p>
            <a:pPr>
              <a:defRPr sz="850">
                <a:solidFill>
                  <a:srgbClr val="334155"/>
                </a:solidFill>
                <a:latin typeface="JetBrains Mono"/>
              </a:defRPr>
            </a:pPr>
            <a:r>
              <a:t>SIMS ARCHITECTURAL DEFENSE  //  EBUBECHUKWU WILLIAM AYOZIE  //  TARGET: CPYTHON 3.14 (HEAD -&gt; f9d08b2...c14609)</a:t>
            </a:r>
          </a:p>
        </p:txBody>
      </p:sp>
      <p:sp>
        <p:nvSpPr>
          <p:cNvPr id="7" name="Rounded Rectangle 6"/>
          <p:cNvSpPr/>
          <p:nvPr/>
        </p:nvSpPr>
        <p:spPr>
          <a:xfrm>
            <a:off x="457200" y="1463040"/>
            <a:ext cx="2706624" cy="4937760"/>
          </a:xfrm>
          <a:prstGeom prst="roundRect">
            <a:avLst>
              <a:gd name="adj" fmla="val 2000"/>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F59E0B"/>
                </a:solidFill>
                <a:latin typeface="Inter"/>
              </a:defRPr>
            </a:pPr>
            <a:r>
              <a:t>Phase 1 (0:00 - 0:45)</a:t>
            </a:r>
            <a:br/>
            <a:r>
              <a:t>Cold Boot &amp; Telemetry</a:t>
            </a:r>
          </a:p>
          <a:p>
            <a:pPr>
              <a:spcAft>
                <a:spcPts val="400"/>
              </a:spcAft>
              <a:defRPr sz="1050">
                <a:solidFill>
                  <a:srgbClr val="CBD5E1"/>
                </a:solidFill>
                <a:latin typeface="Inter"/>
              </a:defRPr>
            </a:pPr>
            <a:r>
              <a:t>▸  Run: python main.py from repository root.</a:t>
            </a:r>
          </a:p>
          <a:p>
            <a:pPr>
              <a:spcAft>
                <a:spcPts val="400"/>
              </a:spcAft>
              <a:defRPr sz="1050">
                <a:solidFill>
                  <a:srgbClr val="CBD5E1"/>
                </a:solidFill>
                <a:latin typeface="Inter"/>
              </a:defRPr>
            </a:pPr>
            <a:r>
              <a:t>▸  Verify gui.py loads products.csv.</a:t>
            </a:r>
          </a:p>
          <a:p>
            <a:pPr>
              <a:spcAft>
                <a:spcPts val="400"/>
              </a:spcAft>
              <a:defRPr sz="1050">
                <a:solidFill>
                  <a:srgbClr val="CBD5E1"/>
                </a:solidFill>
                <a:latin typeface="Inter"/>
              </a:defRPr>
            </a:pPr>
            <a:r>
              <a:t>▸  Observe SKU PD002 (DELL, Qty: 2, Price: 150.0, Min: 5) highlighted in Amber (#F59E0B) due to 2 &lt; 5.</a:t>
            </a:r>
          </a:p>
        </p:txBody>
      </p:sp>
      <p:sp>
        <p:nvSpPr>
          <p:cNvPr id="8" name="Rounded Rectangle 7"/>
          <p:cNvSpPr/>
          <p:nvPr/>
        </p:nvSpPr>
        <p:spPr>
          <a:xfrm>
            <a:off x="3310128" y="1463040"/>
            <a:ext cx="2706624" cy="4937760"/>
          </a:xfrm>
          <a:prstGeom prst="roundRect">
            <a:avLst>
              <a:gd name="adj" fmla="val 2000"/>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06B6D4"/>
                </a:solidFill>
                <a:latin typeface="Inter"/>
              </a:defRPr>
            </a:pPr>
            <a:r>
              <a:t>Phase 2 (0:45 - 1:30)</a:t>
            </a:r>
            <a:br/>
            <a:r>
              <a:t>AI Diagnostic &amp; Restock</a:t>
            </a:r>
          </a:p>
          <a:p>
            <a:pPr>
              <a:spcAft>
                <a:spcPts val="400"/>
              </a:spcAft>
              <a:defRPr sz="1050">
                <a:solidFill>
                  <a:srgbClr val="CBD5E1"/>
                </a:solidFill>
                <a:latin typeface="Inter"/>
              </a:defRPr>
            </a:pPr>
            <a:r>
              <a:t>▸  Trigger ai_assistant.py panel; confirm alert on PD002 (-3 unit deficit).</a:t>
            </a:r>
          </a:p>
          <a:p>
            <a:pPr>
              <a:spcAft>
                <a:spcPts val="400"/>
              </a:spcAft>
              <a:defRPr sz="1050">
                <a:solidFill>
                  <a:srgbClr val="CBD5E1"/>
                </a:solidFill>
                <a:latin typeface="Inter"/>
              </a:defRPr>
            </a:pPr>
            <a:r>
              <a:t>▸  Execute restock (+8 units) via GUI -&gt; Qty updates to 10 (10 &gt; 5).</a:t>
            </a:r>
          </a:p>
          <a:p>
            <a:pPr>
              <a:spcAft>
                <a:spcPts val="400"/>
              </a:spcAft>
              <a:defRPr sz="1050">
                <a:solidFill>
                  <a:srgbClr val="CBD5E1"/>
                </a:solidFill>
                <a:latin typeface="Inter"/>
              </a:defRPr>
            </a:pPr>
            <a:r>
              <a:t>▸  Amber alert clears to Cyan; verify products.csv row: PD002,DELL,10,150.0,5.</a:t>
            </a:r>
          </a:p>
        </p:txBody>
      </p:sp>
      <p:sp>
        <p:nvSpPr>
          <p:cNvPr id="9" name="Rounded Rectangle 8"/>
          <p:cNvSpPr/>
          <p:nvPr/>
        </p:nvSpPr>
        <p:spPr>
          <a:xfrm>
            <a:off x="6163056" y="1463040"/>
            <a:ext cx="2706624" cy="4937760"/>
          </a:xfrm>
          <a:prstGeom prst="roundRect">
            <a:avLst>
              <a:gd name="adj" fmla="val 2000"/>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F59E0B"/>
                </a:solidFill>
                <a:latin typeface="Inter"/>
              </a:defRPr>
            </a:pPr>
            <a:r>
              <a:t>Phase 3 (1:30 - 2:15)</a:t>
            </a:r>
            <a:br/>
            <a:r>
              <a:t>REST API &amp; 409 Guardrail</a:t>
            </a:r>
          </a:p>
          <a:p>
            <a:pPr>
              <a:spcAft>
                <a:spcPts val="400"/>
              </a:spcAft>
              <a:defRPr sz="1050">
                <a:solidFill>
                  <a:srgbClr val="CBD5E1"/>
                </a:solidFill>
                <a:latin typeface="Inter"/>
              </a:defRPr>
            </a:pPr>
            <a:r>
              <a:t>▸  POST /api/v1/sales (PD002, qty: 4) -&gt; HTTP 201; products.csv drops to 6; sales.csv appends row.</a:t>
            </a:r>
          </a:p>
          <a:p>
            <a:pPr>
              <a:spcAft>
                <a:spcPts val="400"/>
              </a:spcAft>
              <a:defRPr sz="1050">
                <a:solidFill>
                  <a:srgbClr val="CBD5E1"/>
                </a:solidFill>
                <a:latin typeface="Inter"/>
              </a:defRPr>
            </a:pPr>
            <a:r>
              <a:t>▸  Adversarial POST /api/v1/sales (PD002, qty: 50) -&gt; Rejected with HTTP 409 Conflict; stock stays 6.</a:t>
            </a:r>
          </a:p>
        </p:txBody>
      </p:sp>
      <p:sp>
        <p:nvSpPr>
          <p:cNvPr id="10" name="Rounded Rectangle 9"/>
          <p:cNvSpPr/>
          <p:nvPr/>
        </p:nvSpPr>
        <p:spPr>
          <a:xfrm>
            <a:off x="9015984" y="1463040"/>
            <a:ext cx="2706624" cy="4937760"/>
          </a:xfrm>
          <a:prstGeom prst="roundRect">
            <a:avLst>
              <a:gd name="adj" fmla="val 2000"/>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10B981"/>
                </a:solidFill>
                <a:latin typeface="Inter"/>
              </a:defRPr>
            </a:pPr>
            <a:r>
              <a:t>Phase 4 (2:15 - 3:00)</a:t>
            </a:r>
            <a:br/>
            <a:r>
              <a:t>Crash-Recovery Proof</a:t>
            </a:r>
          </a:p>
          <a:p>
            <a:pPr>
              <a:spcAft>
                <a:spcPts val="400"/>
              </a:spcAft>
              <a:defRPr sz="1050">
                <a:solidFill>
                  <a:srgbClr val="CBD5E1"/>
                </a:solidFill>
                <a:latin typeface="Inter"/>
              </a:defRPr>
            </a:pPr>
            <a:r>
              <a:t>▸  Send SIGINT (Ctrl+C) to terminate process.</a:t>
            </a:r>
          </a:p>
          <a:p>
            <a:pPr>
              <a:spcAft>
                <a:spcPts val="400"/>
              </a:spcAft>
              <a:defRPr sz="1050">
                <a:solidFill>
                  <a:srgbClr val="CBD5E1"/>
                </a:solidFill>
                <a:latin typeface="Inter"/>
              </a:defRPr>
            </a:pPr>
            <a:r>
              <a:t>▸  Relaunch python main.py cold.</a:t>
            </a:r>
          </a:p>
          <a:p>
            <a:pPr>
              <a:spcAft>
                <a:spcPts val="400"/>
              </a:spcAft>
              <a:defRPr sz="1050">
                <a:solidFill>
                  <a:srgbClr val="CBD5E1"/>
                </a:solidFill>
                <a:latin typeface="Inter"/>
              </a:defRPr>
            </a:pPr>
            <a:r>
              <a:t>▸  Confirm PD002 Quantity = 6 and sales.csv audit trail persist intact across restarts.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058400" cy="274320"/>
          </a:xfrm>
          <a:prstGeom prst="rect">
            <a:avLst/>
          </a:prstGeom>
          <a:noFill/>
        </p:spPr>
        <p:txBody>
          <a:bodyPr wrap="square" lIns="0" tIns="0" rIns="0" bIns="0">
            <a:spAutoFit/>
          </a:bodyPr>
          <a:lstStyle/>
          <a:p>
            <a:pPr>
              <a:defRPr sz="1050" b="1">
                <a:solidFill>
                  <a:srgbClr val="06B6D4"/>
                </a:solidFill>
                <a:latin typeface="JetBrains Mono"/>
              </a:defRPr>
            </a:pPr>
            <a:r>
              <a:t>[ARCHITECTURAL CRITIQUE // SCALABILITY ROADMAP]</a:t>
            </a:r>
          </a:p>
        </p:txBody>
      </p:sp>
      <p:sp>
        <p:nvSpPr>
          <p:cNvPr id="3" name="Rounded Rectangle 2"/>
          <p:cNvSpPr/>
          <p:nvPr/>
        </p:nvSpPr>
        <p:spPr>
          <a:xfrm>
            <a:off x="11018520" y="256032"/>
            <a:ext cx="713232"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CBD5E1"/>
                </a:solidFill>
                <a:latin typeface="JetBrains Mono"/>
              </a:defRPr>
            </a:pPr>
            <a:r>
              <a:t>13 / 14</a:t>
            </a:r>
          </a:p>
        </p:txBody>
      </p:sp>
      <p:sp>
        <p:nvSpPr>
          <p:cNvPr id="4" name="TextBox 3"/>
          <p:cNvSpPr txBox="1"/>
          <p:nvPr/>
        </p:nvSpPr>
        <p:spPr>
          <a:xfrm>
            <a:off x="457200" y="548640"/>
            <a:ext cx="11274552" cy="713232"/>
          </a:xfrm>
          <a:prstGeom prst="rect">
            <a:avLst/>
          </a:prstGeom>
          <a:noFill/>
        </p:spPr>
        <p:txBody>
          <a:bodyPr wrap="square" lIns="0" tIns="0" rIns="0" bIns="0">
            <a:spAutoFit/>
          </a:bodyPr>
          <a:lstStyle/>
          <a:p>
            <a:pPr>
              <a:defRPr sz="1950" b="1">
                <a:solidFill>
                  <a:srgbClr val="F8FAFC"/>
                </a:solidFill>
                <a:latin typeface="Inter"/>
              </a:defRPr>
            </a:pPr>
            <a:r>
              <a:t>Repository Patterns Enable Zero-Rewrite Migration from Flat-File CSVs to ACID PostgreSQL and Containerized Microservices</a:t>
            </a:r>
          </a:p>
        </p:txBody>
      </p:sp>
      <p:sp>
        <p:nvSpPr>
          <p:cNvPr id="5" name="Rectangle 4"/>
          <p:cNvSpPr/>
          <p:nvPr/>
        </p:nvSpPr>
        <p:spPr>
          <a:xfrm>
            <a:off x="457200" y="1298448"/>
            <a:ext cx="1127455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65392"/>
            <a:ext cx="11274552" cy="228600"/>
          </a:xfrm>
          <a:prstGeom prst="rect">
            <a:avLst/>
          </a:prstGeom>
          <a:noFill/>
        </p:spPr>
        <p:txBody>
          <a:bodyPr wrap="none" lIns="0" tIns="0" rIns="0" bIns="0">
            <a:spAutoFit/>
          </a:bodyPr>
          <a:lstStyle/>
          <a:p>
            <a:pPr>
              <a:defRPr sz="850">
                <a:solidFill>
                  <a:srgbClr val="334155"/>
                </a:solidFill>
                <a:latin typeface="JetBrains Mono"/>
              </a:defRPr>
            </a:pPr>
            <a:r>
              <a:t>SIMS ARCHITECTURAL DEFENSE  //  EBUBECHUKWU WILLIAM AYOZIE  //  TARGET: CPYTHON 3.14 (HEAD -&gt; f9d08b2...c14609)</a:t>
            </a:r>
          </a:p>
        </p:txBody>
      </p:sp>
      <p:graphicFrame>
        <p:nvGraphicFramePr>
          <p:cNvPr id="7" name="Table 6"/>
          <p:cNvGraphicFramePr>
            <a:graphicFrameLocks noGrp="1"/>
          </p:cNvGraphicFramePr>
          <p:nvPr/>
        </p:nvGraphicFramePr>
        <p:xfrm>
          <a:off x="457200" y="1444752"/>
          <a:ext cx="11274552" cy="3154680"/>
        </p:xfrm>
        <a:graphic>
          <a:graphicData uri="http://schemas.openxmlformats.org/drawingml/2006/table">
            <a:tbl>
              <a:tblPr firstRow="1" bandRow="1">
                <a:tableStyleId>{5C22544A-7EE6-4342-B048-85BDC9FD1C3A}</a:tableStyleId>
              </a:tblPr>
              <a:tblGrid>
                <a:gridCol w="2103120"/>
                <a:gridCol w="2743200"/>
                <a:gridCol w="2834640"/>
                <a:gridCol w="3593592"/>
              </a:tblGrid>
              <a:tr h="630936">
                <a:tc>
                  <a:txBody>
                    <a:bodyPr/>
                    <a:lstStyle/>
                    <a:p>
                      <a:pPr>
                        <a:defRPr sz="1030" b="1">
                          <a:solidFill>
                            <a:srgbClr val="06B6D4"/>
                          </a:solidFill>
                          <a:latin typeface="Inter"/>
                        </a:defRPr>
                      </a:pPr>
                      <a:r>
                        <a:t>System Dimension</a:t>
                      </a:r>
                    </a:p>
                  </a:txBody>
                  <a:tcPr anchor="ctr">
                    <a:solidFill>
                      <a:srgbClr val="1E293B"/>
                    </a:solidFill>
                  </a:tcPr>
                </a:tc>
                <a:tc>
                  <a:txBody>
                    <a:bodyPr/>
                    <a:lstStyle/>
                    <a:p>
                      <a:pPr>
                        <a:defRPr sz="1030" b="1">
                          <a:solidFill>
                            <a:srgbClr val="06B6D4"/>
                          </a:solidFill>
                          <a:latin typeface="Inter"/>
                        </a:defRPr>
                      </a:pPr>
                      <a:r>
                        <a:t>v1.0 Architecture (Current Repo)</a:t>
                      </a:r>
                    </a:p>
                  </a:txBody>
                  <a:tcPr anchor="ctr">
                    <a:solidFill>
                      <a:srgbClr val="1E293B"/>
                    </a:solidFill>
                  </a:tcPr>
                </a:tc>
                <a:tc>
                  <a:txBody>
                    <a:bodyPr/>
                    <a:lstStyle/>
                    <a:p>
                      <a:pPr>
                        <a:defRPr sz="1030" b="1">
                          <a:solidFill>
                            <a:srgbClr val="06B6D4"/>
                          </a:solidFill>
                          <a:latin typeface="Inter"/>
                        </a:defRPr>
                      </a:pPr>
                      <a:r>
                        <a:t>Known Scaling Ceiling / Limit</a:t>
                      </a:r>
                    </a:p>
                  </a:txBody>
                  <a:tcPr anchor="ctr">
                    <a:solidFill>
                      <a:srgbClr val="1E293B"/>
                    </a:solidFill>
                  </a:tcPr>
                </a:tc>
                <a:tc>
                  <a:txBody>
                    <a:bodyPr/>
                    <a:lstStyle/>
                    <a:p>
                      <a:pPr>
                        <a:defRPr sz="1030" b="1">
                          <a:solidFill>
                            <a:srgbClr val="06B6D4"/>
                          </a:solidFill>
                          <a:latin typeface="Inter"/>
                        </a:defRPr>
                      </a:pPr>
                      <a:r>
                        <a:t>v2.0 Enterprise Target Architecture</a:t>
                      </a:r>
                    </a:p>
                  </a:txBody>
                  <a:tcPr anchor="ctr">
                    <a:solidFill>
                      <a:srgbClr val="1E293B"/>
                    </a:solidFill>
                  </a:tcPr>
                </a:tc>
              </a:tr>
              <a:tr h="630936">
                <a:tc>
                  <a:txBody>
                    <a:bodyPr/>
                    <a:lstStyle/>
                    <a:p>
                      <a:pPr>
                        <a:defRPr sz="980" b="1">
                          <a:solidFill>
                            <a:srgbClr val="F8FAFC"/>
                          </a:solidFill>
                          <a:latin typeface="JetBrains Mono"/>
                        </a:defRPr>
                      </a:pPr>
                      <a:r>
                        <a:t>Data Storage Engine</a:t>
                      </a:r>
                    </a:p>
                  </a:txBody>
                  <a:tcPr anchor="ctr">
                    <a:solidFill>
                      <a:srgbClr val="0F172A"/>
                    </a:solidFill>
                  </a:tcPr>
                </a:tc>
                <a:tc>
                  <a:txBody>
                    <a:bodyPr/>
                    <a:lstStyle/>
                    <a:p>
                      <a:pPr>
                        <a:defRPr sz="980" b="0">
                          <a:solidFill>
                            <a:srgbClr val="CBD5E1"/>
                          </a:solidFill>
                          <a:latin typeface="Inter"/>
                        </a:defRPr>
                      </a:pPr>
                      <a:r>
                        <a:t>Flat CSV (products.csv, sales.csv)</a:t>
                      </a:r>
                    </a:p>
                  </a:txBody>
                  <a:tcPr anchor="ctr">
                    <a:solidFill>
                      <a:srgbClr val="0F172A"/>
                    </a:solidFill>
                  </a:tcPr>
                </a:tc>
                <a:tc>
                  <a:txBody>
                    <a:bodyPr/>
                    <a:lstStyle/>
                    <a:p>
                      <a:pPr>
                        <a:defRPr sz="980" b="0">
                          <a:solidFill>
                            <a:srgbClr val="CBD5E1"/>
                          </a:solidFill>
                          <a:latin typeface="Inter"/>
                        </a:defRPr>
                      </a:pPr>
                      <a:r>
                        <a:t>O(N) full-file rewrite; no multi-row rollback</a:t>
                      </a:r>
                    </a:p>
                  </a:txBody>
                  <a:tcPr anchor="ctr">
                    <a:solidFill>
                      <a:srgbClr val="0F172A"/>
                    </a:solidFill>
                  </a:tcPr>
                </a:tc>
                <a:tc>
                  <a:txBody>
                    <a:bodyPr/>
                    <a:lstStyle/>
                    <a:p>
                      <a:pPr>
                        <a:defRPr sz="980" b="0">
                          <a:solidFill>
                            <a:srgbClr val="CBD5E1"/>
                          </a:solidFill>
                          <a:latin typeface="Inter"/>
                        </a:defRPr>
                      </a:pPr>
                      <a:r>
                        <a:t>PostgreSQL / SQLite (WAL Mode) with B-Tree O(log N) &amp; ACID</a:t>
                      </a:r>
                    </a:p>
                  </a:txBody>
                  <a:tcPr anchor="ctr">
                    <a:solidFill>
                      <a:srgbClr val="0F172A"/>
                    </a:solidFill>
                  </a:tcPr>
                </a:tc>
              </a:tr>
              <a:tr h="630936">
                <a:tc>
                  <a:txBody>
                    <a:bodyPr/>
                    <a:lstStyle/>
                    <a:p>
                      <a:pPr>
                        <a:defRPr sz="980" b="1">
                          <a:solidFill>
                            <a:srgbClr val="F8FAFC"/>
                          </a:solidFill>
                          <a:latin typeface="JetBrains Mono"/>
                        </a:defRPr>
                      </a:pPr>
                      <a:r>
                        <a:t>API Security &amp; Auth</a:t>
                      </a:r>
                    </a:p>
                  </a:txBody>
                  <a:tcPr anchor="ctr">
                    <a:solidFill>
                      <a:srgbClr val="162032"/>
                    </a:solidFill>
                  </a:tcPr>
                </a:tc>
                <a:tc>
                  <a:txBody>
                    <a:bodyPr/>
                    <a:lstStyle/>
                    <a:p>
                      <a:pPr>
                        <a:defRPr sz="980" b="0">
                          <a:solidFill>
                            <a:srgbClr val="CBD5E1"/>
                          </a:solidFill>
                          <a:latin typeface="Inter"/>
                        </a:defRPr>
                      </a:pPr>
                      <a:r>
                        <a:t>Local network binding (api.py)</a:t>
                      </a:r>
                    </a:p>
                  </a:txBody>
                  <a:tcPr anchor="ctr">
                    <a:solidFill>
                      <a:srgbClr val="162032"/>
                    </a:solidFill>
                  </a:tcPr>
                </a:tc>
                <a:tc>
                  <a:txBody>
                    <a:bodyPr/>
                    <a:lstStyle/>
                    <a:p>
                      <a:pPr>
                        <a:defRPr sz="980" b="0">
                          <a:solidFill>
                            <a:srgbClr val="CBD5E1"/>
                          </a:solidFill>
                          <a:latin typeface="Inter"/>
                        </a:defRPr>
                      </a:pPr>
                      <a:r>
                        <a:t>No role-based access control (RBAC)</a:t>
                      </a:r>
                    </a:p>
                  </a:txBody>
                  <a:tcPr anchor="ctr">
                    <a:solidFill>
                      <a:srgbClr val="162032"/>
                    </a:solidFill>
                  </a:tcPr>
                </a:tc>
                <a:tc>
                  <a:txBody>
                    <a:bodyPr/>
                    <a:lstStyle/>
                    <a:p>
                      <a:pPr>
                        <a:defRPr sz="980" b="0">
                          <a:solidFill>
                            <a:srgbClr val="CBD5E1"/>
                          </a:solidFill>
                          <a:latin typeface="Inter"/>
                        </a:defRPr>
                      </a:pPr>
                      <a:r>
                        <a:t>OAuth2 + JWT Bearer Tokens (Admin vs. Cashier scopes) + TLS 1.3</a:t>
                      </a:r>
                    </a:p>
                  </a:txBody>
                  <a:tcPr anchor="ctr">
                    <a:solidFill>
                      <a:srgbClr val="162032"/>
                    </a:solidFill>
                  </a:tcPr>
                </a:tc>
              </a:tr>
              <a:tr h="630936">
                <a:tc>
                  <a:txBody>
                    <a:bodyPr/>
                    <a:lstStyle/>
                    <a:p>
                      <a:pPr>
                        <a:defRPr sz="980" b="1">
                          <a:solidFill>
                            <a:srgbClr val="F8FAFC"/>
                          </a:solidFill>
                          <a:latin typeface="JetBrains Mono"/>
                        </a:defRPr>
                      </a:pPr>
                      <a:r>
                        <a:t>AI Forecasting Engine</a:t>
                      </a:r>
                    </a:p>
                  </a:txBody>
                  <a:tcPr anchor="ctr">
                    <a:solidFill>
                      <a:srgbClr val="0F172A"/>
                    </a:solidFill>
                  </a:tcPr>
                </a:tc>
                <a:tc>
                  <a:txBody>
                    <a:bodyPr/>
                    <a:lstStyle/>
                    <a:p>
                      <a:pPr>
                        <a:defRPr sz="980" b="0">
                          <a:solidFill>
                            <a:srgbClr val="CBD5E1"/>
                          </a:solidFill>
                          <a:latin typeface="Inter"/>
                        </a:defRPr>
                      </a:pPr>
                      <a:r>
                        <a:t>Heuristic &amp; rolling-window stats</a:t>
                      </a:r>
                    </a:p>
                  </a:txBody>
                  <a:tcPr anchor="ctr">
                    <a:solidFill>
                      <a:srgbClr val="0F172A"/>
                    </a:solidFill>
                  </a:tcPr>
                </a:tc>
                <a:tc>
                  <a:txBody>
                    <a:bodyPr/>
                    <a:lstStyle/>
                    <a:p>
                      <a:pPr>
                        <a:defRPr sz="980" b="0">
                          <a:solidFill>
                            <a:srgbClr val="CBD5E1"/>
                          </a:solidFill>
                          <a:latin typeface="Inter"/>
                        </a:defRPr>
                      </a:pPr>
                      <a:r>
                        <a:t>Does not capture holiday seasonality</a:t>
                      </a:r>
                    </a:p>
                  </a:txBody>
                  <a:tcPr anchor="ctr">
                    <a:solidFill>
                      <a:srgbClr val="0F172A"/>
                    </a:solidFill>
                  </a:tcPr>
                </a:tc>
                <a:tc>
                  <a:txBody>
                    <a:bodyPr/>
                    <a:lstStyle/>
                    <a:p>
                      <a:pPr>
                        <a:defRPr sz="980" b="0">
                          <a:solidFill>
                            <a:srgbClr val="CBD5E1"/>
                          </a:solidFill>
                          <a:latin typeface="Inter"/>
                        </a:defRPr>
                      </a:pPr>
                      <a:r>
                        <a:t>ARIMA / Prophet Time-Series + LLM Natural Language Querying</a:t>
                      </a:r>
                    </a:p>
                  </a:txBody>
                  <a:tcPr anchor="ctr">
                    <a:solidFill>
                      <a:srgbClr val="0F172A"/>
                    </a:solidFill>
                  </a:tcPr>
                </a:tc>
              </a:tr>
              <a:tr h="630936">
                <a:tc>
                  <a:txBody>
                    <a:bodyPr/>
                    <a:lstStyle/>
                    <a:p>
                      <a:pPr>
                        <a:defRPr sz="980" b="1">
                          <a:solidFill>
                            <a:srgbClr val="F8FAFC"/>
                          </a:solidFill>
                          <a:latin typeface="JetBrains Mono"/>
                        </a:defRPr>
                      </a:pPr>
                      <a:r>
                        <a:t>Deployment Runtime</a:t>
                      </a:r>
                    </a:p>
                  </a:txBody>
                  <a:tcPr anchor="ctr">
                    <a:solidFill>
                      <a:srgbClr val="162032"/>
                    </a:solidFill>
                  </a:tcPr>
                </a:tc>
                <a:tc>
                  <a:txBody>
                    <a:bodyPr/>
                    <a:lstStyle/>
                    <a:p>
                      <a:pPr>
                        <a:defRPr sz="980" b="0">
                          <a:solidFill>
                            <a:srgbClr val="CBD5E1"/>
                          </a:solidFill>
                          <a:latin typeface="Inter"/>
                        </a:defRPr>
                      </a:pPr>
                      <a:r>
                        <a:t>Host CPython 3.14 (__pycache__)</a:t>
                      </a:r>
                    </a:p>
                  </a:txBody>
                  <a:tcPr anchor="ctr">
                    <a:solidFill>
                      <a:srgbClr val="162032"/>
                    </a:solidFill>
                  </a:tcPr>
                </a:tc>
                <a:tc>
                  <a:txBody>
                    <a:bodyPr/>
                    <a:lstStyle/>
                    <a:p>
                      <a:pPr>
                        <a:defRPr sz="980" b="0">
                          <a:solidFill>
                            <a:srgbClr val="CBD5E1"/>
                          </a:solidFill>
                          <a:latin typeface="Inter"/>
                        </a:defRPr>
                      </a:pPr>
                      <a:r>
                        <a:t>Host OS environment drift</a:t>
                      </a:r>
                    </a:p>
                  </a:txBody>
                  <a:tcPr anchor="ctr">
                    <a:solidFill>
                      <a:srgbClr val="162032"/>
                    </a:solidFill>
                  </a:tcPr>
                </a:tc>
                <a:tc>
                  <a:txBody>
                    <a:bodyPr/>
                    <a:lstStyle/>
                    <a:p>
                      <a:pPr>
                        <a:defRPr sz="980" b="0">
                          <a:solidFill>
                            <a:srgbClr val="CBD5E1"/>
                          </a:solidFill>
                          <a:latin typeface="Inter"/>
                        </a:defRPr>
                      </a:pPr>
                      <a:r>
                        <a:t>Multi-stage Docker Container (python:3.14-slim) read-only rootfs</a:t>
                      </a:r>
                    </a:p>
                  </a:txBody>
                  <a:tcPr anchor="ctr">
                    <a:solidFill>
                      <a:srgbClr val="162032"/>
                    </a:solidFill>
                  </a:tcPr>
                </a:tc>
              </a:tr>
            </a:tbl>
          </a:graphicData>
        </a:graphic>
      </p:graphicFrame>
      <p:sp>
        <p:nvSpPr>
          <p:cNvPr id="8" name="Rounded Rectangle 7"/>
          <p:cNvSpPr/>
          <p:nvPr/>
        </p:nvSpPr>
        <p:spPr>
          <a:xfrm>
            <a:off x="457200" y="4773168"/>
            <a:ext cx="11274552" cy="1627632"/>
          </a:xfrm>
          <a:prstGeom prst="roundRect">
            <a:avLst>
              <a:gd name="adj" fmla="val 2000"/>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06B6D4"/>
                </a:solidFill>
                <a:latin typeface="Inter"/>
              </a:defRPr>
            </a:pPr>
            <a:r>
              <a:t>Zero-Rewrite Migration via the Repository Pattern (inventory.py Contract)</a:t>
            </a:r>
          </a:p>
          <a:p>
            <a:pPr>
              <a:spcAft>
                <a:spcPts val="400"/>
              </a:spcAft>
              <a:defRPr sz="1050">
                <a:solidFill>
                  <a:srgbClr val="CBD5E1"/>
                </a:solidFill>
                <a:latin typeface="Inter"/>
              </a:defRPr>
            </a:pPr>
            <a:r>
              <a:t>▸  Because gui.py, api.py, and ai_assistant.py invoke abstract domain methods (get_product(), record_sale()) rather than raw file handles, swapping CSVInventoryRepository for PostgresInventoryRepository requires zero lines of code changed in the GUI or API layers.</a:t>
            </a:r>
          </a:p>
          <a:p>
            <a:pPr>
              <a:spcAft>
                <a:spcPts val="400"/>
              </a:spcAft>
              <a:defRPr sz="1050">
                <a:solidFill>
                  <a:srgbClr val="CBD5E1"/>
                </a:solidFill>
                <a:latin typeface="Inter"/>
              </a:defRPr>
            </a:pPr>
            <a:r>
              <a:t>▸  Adapter Contract: InventoryRepository(Protocol) -&gt; [CSVInventoryRepository (v1.0)] | [PostgresWALRepository (v2.0)].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058400" cy="274320"/>
          </a:xfrm>
          <a:prstGeom prst="rect">
            <a:avLst/>
          </a:prstGeom>
          <a:noFill/>
        </p:spPr>
        <p:txBody>
          <a:bodyPr wrap="square" lIns="0" tIns="0" rIns="0" bIns="0">
            <a:spAutoFit/>
          </a:bodyPr>
          <a:lstStyle/>
          <a:p>
            <a:pPr>
              <a:defRPr sz="1050" b="1">
                <a:solidFill>
                  <a:srgbClr val="06B6D4"/>
                </a:solidFill>
                <a:latin typeface="JetBrains Mono"/>
              </a:defRPr>
            </a:pPr>
            <a:r>
              <a:t>[DEFENSE MASTERCLASS // HOSTILE Q&amp;A ARSENAL]</a:t>
            </a:r>
          </a:p>
        </p:txBody>
      </p:sp>
      <p:sp>
        <p:nvSpPr>
          <p:cNvPr id="3" name="Rounded Rectangle 2"/>
          <p:cNvSpPr/>
          <p:nvPr/>
        </p:nvSpPr>
        <p:spPr>
          <a:xfrm>
            <a:off x="11018520" y="256032"/>
            <a:ext cx="713232"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CBD5E1"/>
                </a:solidFill>
                <a:latin typeface="JetBrains Mono"/>
              </a:defRPr>
            </a:pPr>
            <a:r>
              <a:t>14 / 14</a:t>
            </a:r>
          </a:p>
        </p:txBody>
      </p:sp>
      <p:sp>
        <p:nvSpPr>
          <p:cNvPr id="4" name="TextBox 3"/>
          <p:cNvSpPr txBox="1"/>
          <p:nvPr/>
        </p:nvSpPr>
        <p:spPr>
          <a:xfrm>
            <a:off x="457200" y="548640"/>
            <a:ext cx="11274552" cy="713232"/>
          </a:xfrm>
          <a:prstGeom prst="rect">
            <a:avLst/>
          </a:prstGeom>
          <a:noFill/>
        </p:spPr>
        <p:txBody>
          <a:bodyPr wrap="square" lIns="0" tIns="0" rIns="0" bIns="0">
            <a:spAutoFit/>
          </a:bodyPr>
          <a:lstStyle/>
          <a:p>
            <a:pPr>
              <a:defRPr sz="1950" b="1">
                <a:solidFill>
                  <a:srgbClr val="F8FAFC"/>
                </a:solidFill>
                <a:latin typeface="Inter"/>
              </a:defRPr>
            </a:pPr>
            <a:r>
              <a:t>Pre-Emptive Technical Counter-Arguments for Storage, Crash Consistency, AI Semantics, GIL Contention, and Rollbacks</a:t>
            </a:r>
          </a:p>
        </p:txBody>
      </p:sp>
      <p:sp>
        <p:nvSpPr>
          <p:cNvPr id="5" name="Rectangle 4"/>
          <p:cNvSpPr/>
          <p:nvPr/>
        </p:nvSpPr>
        <p:spPr>
          <a:xfrm>
            <a:off x="457200" y="1298448"/>
            <a:ext cx="1127455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65392"/>
            <a:ext cx="11274552" cy="228600"/>
          </a:xfrm>
          <a:prstGeom prst="rect">
            <a:avLst/>
          </a:prstGeom>
          <a:noFill/>
        </p:spPr>
        <p:txBody>
          <a:bodyPr wrap="none" lIns="0" tIns="0" rIns="0" bIns="0">
            <a:spAutoFit/>
          </a:bodyPr>
          <a:lstStyle/>
          <a:p>
            <a:pPr>
              <a:defRPr sz="850">
                <a:solidFill>
                  <a:srgbClr val="334155"/>
                </a:solidFill>
                <a:latin typeface="JetBrains Mono"/>
              </a:defRPr>
            </a:pPr>
            <a:r>
              <a:t>SIMS ARCHITECTURAL DEFENSE  //  EBUBECHUKWU WILLIAM AYOZIE  //  TARGET: CPYTHON 3.14 (HEAD -&gt; f9d08b2...c14609)</a:t>
            </a:r>
          </a:p>
        </p:txBody>
      </p:sp>
      <p:sp>
        <p:nvSpPr>
          <p:cNvPr id="7" name="Rounded Rectangle 6"/>
          <p:cNvSpPr/>
          <p:nvPr/>
        </p:nvSpPr>
        <p:spPr>
          <a:xfrm>
            <a:off x="457200" y="1426464"/>
            <a:ext cx="3886200" cy="896112"/>
          </a:xfrm>
          <a:prstGeom prst="roundRect">
            <a:avLst>
              <a:gd name="adj" fmla="val 2000"/>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06B6D4"/>
                </a:solidFill>
                <a:latin typeface="Inter"/>
              </a:defRPr>
            </a:pPr>
            <a:r>
              <a:t>Q1: Why flat CSVs over embedded SQLite?</a:t>
            </a:r>
          </a:p>
          <a:p>
            <a:pPr>
              <a:spcAft>
                <a:spcPts val="400"/>
              </a:spcAft>
              <a:defRPr sz="900">
                <a:solidFill>
                  <a:srgbClr val="CBD5E1"/>
                </a:solidFill>
                <a:latin typeface="Inter"/>
              </a:defRPr>
            </a:pPr>
            <a:r>
              <a:t>▸  See speaker notes for verbatim script.</a:t>
            </a:r>
          </a:p>
        </p:txBody>
      </p:sp>
      <p:sp>
        <p:nvSpPr>
          <p:cNvPr id="8" name="Rounded Rectangle 7"/>
          <p:cNvSpPr/>
          <p:nvPr/>
        </p:nvSpPr>
        <p:spPr>
          <a:xfrm>
            <a:off x="4480560" y="1426464"/>
            <a:ext cx="7251192" cy="896112"/>
          </a:xfrm>
          <a:prstGeom prst="roundRect">
            <a:avLst>
              <a:gd name="adj" fmla="val 2000"/>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F8FAFC"/>
                </a:solidFill>
                <a:latin typeface="Inter"/>
              </a:defRPr>
            </a:pPr>
            <a:r>
              <a:t>On-Slide Technical Proof &amp; Defense Mechanism</a:t>
            </a:r>
          </a:p>
          <a:p>
            <a:pPr>
              <a:spcAft>
                <a:spcPts val="400"/>
              </a:spcAft>
              <a:defRPr sz="980">
                <a:solidFill>
                  <a:srgbClr val="CBD5E1"/>
                </a:solidFill>
                <a:latin typeface="Inter"/>
              </a:defRPr>
            </a:pPr>
            <a:r>
              <a:t>▸  O(1) RAM dict lookup beats disk B-Tree O(log N) for &lt;50k SKUs; zero binary driver overhead; universal Excel portability; decoupled via Repository Pattern.</a:t>
            </a:r>
          </a:p>
        </p:txBody>
      </p:sp>
      <p:sp>
        <p:nvSpPr>
          <p:cNvPr id="9" name="Rounded Rectangle 8"/>
          <p:cNvSpPr/>
          <p:nvPr/>
        </p:nvSpPr>
        <p:spPr>
          <a:xfrm>
            <a:off x="457200" y="2432304"/>
            <a:ext cx="3886200" cy="896112"/>
          </a:xfrm>
          <a:prstGeom prst="roundRect">
            <a:avLst>
              <a:gd name="adj" fmla="val 2000"/>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F59E0B"/>
                </a:solidFill>
                <a:latin typeface="Inter"/>
              </a:defRPr>
            </a:pPr>
            <a:r>
              <a:t>Q2: Mid-write OS crash protection?</a:t>
            </a:r>
          </a:p>
          <a:p>
            <a:pPr>
              <a:spcAft>
                <a:spcPts val="400"/>
              </a:spcAft>
              <a:defRPr sz="900">
                <a:solidFill>
                  <a:srgbClr val="CBD5E1"/>
                </a:solidFill>
                <a:latin typeface="Inter"/>
              </a:defRPr>
            </a:pPr>
            <a:r>
              <a:t>▸  See speaker notes for verbatim script.</a:t>
            </a:r>
          </a:p>
        </p:txBody>
      </p:sp>
      <p:sp>
        <p:nvSpPr>
          <p:cNvPr id="10" name="Rounded Rectangle 9"/>
          <p:cNvSpPr/>
          <p:nvPr/>
        </p:nvSpPr>
        <p:spPr>
          <a:xfrm>
            <a:off x="4480560" y="2432304"/>
            <a:ext cx="7251192" cy="896112"/>
          </a:xfrm>
          <a:prstGeom prst="roundRect">
            <a:avLst>
              <a:gd name="adj" fmla="val 2000"/>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F8FAFC"/>
                </a:solidFill>
                <a:latin typeface="Inter"/>
              </a:defRPr>
            </a:pPr>
            <a:r>
              <a:t>On-Slide Technical Proof &amp; Defense Mechanism</a:t>
            </a:r>
          </a:p>
          <a:p>
            <a:pPr>
              <a:spcAft>
                <a:spcPts val="400"/>
              </a:spcAft>
              <a:defRPr sz="980">
                <a:solidFill>
                  <a:srgbClr val="CBD5E1"/>
                </a:solidFill>
                <a:latin typeface="Inter"/>
              </a:defRPr>
            </a:pPr>
            <a:r>
              <a:t>▸  Never truncates in-place: writes to NamedTemporaryFile -&gt; flushes hardware cache via os.fsync() -&gt; atomic kernel inode swap via os.replace().</a:t>
            </a:r>
          </a:p>
        </p:txBody>
      </p:sp>
      <p:sp>
        <p:nvSpPr>
          <p:cNvPr id="11" name="Rounded Rectangle 10"/>
          <p:cNvSpPr/>
          <p:nvPr/>
        </p:nvSpPr>
        <p:spPr>
          <a:xfrm>
            <a:off x="457200" y="3438144"/>
            <a:ext cx="3886200" cy="896112"/>
          </a:xfrm>
          <a:prstGeom prst="roundRect">
            <a:avLst>
              <a:gd name="adj" fmla="val 2000"/>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06B6D4"/>
                </a:solidFill>
                <a:latin typeface="Inter"/>
              </a:defRPr>
            </a:pPr>
            <a:r>
              <a:t>Q3: Predictive AI vs. heuristic rules?</a:t>
            </a:r>
          </a:p>
          <a:p>
            <a:pPr>
              <a:spcAft>
                <a:spcPts val="400"/>
              </a:spcAft>
              <a:defRPr sz="900">
                <a:solidFill>
                  <a:srgbClr val="CBD5E1"/>
                </a:solidFill>
                <a:latin typeface="Inter"/>
              </a:defRPr>
            </a:pPr>
            <a:r>
              <a:t>▸  See speaker notes for verbatim script.</a:t>
            </a:r>
          </a:p>
        </p:txBody>
      </p:sp>
      <p:sp>
        <p:nvSpPr>
          <p:cNvPr id="12" name="Rounded Rectangle 11"/>
          <p:cNvSpPr/>
          <p:nvPr/>
        </p:nvSpPr>
        <p:spPr>
          <a:xfrm>
            <a:off x="4480560" y="3438144"/>
            <a:ext cx="7251192" cy="896112"/>
          </a:xfrm>
          <a:prstGeom prst="roundRect">
            <a:avLst>
              <a:gd name="adj" fmla="val 2000"/>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F8FAFC"/>
                </a:solidFill>
                <a:latin typeface="Inter"/>
              </a:defRPr>
            </a:pPr>
            <a:r>
              <a:t>On-Slide Technical Proof &amp; Defense Mechanism</a:t>
            </a:r>
          </a:p>
          <a:p>
            <a:pPr>
              <a:spcAft>
                <a:spcPts val="400"/>
              </a:spcAft>
              <a:defRPr sz="980">
                <a:solidFill>
                  <a:srgbClr val="CBD5E1"/>
                </a:solidFill>
                <a:latin typeface="Inter"/>
              </a:defRPr>
            </a:pPr>
            <a:r>
              <a:t>▸  Dual-mode hybrid: deterministic floor (Q_curr &lt;= R_min, catching PD002 2 &lt;= 5) on Day 1 cold-start, transitioning to statistical velocity + EOQ.</a:t>
            </a:r>
          </a:p>
        </p:txBody>
      </p:sp>
      <p:sp>
        <p:nvSpPr>
          <p:cNvPr id="13" name="Rounded Rectangle 12"/>
          <p:cNvSpPr/>
          <p:nvPr/>
        </p:nvSpPr>
        <p:spPr>
          <a:xfrm>
            <a:off x="457200" y="4443984"/>
            <a:ext cx="3886200" cy="896112"/>
          </a:xfrm>
          <a:prstGeom prst="roundRect">
            <a:avLst>
              <a:gd name="adj" fmla="val 2000"/>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F59E0B"/>
                </a:solidFill>
                <a:latin typeface="Inter"/>
              </a:defRPr>
            </a:pPr>
            <a:r>
              <a:t>Q4: CPython 3.14 GIL thread contention?</a:t>
            </a:r>
          </a:p>
          <a:p>
            <a:pPr>
              <a:spcAft>
                <a:spcPts val="400"/>
              </a:spcAft>
              <a:defRPr sz="900">
                <a:solidFill>
                  <a:srgbClr val="CBD5E1"/>
                </a:solidFill>
                <a:latin typeface="Inter"/>
              </a:defRPr>
            </a:pPr>
            <a:r>
              <a:t>▸  See speaker notes for verbatim script.</a:t>
            </a:r>
          </a:p>
        </p:txBody>
      </p:sp>
      <p:sp>
        <p:nvSpPr>
          <p:cNvPr id="14" name="Rounded Rectangle 13"/>
          <p:cNvSpPr/>
          <p:nvPr/>
        </p:nvSpPr>
        <p:spPr>
          <a:xfrm>
            <a:off x="4480560" y="4443984"/>
            <a:ext cx="7251192" cy="896112"/>
          </a:xfrm>
          <a:prstGeom prst="roundRect">
            <a:avLst>
              <a:gd name="adj" fmla="val 2000"/>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F8FAFC"/>
                </a:solidFill>
                <a:latin typeface="Inter"/>
              </a:defRPr>
            </a:pPr>
            <a:r>
              <a:t>On-Slide Technical Proof &amp; Defense Mechanism</a:t>
            </a:r>
          </a:p>
          <a:p>
            <a:pPr>
              <a:spcAft>
                <a:spcPts val="400"/>
              </a:spcAft>
              <a:defRPr sz="980">
                <a:solidFill>
                  <a:srgbClr val="CBD5E1"/>
                </a:solidFill>
                <a:latin typeface="Inter"/>
              </a:defRPr>
            </a:pPr>
            <a:r>
              <a:t>▸  GIL is released on all OS socket (api.py) and disk (inventory.py) syscalls; CPython 3.14 (cpython-314.pyc) adds PEP 703 free-threading support.</a:t>
            </a:r>
          </a:p>
        </p:txBody>
      </p:sp>
      <p:sp>
        <p:nvSpPr>
          <p:cNvPr id="15" name="Rounded Rectangle 14"/>
          <p:cNvSpPr/>
          <p:nvPr/>
        </p:nvSpPr>
        <p:spPr>
          <a:xfrm>
            <a:off x="457200" y="5449824"/>
            <a:ext cx="3886200" cy="896112"/>
          </a:xfrm>
          <a:prstGeom prst="roundRect">
            <a:avLst>
              <a:gd name="adj" fmla="val 2000"/>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06B6D4"/>
                </a:solidFill>
                <a:latin typeface="Inter"/>
              </a:defRPr>
            </a:pPr>
            <a:r>
              <a:t>Q5: Rollback strategy on failed sale?</a:t>
            </a:r>
          </a:p>
          <a:p>
            <a:pPr>
              <a:spcAft>
                <a:spcPts val="400"/>
              </a:spcAft>
              <a:defRPr sz="900">
                <a:solidFill>
                  <a:srgbClr val="CBD5E1"/>
                </a:solidFill>
                <a:latin typeface="Inter"/>
              </a:defRPr>
            </a:pPr>
            <a:r>
              <a:t>▸  See speaker notes for verbatim script.</a:t>
            </a:r>
          </a:p>
        </p:txBody>
      </p:sp>
      <p:sp>
        <p:nvSpPr>
          <p:cNvPr id="16" name="Rounded Rectangle 15"/>
          <p:cNvSpPr/>
          <p:nvPr/>
        </p:nvSpPr>
        <p:spPr>
          <a:xfrm>
            <a:off x="4480560" y="5449824"/>
            <a:ext cx="7251192" cy="896112"/>
          </a:xfrm>
          <a:prstGeom prst="roundRect">
            <a:avLst>
              <a:gd name="adj" fmla="val 2000"/>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600"/>
              </a:spcAft>
              <a:defRPr sz="1350" b="1">
                <a:solidFill>
                  <a:srgbClr val="F8FAFC"/>
                </a:solidFill>
                <a:latin typeface="Inter"/>
              </a:defRPr>
            </a:pPr>
            <a:r>
              <a:t>On-Slide Technical Proof &amp; Defense Mechanism</a:t>
            </a:r>
          </a:p>
          <a:p>
            <a:pPr>
              <a:spcAft>
                <a:spcPts val="400"/>
              </a:spcAft>
              <a:defRPr sz="980">
                <a:solidFill>
                  <a:srgbClr val="CBD5E1"/>
                </a:solidFill>
                <a:latin typeface="Inter"/>
              </a:defRPr>
            </a:pPr>
            <a:r>
              <a:t>▸  Two-Phase Application Commit: pre-transaction EOF snapshot truncates sales.csv (f.truncate) on IOError; immutable log enables compensating +Q_sold.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